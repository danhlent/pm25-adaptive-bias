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ce861beaab34b02" /><Relationship Type="http://schemas.openxmlformats.org/officeDocument/2006/relationships/extended-properties" Target="/docProps/app.xml" Id="R42cd4ff98c374aa1" /><Relationship Type="http://schemas.openxmlformats.org/officeDocument/2006/relationships/officeDocument" Target="/ppt/presentation.xml" Id="Rf1354ad0fc6a463f" /></Relationships>
</file>

<file path=ppt/presentation.xml><?xml version="1.0" encoding="utf-8"?>
<p:presentation xmlns:p="http://schemas.openxmlformats.org/presentationml/2006/main">
  <p:sldMasterIdLst>
    <p:sldMasterId xmlns:r="http://schemas.openxmlformats.org/officeDocument/2006/relationships" id="2147483648" r:id="R184eb9f6032d421a"/>
  </p:sldMasterIdLst>
  <p:notesMasterIdLst>
    <p:notesMasterId xmlns:r="http://schemas.openxmlformats.org/officeDocument/2006/relationships" r:id="R4bb34c3e1a0645fd"/>
  </p:notesMasterIdLst>
  <p:sldIdLst>
    <p:sldId xmlns:r="http://schemas.openxmlformats.org/officeDocument/2006/relationships" id="256" r:id="Ra71bb70f6f4c484a"/>
    <p:sldId xmlns:r="http://schemas.openxmlformats.org/officeDocument/2006/relationships" id="257" r:id="Rc6fef627bcd14b29"/>
    <p:sldId xmlns:r="http://schemas.openxmlformats.org/officeDocument/2006/relationships" id="258" r:id="Rc5fe3fbd6779421f"/>
    <p:sldId xmlns:r="http://schemas.openxmlformats.org/officeDocument/2006/relationships" id="259" r:id="R4f56e00ca7304a59"/>
    <p:sldId xmlns:r="http://schemas.openxmlformats.org/officeDocument/2006/relationships" id="260" r:id="R211478c7e2dd45da"/>
    <p:sldId xmlns:r="http://schemas.openxmlformats.org/officeDocument/2006/relationships" id="261" r:id="Rb834b7cdfffa45b2"/>
    <p:sldId xmlns:r="http://schemas.openxmlformats.org/officeDocument/2006/relationships" id="262" r:id="R93cf22a93dc14702"/>
    <p:sldId xmlns:r="http://schemas.openxmlformats.org/officeDocument/2006/relationships" id="263" r:id="R23163400cde04afd"/>
    <p:sldId xmlns:r="http://schemas.openxmlformats.org/officeDocument/2006/relationships" id="264" r:id="R844366fe9ee94dda"/>
    <p:sldId xmlns:r="http://schemas.openxmlformats.org/officeDocument/2006/relationships" id="265" r:id="Ra760d7bbbd6948e5"/>
    <p:sldId xmlns:r="http://schemas.openxmlformats.org/officeDocument/2006/relationships" id="266" r:id="R1a8c9ddb8fec4a46"/>
    <p:sldId xmlns:r="http://schemas.openxmlformats.org/officeDocument/2006/relationships" id="267" r:id="Rd87266f6c08742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6b6f93cdc74764" /><Relationship Type="http://schemas.openxmlformats.org/officeDocument/2006/relationships/slideMaster" Target="/ppt/slideMasters/slideMaster1.xml" Id="R184eb9f6032d421a" /><Relationship Type="http://schemas.openxmlformats.org/officeDocument/2006/relationships/notesMaster" Target="/ppt/notesMasters/notesMaster1.xml" Id="R4bb34c3e1a0645fd" /><Relationship Type="http://schemas.openxmlformats.org/officeDocument/2006/relationships/presProps" Target="/ppt/presProps.xml" Id="Re847f32070894608" /><Relationship Type="http://schemas.openxmlformats.org/officeDocument/2006/relationships/tableStyles" Target="/ppt/tableStyles.xml" Id="Re2ddf32e33cb4928" /><Relationship Type="http://schemas.openxmlformats.org/officeDocument/2006/relationships/slide" Target="/ppt/slides/slide1.xml" Id="Ra71bb70f6f4c484a" /><Relationship Type="http://schemas.openxmlformats.org/officeDocument/2006/relationships/slide" Target="/ppt/slides/slide2.xml" Id="Rc6fef627bcd14b29" /><Relationship Type="http://schemas.openxmlformats.org/officeDocument/2006/relationships/slide" Target="/ppt/slides/slide3.xml" Id="Rc5fe3fbd6779421f" /><Relationship Type="http://schemas.openxmlformats.org/officeDocument/2006/relationships/slide" Target="/ppt/slides/slide4.xml" Id="R4f56e00ca7304a59" /><Relationship Type="http://schemas.openxmlformats.org/officeDocument/2006/relationships/slide" Target="/ppt/slides/slide5.xml" Id="R211478c7e2dd45da" /><Relationship Type="http://schemas.openxmlformats.org/officeDocument/2006/relationships/slide" Target="/ppt/slides/slide6.xml" Id="Rb834b7cdfffa45b2" /><Relationship Type="http://schemas.openxmlformats.org/officeDocument/2006/relationships/slide" Target="/ppt/slides/slide7.xml" Id="R93cf22a93dc14702" /><Relationship Type="http://schemas.openxmlformats.org/officeDocument/2006/relationships/slide" Target="/ppt/slides/slide8.xml" Id="R23163400cde04afd" /><Relationship Type="http://schemas.openxmlformats.org/officeDocument/2006/relationships/slide" Target="/ppt/slides/slide9.xml" Id="R844366fe9ee94dda" /><Relationship Type="http://schemas.openxmlformats.org/officeDocument/2006/relationships/slide" Target="/ppt/slides/slide10.xml" Id="Ra760d7bbbd6948e5" /><Relationship Type="http://schemas.openxmlformats.org/officeDocument/2006/relationships/slide" Target="/ppt/slides/slide11.xml" Id="R1a8c9ddb8fec4a46" /><Relationship Type="http://schemas.openxmlformats.org/officeDocument/2006/relationships/slide" Target="/ppt/slides/slide12.xml" Id="Rd87266f6c08742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4eade32bb54f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e49dac46314140" /><Relationship Type="http://schemas.openxmlformats.org/officeDocument/2006/relationships/notesMaster" Target="/ppt/notesMasters/notesMaster1.xml" Id="R1eff3bb664e74b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f7eb8d6eb74f61" /><Relationship Type="http://schemas.openxmlformats.org/officeDocument/2006/relationships/notesMaster" Target="/ppt/notesMasters/notesMaster1.xml" Id="R7ea03b02992b4b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4079ae4050435a" /><Relationship Type="http://schemas.openxmlformats.org/officeDocument/2006/relationships/notesMaster" Target="/ppt/notesMasters/notesMaster1.xml" Id="R0760227e809e49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6d732892d14338" /><Relationship Type="http://schemas.openxmlformats.org/officeDocument/2006/relationships/notesMaster" Target="/ppt/notesMasters/notesMaster1.xml" Id="R6d75d93c041144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179279a4904782" /><Relationship Type="http://schemas.openxmlformats.org/officeDocument/2006/relationships/notesMaster" Target="/ppt/notesMasters/notesMaster1.xml" Id="Rbd366a6cf1374c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b413e69f204d0d" /><Relationship Type="http://schemas.openxmlformats.org/officeDocument/2006/relationships/notesMaster" Target="/ppt/notesMasters/notesMaster1.xml" Id="R3132b573519b44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5f1c6e7c7b44f5" /><Relationship Type="http://schemas.openxmlformats.org/officeDocument/2006/relationships/notesMaster" Target="/ppt/notesMasters/notesMaster1.xml" Id="Rc122a011da7942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f49b107dee4c14" /><Relationship Type="http://schemas.openxmlformats.org/officeDocument/2006/relationships/notesMaster" Target="/ppt/notesMasters/notesMaster1.xml" Id="R083baa3b4a134f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8c93c638894cb1" /><Relationship Type="http://schemas.openxmlformats.org/officeDocument/2006/relationships/notesMaster" Target="/ppt/notesMasters/notesMaster1.xml" Id="Rc42c2176bbf140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483b45be4c484c" /><Relationship Type="http://schemas.openxmlformats.org/officeDocument/2006/relationships/notesMaster" Target="/ppt/notesMasters/notesMaster1.xml" Id="Ra9b1e70af0db4e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f1c5cc90c042fa" /><Relationship Type="http://schemas.openxmlformats.org/officeDocument/2006/relationships/notesMaster" Target="/ppt/notesMasters/notesMaster1.xml" Id="R88bb4925c35141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b1b793f6cd4d9a" /><Relationship Type="http://schemas.openxmlformats.org/officeDocument/2006/relationships/notesMaster" Target="/ppt/notesMasters/notesMaster1.xml" Id="R2bae444f2ef84f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Kính thưa Hội đồng, nhóm trình bày IP xử lý và cảnh báo bụi mịn PM2.5 trên FPGA. Sản phẩm trung tâm là lõi RTL dùng số học x16, đã triển khai trên Tang Nano 9K và kiểm chứng qua UART. CAMS cung cấp tín hiệu nền, còn PurpleAir chỉ cập nhật độ lệch khi dữ liệu đạt yêu cầu chất lượng.</a:t>
            </a:r>
          </a:p>
          <a:p xmlns:a="http://schemas.openxmlformats.org/drawingml/2006/main">
            <a:r>
              <a:t/>
            </a:r>
          </a:p>
          <a:p xmlns:a="http://schemas.openxmlformats.org/drawingml/2006/main">
            <a:r>
              <a:t>Nguồn:</a:t>
            </a:r>
          </a:p>
          <a:p xmlns:a="http://schemas.openxmlformats.org/drawingml/2006/main">
            <a:r>
              <a:t>- UIT2026_PM25_FPGA_FINAL_REPORT_FINAL.pdf</a:t>
            </a:r>
          </a:p>
          <a:p xmlns:a="http://schemas.openxmlformats.org/drawingml/2006/main">
            <a:r>
              <a:t>- reports/fpga/hardware_validation.json</a:t>
            </a:r>
          </a:p>
          <a:p xmlns:a="http://schemas.openxmlformats.org/drawingml/2006/main">
            <a:r>
              <a:t>- https://fce.uit.edu.vn/wp-content/uploads/2024/03/WebIcon_1x_FCE-Full-Stroke.png</a:t>
            </a:r>
          </a:p>
          <a:p xmlns:a="http://schemas.openxmlformats.org/drawingml/2006/main">
            <a:r>
              <a:t>- https://en.uit.edu.vn/strapi/uploads/Logo_UIT_Web_3baa33290d.png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0:20-1:05. CAMS cung cấp nền theo vùng và theo giờ nhưng có thể chưa phản ánh sát một vị trí cụ thể. PurpleAir gần vị trí hơn và cập nhật mỗi 10 phút, song hai kênh A/B cần được kiểm tra. Thiết kế giữ CAMS làm nền và chỉ dùng PurpleAir để cập nhật độ lệch khi QC cho phép.</a:t>
            </a:r>
          </a:p>
          <a:p xmlns:a="http://schemas.openxmlformats.org/drawingml/2006/main">
            <a:r>
              <a:t/>
            </a:r>
          </a:p>
          <a:p xmlns:a="http://schemas.openxmlformats.org/drawingml/2006/main">
            <a:r>
              <a:t>Nguồn:</a:t>
            </a:r>
          </a:p>
          <a:p xmlns:a="http://schemas.openxmlformats.org/drawingml/2006/main">
            <a:r>
              <a:t>- UIT2026_PM25_FPGA_FINAL_REPORT_FINAL.pdf, mục 1.1 và 2.2</a:t>
            </a:r>
          </a:p>
          <a:p xmlns:a="http://schemas.openxmlformats.org/drawingml/2006/main">
            <a:r>
              <a:t>- https://open-meteo.com/en/docs/air-quality-api</a:t>
            </a:r>
          </a:p>
          <a:p xmlns:a="http://schemas.openxmlformats.org/drawingml/2006/main">
            <a:r>
              <a:t>- https://api.purpleair.com/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1:05-1:50. Máy chủ thu thập dữ liệu, kiểm soát chất lượng và lượng tử hóa x16. Mô hình Python tạo kết quả tham chiếu. Cùng một mẫu được gửi qua UART vào FPGA để đối chiếu từng trường. CAMS, PurpleAir và kết quả hiệu chỉnh luôn được giữ thành ba chuỗi độc lập, nên hệ thống không đưa kết quả đã hiệu chỉnh quay lại làm dữ liệu nền.</a:t>
            </a:r>
          </a:p>
          <a:p xmlns:a="http://schemas.openxmlformats.org/drawingml/2006/main">
            <a:r>
              <a:t/>
            </a:r>
          </a:p>
          <a:p xmlns:a="http://schemas.openxmlformats.org/drawingml/2006/main">
            <a:r>
              <a:t>Nguồn:</a:t>
            </a:r>
          </a:p>
          <a:p xmlns:a="http://schemas.openxmlformats.org/drawingml/2006/main">
            <a:r>
              <a:t>- UIT2026_PM25_FPGA_FINAL_REPORT_FINAL.pdf, mục 3.1</a:t>
            </a:r>
          </a:p>
          <a:p xmlns:a="http://schemas.openxmlformats.org/drawingml/2006/main">
            <a:r>
              <a:t>- docs/design_notes/ip/14_uart_laptop_demo_design.md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1:50-2:50. Độ lệch quan sát bằng PurpleAir trừ CAMS. Lõi lấy sai số giữa độ lệch quan sát và trạng thái cũ, rồi dịch phải số học ba bit để tạo lượng cập nhật. Đầu ra hiện tại dùng bias_before, vì vậy PurpleAir của mẫu này chỉ tác động đến các mẫu sau. Nếu QC không đạt, lõi vẫn tạo đầu ra từ CAMS và trạng thái cũ nhưng không cập nhật trạng thái.</a:t>
            </a:r>
          </a:p>
          <a:p xmlns:a="http://schemas.openxmlformats.org/drawingml/2006/main">
            <a:r>
              <a:t/>
            </a:r>
          </a:p>
          <a:p xmlns:a="http://schemas.openxmlformats.org/drawingml/2006/main">
            <a:r>
              <a:t>Nguồn:</a:t>
            </a:r>
          </a:p>
          <a:p xmlns:a="http://schemas.openxmlformats.org/drawingml/2006/main">
            <a:r>
              <a:t>- UIT2026_PM25_FPGA_FINAL_REPORT_FINAL.pdf, mục 2.3 và 2.4</a:t>
            </a:r>
          </a:p>
          <a:p xmlns:a="http://schemas.openxmlformats.org/drawingml/2006/main">
            <a:r>
              <a:t>- rtl/core/pm25_alert_core.v</a:t>
            </a:r>
          </a:p>
          <a:p xmlns:a="http://schemas.openxmlformats.org/drawingml/2006/main">
            <a:r>
              <a:t>- rtl/core/bias_update.v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2:50-3:40. Tập dữ liệu chốt đến 11:50 ngày 07/09/2026 có 4.137 mẫu PurpleAir 10 phút. Có 1.309 giờ khớp bản ghi nguồn, 1.226 giờ tạo được giá trị đại diện và 553 giờ đạt QC nghiêm ngặt để cập nhật độ lệch. CAMS giữ 13.704 bản ghi giờ. Trong 12.395 giờ không có bản ghi PurpleAir, lõi vẫn tạo đầu ra bằng CAMS cộng trạng thái độ lệch hiện tại.</a:t>
            </a:r>
          </a:p>
          <a:p xmlns:a="http://schemas.openxmlformats.org/drawingml/2006/main">
            <a:r>
              <a:t/>
            </a:r>
          </a:p>
          <a:p xmlns:a="http://schemas.openxmlformats.org/drawingml/2006/main">
            <a:r>
              <a:t>Nguồn:</a:t>
            </a:r>
          </a:p>
          <a:p xmlns:a="http://schemas.openxmlformats.org/drawingml/2006/main">
            <a:r>
              <a:t>- UIT2026_PM25_FPGA_FINAL_REPORT_FINAL.pdf, Bảng 2.1</a:t>
            </a:r>
          </a:p>
          <a:p xmlns:a="http://schemas.openxmlformats.org/drawingml/2006/main">
            <a:r>
              <a:t>- final_codex_review/audit_evidence/final_claim_snapshot.json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3:40-4:35. Đánh giá theo bốn phần thời gian cho thấy S bằng 2 có MAE quan sát thấp nhất. Nhóm vẫn giữ S bằng 3 vì đây là cấu hình đã đóng băng và đã qua kiểm chứng phần cứng. Việc thay đổi hệ số cần chạy lại hồi quy, tổng hợp và kiểm chứng bo mạch. Baseline hiện tại có 94 kiểm thử Python đạt và 941 mẫu RTL không lỗi.</a:t>
            </a:r>
          </a:p>
          <a:p xmlns:a="http://schemas.openxmlformats.org/drawingml/2006/main">
            <a:r>
              <a:t/>
            </a:r>
          </a:p>
          <a:p xmlns:a="http://schemas.openxmlformats.org/drawingml/2006/main">
            <a:r>
              <a:t>Nguồn:</a:t>
            </a:r>
          </a:p>
          <a:p xmlns:a="http://schemas.openxmlformats.org/drawingml/2006/main">
            <a:r>
              <a:t>- UIT2026_PM25_FPGA_FINAL_REPORT_FINAL.pdf, Bảng 4.2</a:t>
            </a:r>
          </a:p>
          <a:p xmlns:a="http://schemas.openxmlformats.org/drawingml/2006/main">
            <a:r>
              <a:t>- final_codex_review/audit_evidence/alpha_recomputed/latest_alpha_candidate.json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4:35-5:50. Toàn bộ mô-đun mức cao nhất sử dụng 490 trên 8.640 phần tử logic và 283 trên 6.693 thanh ghi. Tần số cực đại đạt 58,705 MHz so với xung nhịp mục tiêu 27 MHz, không có điểm cuối vi phạm thiết lập hoặc giữ. Độ dư thiết lập đại diện là +20,003 ns. Năm nhóm kiểm thử vật lý gồm 140 giao dịch đều khớp mô hình tham chiếu.</a:t>
            </a:r>
          </a:p>
          <a:p xmlns:a="http://schemas.openxmlformats.org/drawingml/2006/main">
            <a:r>
              <a:t/>
            </a:r>
          </a:p>
          <a:p xmlns:a="http://schemas.openxmlformats.org/drawingml/2006/main">
            <a:r>
              <a:t>Nguồn:</a:t>
            </a:r>
          </a:p>
          <a:p xmlns:a="http://schemas.openxmlformats.org/drawingml/2006/main">
            <a:r>
              <a:t>- UIT2026_PM25_FPGA_FINAL_REPORT_FINAL.pdf, Bảng 4.3 và 4.4</a:t>
            </a:r>
          </a:p>
          <a:p xmlns:a="http://schemas.openxmlformats.org/drawingml/2006/main">
            <a:r>
              <a:t>- reports/fpga/gowin_implementation_summary.json</a:t>
            </a:r>
          </a:p>
          <a:p xmlns:a="http://schemas.openxmlformats.org/drawingml/2006/main">
            <a:r>
              <a:t>- reports/fpga/hardware_validation.json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5:50-6:30. Demo gửi lần lượt các ca dữ liệu đạt QC, không đạt QC, độ lệch âm và dương, biên cảnh báo và bão hòa. Với mỗi giao dịch, máy tính hiển thị đầu vào, kết quả tham chiếu và phản hồi thực tế của FPGA. Trong phạm vi công bố, kết quả cho thấy lõi hoạt động đúng trên các ca đã kiểm tra. Xin mời Hội đồng theo dõi phần demo.</a:t>
            </a:r>
          </a:p>
          <a:p xmlns:a="http://schemas.openxmlformats.org/drawingml/2006/main">
            <a:r>
              <a:t/>
            </a:r>
          </a:p>
          <a:p xmlns:a="http://schemas.openxmlformats.org/drawingml/2006/main">
            <a:r>
              <a:t>Nguồn:</a:t>
            </a:r>
          </a:p>
          <a:p xmlns:a="http://schemas.openxmlformats.org/drawingml/2006/main">
            <a:r>
              <a:t>- deliverables/uit2026_final/demo/DEMO_RUNBOOK_VI.md</a:t>
            </a:r>
          </a:p>
          <a:p xmlns:a="http://schemas.openxmlformats.org/drawingml/2006/main">
            <a:r>
              <a:t>- demo/uart/pm25_uart_feeder.py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thứ tự cập nhật. Đầu ra của mẫu t dùng bias_before. Bias_after chỉ tác động từ mẫu sau. Dịch phải số học với số âm đã có kiểm thử riêng.</a:t>
            </a:r>
          </a:p>
          <a:p xmlns:a="http://schemas.openxmlformats.org/drawingml/2006/main">
            <a:r>
              <a:t/>
            </a:r>
          </a:p>
          <a:p xmlns:a="http://schemas.openxmlformats.org/drawingml/2006/main">
            <a:r>
              <a:t>Nguồn:</a:t>
            </a:r>
          </a:p>
          <a:p xmlns:a="http://schemas.openxmlformats.org/drawingml/2006/main">
            <a:r>
              <a:t>- UIT2026_PM25_FPGA_FINAL_REPORT_FINAL.pdf, mục 2.3</a:t>
            </a:r>
          </a:p>
          <a:p xmlns:a="http://schemas.openxmlformats.org/drawingml/2006/main">
            <a:r>
              <a:t>- python_model/fixed_point/pm25_core_v1_fixed.py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về gói tin hoặc FIFO. Giao thức dùng gói nhị phân để giữ RTL nhỏ. Máy tính chỉ gửi yêu cầu tiếp theo sau khi nhận phản hồi, phù hợp với dữ liệu môi trường cập nhật chậm.</a:t>
            </a:r>
          </a:p>
          <a:p xmlns:a="http://schemas.openxmlformats.org/drawingml/2006/main">
            <a:r>
              <a:t/>
            </a:r>
          </a:p>
          <a:p xmlns:a="http://schemas.openxmlformats.org/drawingml/2006/main">
            <a:r>
              <a:t>Nguồn:</a:t>
            </a:r>
          </a:p>
          <a:p xmlns:a="http://schemas.openxmlformats.org/drawingml/2006/main">
            <a:r>
              <a:t>- UIT2026_PM25_FPGA_FINAL_REPORT_FINAL.pdf, mục 3.3</a:t>
            </a:r>
          </a:p>
          <a:p xmlns:a="http://schemas.openxmlformats.org/drawingml/2006/main">
            <a:r>
              <a:t>- docs/design_notes/ip/13_uart_laptop_demo_protocol.md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vì sao chưa chọn S bằng 2. S bằng 2 có MAE thấp hơn trên dữ liệu hiện tại, nhưng việc đưa vào cấu hình chính thức cần version mới và lặp lại toàn bộ kiểm chứng. S bằng 3 vẫn là cấu hình khớp với bằng chứng phần cứng.</a:t>
            </a:r>
          </a:p>
          <a:p xmlns:a="http://schemas.openxmlformats.org/drawingml/2006/main">
            <a:r>
              <a:t/>
            </a:r>
          </a:p>
          <a:p xmlns:a="http://schemas.openxmlformats.org/drawingml/2006/main">
            <a:r>
              <a:t>Nguồn:</a:t>
            </a:r>
          </a:p>
          <a:p xmlns:a="http://schemas.openxmlformats.org/drawingml/2006/main">
            <a:r>
              <a:t>- UIT2026_PM25_FPGA_FINAL_REPORT_FINAL.pdf, Bảng 4.2</a:t>
            </a:r>
          </a:p>
          <a:p xmlns:a="http://schemas.openxmlformats.org/drawingml/2006/main">
            <a:r>
              <a:t>- final_codex_review/audit_evidence/alpha_recomputed/latest_alpha_candidate.json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khi Hội đồng hỏi mức độ tin cậy. Nhóm phân biệt kiểm chứng có chủ đích với kiểm chứng hình thức, và phân biệt độ đúng số học của phần cứng với độ chính xác môi trường dài hạn. Dữ liệu PurpleAir 10 phút chỉ bao phủ khoảng sáu tuần và CAMS có hai khoảng thiếu tổng cộng 1.056 giờ. Mọi số liệu chính đều truy được về JSON, Markdown hoặc CSV trong repository.</a:t>
            </a:r>
          </a:p>
          <a:p xmlns:a="http://schemas.openxmlformats.org/drawingml/2006/main">
            <a:r>
              <a:t/>
            </a:r>
          </a:p>
          <a:p xmlns:a="http://schemas.openxmlformats.org/drawingml/2006/main">
            <a:r>
              <a:t>Nguồn:</a:t>
            </a:r>
          </a:p>
          <a:p xmlns:a="http://schemas.openxmlformats.org/drawingml/2006/main">
            <a:r>
              <a:t>- UIT2026_PM25_FPGA_FINAL_REPORT_FINAL.pdf, mục 5.2</a:t>
            </a:r>
          </a:p>
          <a:p xmlns:a="http://schemas.openxmlformats.org/drawingml/2006/main">
            <a:r>
              <a:t>- final_codex_review/FINAL_AUDIT.md</a:t>
            </a:r>
          </a:p>
          <a:p xmlns:a="http://schemas.openxmlformats.org/drawingml/2006/main">
            <a:r>
              <a:t>- reports/fpga/hardware_validation.md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d2da3f53a8f42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b54a30cddf429b" /><Relationship Type="http://schemas.openxmlformats.org/officeDocument/2006/relationships/slideLayout" Target="/ppt/slideLayouts/slideLayout1.xml" Id="R409e8ce901e84f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9e8ce901e84f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02edc569a804c51" /><Relationship Type="http://schemas.openxmlformats.org/officeDocument/2006/relationships/image" Target="/ppt/media/image.png" Id="Ra64d259a93c142a3" /><Relationship Type="http://schemas.openxmlformats.org/officeDocument/2006/relationships/image" Target="/ppt/media/image2.png" Id="R892ea6b257df4cf1" /><Relationship Type="http://schemas.openxmlformats.org/officeDocument/2006/relationships/notesSlide" Target="/ppt/notesSlides/notesSlide1.xml" Id="Ra7a7aa21de3041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795f98088c483c" /><Relationship Type="http://schemas.openxmlformats.org/officeDocument/2006/relationships/image" Target="/ppt/media/image3.png" Id="R6cf3383632ba4ae0" /><Relationship Type="http://schemas.openxmlformats.org/officeDocument/2006/relationships/image" Target="/ppt/media/image4.png" Id="R18923db7b0044333" /><Relationship Type="http://schemas.openxmlformats.org/officeDocument/2006/relationships/notesSlide" Target="/ppt/notesSlides/notesSlide2.xml" Id="R48132b2d223b4f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d4871d0ce14274" /><Relationship Type="http://schemas.openxmlformats.org/officeDocument/2006/relationships/image" Target="/ppt/media/image5.png" Id="R11f702d2776b4678" /><Relationship Type="http://schemas.openxmlformats.org/officeDocument/2006/relationships/image" Target="/ppt/media/image6.png" Id="Rb2a003fc7eb7442e" /><Relationship Type="http://schemas.openxmlformats.org/officeDocument/2006/relationships/notesSlide" Target="/ppt/notesSlides/notesSlide3.xml" Id="R5f1fa256b2664a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72d8ca0c124d54" /><Relationship Type="http://schemas.openxmlformats.org/officeDocument/2006/relationships/image" Target="/ppt/media/image7.png" Id="Re2bd4f91f00e4a69" /><Relationship Type="http://schemas.openxmlformats.org/officeDocument/2006/relationships/image" Target="/ppt/media/image8.png" Id="R53e108062efe4dd1" /><Relationship Type="http://schemas.openxmlformats.org/officeDocument/2006/relationships/notesSlide" Target="/ppt/notesSlides/notesSlide4.xml" Id="R82dc8b084fd046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aab63494344ef5" /><Relationship Type="http://schemas.openxmlformats.org/officeDocument/2006/relationships/image" Target="/ppt/media/image9.png" Id="R5f47ebcf484e44b2" /><Relationship Type="http://schemas.openxmlformats.org/officeDocument/2006/relationships/image" Target="/ppt/media/image10.png" Id="R2a5a5e692f404dfb" /><Relationship Type="http://schemas.openxmlformats.org/officeDocument/2006/relationships/notesSlide" Target="/ppt/notesSlides/notesSlide5.xml" Id="R42196c9d4bba46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dc7c2724174661" /><Relationship Type="http://schemas.openxmlformats.org/officeDocument/2006/relationships/image" Target="/ppt/media/image11.png" Id="Rf70ddaa47fea4f90" /><Relationship Type="http://schemas.openxmlformats.org/officeDocument/2006/relationships/image" Target="/ppt/media/image12.png" Id="R81b2df6f8aa54de8" /><Relationship Type="http://schemas.openxmlformats.org/officeDocument/2006/relationships/chart" Target="/ppt/slides/charts/chart1.xml" Id="R4b9e1726678d4b92" /><Relationship Type="http://schemas.openxmlformats.org/officeDocument/2006/relationships/notesSlide" Target="/ppt/notesSlides/notesSlide6.xml" Id="Rd4c0cc0b333047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77a791b194422b" /><Relationship Type="http://schemas.openxmlformats.org/officeDocument/2006/relationships/image" Target="/ppt/media/image13.png" Id="Rf55078fb8eac4f98" /><Relationship Type="http://schemas.openxmlformats.org/officeDocument/2006/relationships/image" Target="/ppt/media/image14.png" Id="R5b048d72c9f94a6a" /><Relationship Type="http://schemas.openxmlformats.org/officeDocument/2006/relationships/notesSlide" Target="/ppt/notesSlides/notesSlide7.xml" Id="R2e569c8c40f0416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7be596725a4181" /><Relationship Type="http://schemas.openxmlformats.org/officeDocument/2006/relationships/image" Target="/ppt/media/image15.png" Id="R324f4b49e72f4a19" /><Relationship Type="http://schemas.openxmlformats.org/officeDocument/2006/relationships/image" Target="/ppt/media/image16.png" Id="R61b751fffaad445a" /><Relationship Type="http://schemas.openxmlformats.org/officeDocument/2006/relationships/notesSlide" Target="/ppt/notesSlides/notesSlide8.xml" Id="R4cf5c4329b7042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7205a030bb49a6" /><Relationship Type="http://schemas.openxmlformats.org/officeDocument/2006/relationships/image" Target="/ppt/media/image17.png" Id="Ra2fa915645cd496b" /><Relationship Type="http://schemas.openxmlformats.org/officeDocument/2006/relationships/image" Target="/ppt/media/image18.png" Id="R1f3f260cad4c4978" /><Relationship Type="http://schemas.openxmlformats.org/officeDocument/2006/relationships/notesSlide" Target="/ppt/notesSlides/notesSlide9.xml" Id="R2bafd39d5be94d1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1ac3382ecb4e0b" /><Relationship Type="http://schemas.openxmlformats.org/officeDocument/2006/relationships/image" Target="/ppt/media/image19.png" Id="Rc486b4255c744477" /><Relationship Type="http://schemas.openxmlformats.org/officeDocument/2006/relationships/image" Target="/ppt/media/image20.png" Id="R654b46ab46a840a3" /><Relationship Type="http://schemas.openxmlformats.org/officeDocument/2006/relationships/notesSlide" Target="/ppt/notesSlides/notesSlide10.xml" Id="Rd47e13ee7dba41b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12dc33773cc40db" /><Relationship Type="http://schemas.openxmlformats.org/officeDocument/2006/relationships/image" Target="/ppt/media/image21.png" Id="Rfca1aa42053042d3" /><Relationship Type="http://schemas.openxmlformats.org/officeDocument/2006/relationships/image" Target="/ppt/media/image22.png" Id="R8cd688466f9f4238" /><Relationship Type="http://schemas.openxmlformats.org/officeDocument/2006/relationships/notesSlide" Target="/ppt/notesSlides/notesSlide11.xml" Id="Rb343cc682a724a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d39ef23f81448a" /><Relationship Type="http://schemas.openxmlformats.org/officeDocument/2006/relationships/image" Target="/ppt/media/image23.png" Id="R8523d6fa55dc426f" /><Relationship Type="http://schemas.openxmlformats.org/officeDocument/2006/relationships/image" Target="/ppt/media/image24.png" Id="R8babe622840f4854" /><Relationship Type="http://schemas.openxmlformats.org/officeDocument/2006/relationships/notesSlide" Target="/ppt/notesSlides/notesSlide12.xml" Id="Rd95c333a1b94406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của CAMS</c:v>
          </c:tx>
          <c:spPr>
            <a:solidFill xmlns:a="http://schemas.openxmlformats.org/drawingml/2006/main">
              <a:srgbClr val="C8D8CF"/>
            </a:solidFill>
          </c:spPr>
          <c:cat>
            <c:numRef>
              <c:f>'Chart Data'!$A$2:$A$6</c:f>
              <c:numCache>
                <c:formatCode>General</c:formatCode>
                <c:ptCount val="5"/>
                <c:pt idx="0">
                  <c:v>2</c:v>
                </c:pt>
                <c:pt idx="1">
                  <c:v>3</c:v>
                </c:pt>
                <c:pt idx="2">
                  <c:v>4</c:v>
                </c:pt>
                <c:pt idx="3">
                  <c:v>5</c:v>
                </c:pt>
                <c:pt idx="4">
                  <c:v>6</c:v>
                </c:pt>
              </c:numCache>
            </c:numRef>
          </c:cat>
          <c:val>
            <c:numRef>
              <c:f>'Chart Data'!$B$2:$B$6</c:f>
              <c:numCache>
                <c:formatCode>General</c:formatCode>
                <c:ptCount val="5"/>
                <c:pt idx="0">
                  <c:v>15.8884</c:v>
                </c:pt>
                <c:pt idx="1">
                  <c:v>15.8884</c:v>
                </c:pt>
                <c:pt idx="2">
                  <c:v>15.8884</c:v>
                </c:pt>
                <c:pt idx="3">
                  <c:v>15.8884</c:v>
                </c:pt>
                <c:pt idx="4">
                  <c:v>15.8884</c:v>
                </c:pt>
              </c:numCache>
            </c:numRef>
          </c:val>
        </c:ser>
        <c:ser>
          <c:idx val="1"/>
          <c:order val="1"/>
          <c:tx>
            <c:v>MAE sau hiệu chỉnh</c:v>
          </c:tx>
          <c:spPr>
            <a:solidFill xmlns:a="http://schemas.openxmlformats.org/drawingml/2006/main">
              <a:srgbClr val="0F6E41"/>
            </a:solidFill>
          </c:spPr>
          <c:cat>
            <c:numRef>
              <c:f>'Chart Data'!$C$2:$C$6</c:f>
              <c:numCache>
                <c:formatCode>General</c:formatCode>
                <c:ptCount val="5"/>
                <c:pt idx="0">
                  <c:v>2</c:v>
                </c:pt>
                <c:pt idx="1">
                  <c:v>3</c:v>
                </c:pt>
                <c:pt idx="2">
                  <c:v>4</c:v>
                </c:pt>
                <c:pt idx="3">
                  <c:v>5</c:v>
                </c:pt>
                <c:pt idx="4">
                  <c:v>6</c:v>
                </c:pt>
              </c:numCache>
            </c:numRef>
          </c:cat>
          <c:val>
            <c:numRef>
              <c:f>'Chart Data'!$D$2:$D$6</c:f>
              <c:numCache>
                <c:formatCode>General</c:formatCode>
                <c:ptCount val="5"/>
                <c:pt idx="0">
                  <c:v>4.2633</c:v>
                </c:pt>
                <c:pt idx="1">
                  <c:v>4.7259</c:v>
                </c:pt>
                <c:pt idx="2">
                  <c:v>4.944</c:v>
                </c:pt>
                <c:pt idx="3">
                  <c:v>5.319</c:v>
                </c:pt>
                <c:pt idx="4">
                  <c:v>6.0211</c:v>
                </c:pt>
              </c:numCache>
            </c:numRef>
          </c:val>
        </c:ser>
        <c:dLbls>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dLblPos val="outEnd"/>
          <c:showLegendKey val="0"/>
          <c:showVal val="1"/>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Noto Sans"/>
                    <a:ea typeface="Noto Sans"/>
                    <a:cs typeface="Noto Sans"/>
                  </a:rPr>
                  <a:t>Giá trị S</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Noto Sans"/>
                    <a:ea typeface="Noto Sans"/>
                    <a:cs typeface="Noto Sans"/>
                  </a:rPr>
                  <a:t>MAE (µg/m³)</a:t>
                </a:r>
              </a:p>
            </c:rich>
          </c:tx>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Noto Sans"/>
                <a:ea typeface="Noto Sans"/>
                <a:cs typeface="Noto Sans"/>
              </a:defRPr>
            </a:pPr>
          </a:p>
        </c:txPr>
        <c:crossAx val="48650112"/>
        <c:crossBetween val="between"/>
        <c:majorUnit val="3"/>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Noto Sans"/>
              <a:ea typeface="Noto Sans"/>
              <a:cs typeface="Noto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DF96C1-9C98-4C7D-9B5F-949DE78EAA0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F6E41"/>
          </a:solidFill>
          <a:ln xmlns:a="http://schemas.openxmlformats.org/drawingml/2006/main" w="0">
            <a:no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64d259a93c142a3"/>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4A3D45-7469-4C51-B6D1-52F758FD0E9E}"/>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92ea6b257df4cf1"/>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4FBE14-7378-41DC-B91A-B97777175560}"/>
              </a:ext>
            </a:extLst>
          </p:cNvPr>
          <p:cNvSpPr>
            <a:spLocks xmlns:a="http://schemas.openxmlformats.org/drawingml/2006/main" noGrp="1"/>
          </p:cNvSpPr>
          <p:nvPr/>
        </p:nvSpPr>
        <p:spPr>
          <a:xfrm xmlns:a="http://schemas.openxmlformats.org/drawingml/2006/main">
            <a:off x="742950" y="8001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0F6E41"/>
                </a:solidFill>
                <a:latin typeface="Noto Sans"/>
                <a:ea typeface="Noto Sans"/>
                <a:cs typeface="Noto Sans"/>
              </a:defRPr>
            </a:pPr>
            <a:r>
              <a:rPr sz="1125" b="1">
                <a:solidFill>
                  <a:srgbClr val="0F6E41"/>
                </a:solidFill>
                <a:latin typeface="Noto Sans"/>
                <a:ea typeface="Noto Sans"/>
                <a:cs typeface="Noto Sans"/>
              </a:rPr>
              <a:t>CUỘC THI THIẾT KẾ VI MẠCH UIT LẦN THỨ III, NĂM 2026</a:t>
            </a:r>
          </a:p>
        </p:txBody>
      </p:sp>
      <p:sp>
        <p:nvSpPr>
          <p:cNvPr id="6" name="">
            <a:extLst xmlns:a="http://schemas.openxmlformats.org/drawingml/2006/main">
              <a:ext uri="{FF2B5EF4-FFF2-40B4-BE49-F238E27FC236}">
                <a16:creationId xmlns:a16="http://schemas.microsoft.com/office/drawing/2014/main" id="{C0A9BDBA-AF35-4DEB-9B9B-5587E6719CB6}"/>
              </a:ext>
            </a:extLst>
          </p:cNvPr>
          <p:cNvSpPr>
            <a:spLocks xmlns:a="http://schemas.openxmlformats.org/drawingml/2006/main" noGrp="1"/>
          </p:cNvSpPr>
          <p:nvPr/>
        </p:nvSpPr>
        <p:spPr>
          <a:xfrm xmlns:a="http://schemas.openxmlformats.org/drawingml/2006/main">
            <a:off x="723900" y="1676400"/>
            <a:ext cx="9525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750" b="1">
                <a:solidFill>
                  <a:srgbClr val="17352B"/>
                </a:solidFill>
                <a:latin typeface="Noto Sans"/>
                <a:ea typeface="Noto Sans"/>
                <a:cs typeface="Noto Sans"/>
              </a:defRPr>
            </a:pPr>
            <a:r>
              <a:rPr sz="3750" b="1">
                <a:solidFill>
                  <a:srgbClr val="17352B"/>
                </a:solidFill>
                <a:latin typeface="Noto Sans"/>
                <a:ea typeface="Noto Sans"/>
                <a:cs typeface="Noto Sans"/>
              </a:rPr>
              <a:t>Thiết kế IP xử lý và cảnh báo</a:t>
            </a:r>
          </a:p>
          <a:p xmlns:a="http://schemas.openxmlformats.org/drawingml/2006/main">
            <a:pPr>
              <a:defRPr sz="3750" b="1">
                <a:solidFill>
                  <a:srgbClr val="17352B"/>
                </a:solidFill>
                <a:latin typeface="Noto Sans"/>
                <a:ea typeface="Noto Sans"/>
                <a:cs typeface="Noto Sans"/>
              </a:defRPr>
            </a:pPr>
            <a:r>
              <a:rPr sz="3750" b="1">
                <a:solidFill>
                  <a:srgbClr val="17352B"/>
                </a:solidFill>
                <a:latin typeface="Noto Sans"/>
                <a:ea typeface="Noto Sans"/>
                <a:cs typeface="Noto Sans"/>
              </a:rPr>
              <a:t>bụi mịn PM2.5 trên FPGA</a:t>
            </a:r>
          </a:p>
        </p:txBody>
      </p:sp>
      <p:sp>
        <p:nvSpPr>
          <p:cNvPr id="7" name="">
            <a:extLst xmlns:a="http://schemas.openxmlformats.org/drawingml/2006/main">
              <a:ext uri="{FF2B5EF4-FFF2-40B4-BE49-F238E27FC236}">
                <a16:creationId xmlns:a16="http://schemas.microsoft.com/office/drawing/2014/main" id="{E849F9C0-6E6D-4537-9D5F-F04CE122D464}"/>
              </a:ext>
            </a:extLst>
          </p:cNvPr>
          <p:cNvSpPr>
            <a:spLocks xmlns:a="http://schemas.openxmlformats.org/drawingml/2006/main" noGrp="1"/>
          </p:cNvSpPr>
          <p:nvPr/>
        </p:nvSpPr>
        <p:spPr>
          <a:xfrm xmlns:a="http://schemas.openxmlformats.org/drawingml/2006/main">
            <a:off x="742950" y="3695700"/>
            <a:ext cx="971550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8" name="">
            <a:extLst xmlns:a="http://schemas.openxmlformats.org/drawingml/2006/main">
              <a:ext uri="{FF2B5EF4-FFF2-40B4-BE49-F238E27FC236}">
                <a16:creationId xmlns:a16="http://schemas.microsoft.com/office/drawing/2014/main" id="{7F1E4759-8B83-4F88-BF6E-7303160538C8}"/>
              </a:ext>
            </a:extLst>
          </p:cNvPr>
          <p:cNvSpPr>
            <a:spLocks xmlns:a="http://schemas.openxmlformats.org/drawingml/2006/main" noGrp="1"/>
          </p:cNvSpPr>
          <p:nvPr/>
        </p:nvSpPr>
        <p:spPr>
          <a:xfrm xmlns:a="http://schemas.openxmlformats.org/drawingml/2006/main">
            <a:off x="742950" y="445770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SINH VIÊN THỰC HIỆN</a:t>
            </a:r>
          </a:p>
        </p:txBody>
      </p:sp>
      <p:sp>
        <p:nvSpPr>
          <p:cNvPr id="9" name="">
            <a:extLst xmlns:a="http://schemas.openxmlformats.org/drawingml/2006/main">
              <a:ext uri="{FF2B5EF4-FFF2-40B4-BE49-F238E27FC236}">
                <a16:creationId xmlns:a16="http://schemas.microsoft.com/office/drawing/2014/main" id="{D428604D-8BA5-445A-973B-7FB81AC23C5E}"/>
              </a:ext>
            </a:extLst>
          </p:cNvPr>
          <p:cNvSpPr>
            <a:spLocks xmlns:a="http://schemas.openxmlformats.org/drawingml/2006/main" noGrp="1"/>
          </p:cNvSpPr>
          <p:nvPr/>
        </p:nvSpPr>
        <p:spPr>
          <a:xfrm xmlns:a="http://schemas.openxmlformats.org/drawingml/2006/main">
            <a:off x="742950" y="4857750"/>
            <a:ext cx="476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7352B"/>
                </a:solidFill>
                <a:latin typeface="Noto Sans"/>
                <a:ea typeface="Noto Sans"/>
                <a:cs typeface="Noto Sans"/>
              </a:defRPr>
            </a:pPr>
            <a:r>
              <a:rPr sz="1575" b="1">
                <a:solidFill>
                  <a:srgbClr val="17352B"/>
                </a:solidFill>
                <a:latin typeface="Noto Sans"/>
                <a:ea typeface="Noto Sans"/>
                <a:cs typeface="Noto Sans"/>
              </a:rPr>
              <a:t>Lê Nguyễn Thành Danh - 23520241</a:t>
            </a:r>
          </a:p>
          <a:p xmlns:a="http://schemas.openxmlformats.org/drawingml/2006/main">
            <a:pPr>
              <a:defRPr sz="1575" b="1">
                <a:solidFill>
                  <a:srgbClr val="17352B"/>
                </a:solidFill>
                <a:latin typeface="Noto Sans"/>
                <a:ea typeface="Noto Sans"/>
                <a:cs typeface="Noto Sans"/>
              </a:defRPr>
            </a:pPr>
            <a:r>
              <a:rPr sz="1575" b="1">
                <a:solidFill>
                  <a:srgbClr val="17352B"/>
                </a:solidFill>
                <a:latin typeface="Noto Sans"/>
                <a:ea typeface="Noto Sans"/>
                <a:cs typeface="Noto Sans"/>
              </a:rPr>
              <a:t>Trần Minh Nhật - 23521100</a:t>
            </a:r>
          </a:p>
        </p:txBody>
      </p:sp>
      <p:sp>
        <p:nvSpPr>
          <p:cNvPr id="10" name="">
            <a:extLst xmlns:a="http://schemas.openxmlformats.org/drawingml/2006/main">
              <a:ext uri="{FF2B5EF4-FFF2-40B4-BE49-F238E27FC236}">
                <a16:creationId xmlns:a16="http://schemas.microsoft.com/office/drawing/2014/main" id="{305D051A-F594-470C-AC93-08CB3568AB30}"/>
              </a:ext>
            </a:extLst>
          </p:cNvPr>
          <p:cNvSpPr>
            <a:spLocks xmlns:a="http://schemas.openxmlformats.org/drawingml/2006/main" noGrp="1"/>
          </p:cNvSpPr>
          <p:nvPr/>
        </p:nvSpPr>
        <p:spPr>
          <a:xfrm xmlns:a="http://schemas.openxmlformats.org/drawingml/2006/main">
            <a:off x="6629400" y="445770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050" b="1">
                <a:solidFill>
                  <a:srgbClr val="0F6E41"/>
                </a:solidFill>
                <a:latin typeface="Noto Sans"/>
                <a:ea typeface="Noto Sans"/>
                <a:cs typeface="Noto Sans"/>
              </a:defRPr>
            </a:pPr>
            <a:r>
              <a:rPr sz="1050" b="1">
                <a:solidFill>
                  <a:srgbClr val="0F6E41"/>
                </a:solidFill>
                <a:latin typeface="Noto Sans"/>
                <a:ea typeface="Noto Sans"/>
                <a:cs typeface="Noto Sans"/>
              </a:rPr>
              <a:t>GIẢNG VIÊN HƯỚNG DẪN</a:t>
            </a:r>
          </a:p>
        </p:txBody>
      </p:sp>
      <p:sp>
        <p:nvSpPr>
          <p:cNvPr id="11" name="">
            <a:extLst xmlns:a="http://schemas.openxmlformats.org/drawingml/2006/main">
              <a:ext uri="{FF2B5EF4-FFF2-40B4-BE49-F238E27FC236}">
                <a16:creationId xmlns:a16="http://schemas.microsoft.com/office/drawing/2014/main" id="{2601FC99-5C31-496A-A896-9D8D5996ACBB}"/>
              </a:ext>
            </a:extLst>
          </p:cNvPr>
          <p:cNvSpPr>
            <a:spLocks xmlns:a="http://schemas.openxmlformats.org/drawingml/2006/main" noGrp="1"/>
          </p:cNvSpPr>
          <p:nvPr/>
        </p:nvSpPr>
        <p:spPr>
          <a:xfrm xmlns:a="http://schemas.openxmlformats.org/drawingml/2006/main">
            <a:off x="6629400" y="48577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17352B"/>
                </a:solidFill>
                <a:latin typeface="Noto Sans"/>
                <a:ea typeface="Noto Sans"/>
                <a:cs typeface="Noto Sans"/>
              </a:defRPr>
            </a:pPr>
            <a:r>
              <a:rPr sz="1575" b="1">
                <a:solidFill>
                  <a:srgbClr val="17352B"/>
                </a:solidFill>
                <a:latin typeface="Noto Sans"/>
                <a:ea typeface="Noto Sans"/>
                <a:cs typeface="Noto Sans"/>
              </a:rPr>
              <a:t>TS. Đoàn Duy</a:t>
            </a:r>
          </a:p>
        </p:txBody>
      </p:sp>
      <p:sp>
        <p:nvSpPr>
          <p:cNvPr id="12" name="">
            <a:extLst xmlns:a="http://schemas.openxmlformats.org/drawingml/2006/main">
              <a:ext uri="{FF2B5EF4-FFF2-40B4-BE49-F238E27FC236}">
                <a16:creationId xmlns:a16="http://schemas.microsoft.com/office/drawing/2014/main" id="{E76AE6C5-52E9-4ABE-BCA5-7465D6AD4421}"/>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a:t>
            </a:r>
          </a:p>
        </p:txBody>
      </p:sp>
    </p:spTree>
    <p:extLst>
      <p:ext uri="{BB962C8B-B14F-4D97-AF65-F5344CB8AC3E}">
        <p14:creationId xmlns:p14="http://schemas.microsoft.com/office/powerpoint/2010/main" val="199959448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B8FBC8C-9861-4C8E-9D49-C4F59DEA5454}"/>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Bài toán và lựa chọn dữ liệu</a:t>
            </a:r>
          </a:p>
        </p:txBody>
      </p:sp>
      <p:sp>
        <p:nvSpPr>
          <p:cNvPr id="2" name="">
            <a:extLst xmlns:a="http://schemas.openxmlformats.org/drawingml/2006/main">
              <a:ext uri="{FF2B5EF4-FFF2-40B4-BE49-F238E27FC236}">
                <a16:creationId xmlns:a16="http://schemas.microsoft.com/office/drawing/2014/main" id="{9B509E9E-6C11-476A-8733-626C21EA014D}"/>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6cf3383632ba4ae0"/>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7D00E0-3D51-4D68-B8E9-88B794CDAD09}"/>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8923db7b0044333"/>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6CCC8C4-D7E0-4759-9D6F-8A223749B2A5}"/>
              </a:ext>
            </a:extLst>
          </p:cNvPr>
          <p:cNvSpPr>
            <a:spLocks xmlns:a="http://schemas.openxmlformats.org/drawingml/2006/main" noGrp="1"/>
          </p:cNvSpPr>
          <p:nvPr/>
        </p:nvSpPr>
        <p:spPr>
          <a:xfrm xmlns:a="http://schemas.openxmlformats.org/drawingml/2006/main">
            <a:off x="762000" y="1733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56839"/>
                </a:solidFill>
                <a:latin typeface="Noto Sans"/>
                <a:ea typeface="Noto Sans"/>
                <a:cs typeface="Noto Sans"/>
              </a:defRPr>
            </a:pPr>
            <a:r>
              <a:rPr sz="2100" b="1">
                <a:solidFill>
                  <a:srgbClr val="056839"/>
                </a:solidFill>
                <a:latin typeface="Noto Sans"/>
                <a:ea typeface="Noto Sans"/>
                <a:cs typeface="Noto Sans"/>
              </a:rPr>
              <a:t>CAMS qua Open-Meteo</a:t>
            </a:r>
          </a:p>
        </p:txBody>
      </p:sp>
      <p:sp>
        <p:nvSpPr>
          <p:cNvPr id="7" name="">
            <a:extLst xmlns:a="http://schemas.openxmlformats.org/drawingml/2006/main">
              <a:ext uri="{FF2B5EF4-FFF2-40B4-BE49-F238E27FC236}">
                <a16:creationId xmlns:a16="http://schemas.microsoft.com/office/drawing/2014/main" id="{4455D749-3CAF-4E13-B3BE-F8CB5BF04A2B}"/>
              </a:ext>
            </a:extLst>
          </p:cNvPr>
          <p:cNvSpPr>
            <a:spLocks xmlns:a="http://schemas.openxmlformats.org/drawingml/2006/main" noGrp="1"/>
          </p:cNvSpPr>
          <p:nvPr/>
        </p:nvSpPr>
        <p:spPr>
          <a:xfrm xmlns:a="http://schemas.openxmlformats.org/drawingml/2006/main">
            <a:off x="781050" y="23050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Tín hiệu nền theo giờ</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Bao phủ khoảng thời gian dài</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Có thể lệch điều kiện tại vị trí đo</a:t>
            </a:r>
          </a:p>
        </p:txBody>
      </p:sp>
      <p:sp>
        <p:nvSpPr>
          <p:cNvPr id="8" name="">
            <a:extLst xmlns:a="http://schemas.openxmlformats.org/drawingml/2006/main">
              <a:ext uri="{FF2B5EF4-FFF2-40B4-BE49-F238E27FC236}">
                <a16:creationId xmlns:a16="http://schemas.microsoft.com/office/drawing/2014/main" id="{A7343B25-330A-4360-A7E0-93BCB9AD3427}"/>
              </a:ext>
            </a:extLst>
          </p:cNvPr>
          <p:cNvSpPr>
            <a:spLocks xmlns:a="http://schemas.openxmlformats.org/drawingml/2006/main" noGrp="1"/>
          </p:cNvSpPr>
          <p:nvPr/>
        </p:nvSpPr>
        <p:spPr>
          <a:xfrm xmlns:a="http://schemas.openxmlformats.org/drawingml/2006/main">
            <a:off x="7334250" y="17335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F6E41"/>
                </a:solidFill>
                <a:latin typeface="Noto Sans"/>
                <a:ea typeface="Noto Sans"/>
                <a:cs typeface="Noto Sans"/>
              </a:defRPr>
            </a:pPr>
            <a:r>
              <a:rPr sz="2100" b="1">
                <a:solidFill>
                  <a:srgbClr val="0F6E41"/>
                </a:solidFill>
                <a:latin typeface="Noto Sans"/>
                <a:ea typeface="Noto Sans"/>
                <a:cs typeface="Noto Sans"/>
              </a:rPr>
              <a:t>PurpleAir tại VNU-HCM</a:t>
            </a:r>
          </a:p>
        </p:txBody>
      </p:sp>
      <p:sp>
        <p:nvSpPr>
          <p:cNvPr id="9" name="">
            <a:extLst xmlns:a="http://schemas.openxmlformats.org/drawingml/2006/main">
              <a:ext uri="{FF2B5EF4-FFF2-40B4-BE49-F238E27FC236}">
                <a16:creationId xmlns:a16="http://schemas.microsoft.com/office/drawing/2014/main" id="{67E96C1E-EE6C-497C-9E79-377711585B4E}"/>
              </a:ext>
            </a:extLst>
          </p:cNvPr>
          <p:cNvSpPr>
            <a:spLocks xmlns:a="http://schemas.openxmlformats.org/drawingml/2006/main" noGrp="1"/>
          </p:cNvSpPr>
          <p:nvPr/>
        </p:nvSpPr>
        <p:spPr>
          <a:xfrm xmlns:a="http://schemas.openxmlformats.org/drawingml/2006/main">
            <a:off x="7353300" y="2305050"/>
            <a:ext cx="40957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Quan sát cục bộ mỗi 10 phút</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Phản ánh nhanh tại vị trí cảm biến</a:t>
            </a:r>
          </a:p>
          <a:p xmlns:a="http://schemas.openxmlformats.org/drawingml/2006/main">
            <a:pPr>
              <a:defRPr sz="1650" b="0">
                <a:solidFill>
                  <a:srgbClr val="17352B"/>
                </a:solidFill>
                <a:latin typeface="Noto Sans"/>
                <a:ea typeface="Noto Sans"/>
                <a:cs typeface="Noto Sans"/>
              </a:defRPr>
            </a:pPr>
            <a:r>
              <a:rPr sz="1650" b="0">
                <a:solidFill>
                  <a:srgbClr val="17352B"/>
                </a:solidFill>
                <a:latin typeface="Noto Sans"/>
                <a:ea typeface="Noto Sans"/>
                <a:cs typeface="Noto Sans"/>
              </a:rPr>
              <a:t>Cần kiểm tra độ lệch giữa hai kênh A/B</a:t>
            </a:r>
          </a:p>
        </p:txBody>
      </p:sp>
      <p:sp>
        <p:nvSpPr>
          <p:cNvPr id="10" name="">
            <a:extLst xmlns:a="http://schemas.openxmlformats.org/drawingml/2006/main">
              <a:ext uri="{FF2B5EF4-FFF2-40B4-BE49-F238E27FC236}">
                <a16:creationId xmlns:a16="http://schemas.microsoft.com/office/drawing/2014/main" id="{90AD5309-5E57-4E83-8362-9B051BF3DCA7}"/>
              </a:ext>
            </a:extLst>
          </p:cNvPr>
          <p:cNvSpPr>
            <a:spLocks xmlns:a="http://schemas.openxmlformats.org/drawingml/2006/main" noGrp="1"/>
          </p:cNvSpPr>
          <p:nvPr/>
        </p:nvSpPr>
        <p:spPr>
          <a:xfrm xmlns:a="http://schemas.openxmlformats.org/drawingml/2006/main">
            <a:off x="6096000" y="1619250"/>
            <a:ext cx="0" cy="240030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1" name="">
            <a:extLst xmlns:a="http://schemas.openxmlformats.org/drawingml/2006/main">
              <a:ext uri="{FF2B5EF4-FFF2-40B4-BE49-F238E27FC236}">
                <a16:creationId xmlns:a16="http://schemas.microsoft.com/office/drawing/2014/main" id="{339D0C5A-B726-4F9D-89B2-71848A0EFB4B}"/>
              </a:ext>
            </a:extLst>
          </p:cNvPr>
          <p:cNvSpPr>
            <a:spLocks xmlns:a="http://schemas.openxmlformats.org/drawingml/2006/main" noGrp="1"/>
          </p:cNvSpPr>
          <p:nvPr/>
        </p:nvSpPr>
        <p:spPr>
          <a:xfrm xmlns:a="http://schemas.openxmlformats.org/drawingml/2006/main">
            <a:off x="1524000" y="4191000"/>
            <a:ext cx="2190750" cy="723900"/>
          </a:xfrm>
          <a:prstGeom xmlns:a="http://schemas.openxmlformats.org/drawingml/2006/main" prst="roundRect">
            <a:avLst>
              <a:gd name="adj" fmla="val 18421"/>
            </a:avLst>
          </a:prstGeom>
          <a:solidFill xmlns:a="http://schemas.openxmlformats.org/drawingml/2006/main">
            <a:srgbClr val="EAF5EF"/>
          </a:solidFill>
          <a:ln xmlns:a="http://schemas.openxmlformats.org/drawingml/2006/main" w="19050">
            <a:solidFill>
              <a:srgbClr val="056839"/>
            </a:solidFill>
          </a:ln>
        </p:spPr>
      </p:sp>
      <p:sp>
        <p:nvSpPr>
          <p:cNvPr id="12" name="">
            <a:extLst xmlns:a="http://schemas.openxmlformats.org/drawingml/2006/main">
              <a:ext uri="{FF2B5EF4-FFF2-40B4-BE49-F238E27FC236}">
                <a16:creationId xmlns:a16="http://schemas.microsoft.com/office/drawing/2014/main" id="{6587E983-D59A-42BC-9707-F0CA79F6C18F}"/>
              </a:ext>
            </a:extLst>
          </p:cNvPr>
          <p:cNvSpPr>
            <a:spLocks xmlns:a="http://schemas.openxmlformats.org/drawingml/2006/main" noGrp="1"/>
          </p:cNvSpPr>
          <p:nvPr/>
        </p:nvSpPr>
        <p:spPr>
          <a:xfrm xmlns:a="http://schemas.openxmlformats.org/drawingml/2006/main">
            <a:off x="4857750" y="4038600"/>
            <a:ext cx="2476500" cy="1028700"/>
          </a:xfrm>
          <a:prstGeom xmlns:a="http://schemas.openxmlformats.org/drawingml/2006/main" prst="roundRect">
            <a:avLst>
              <a:gd name="adj" fmla="val 14815"/>
            </a:avLst>
          </a:prstGeom>
          <a:solidFill xmlns:a="http://schemas.openxmlformats.org/drawingml/2006/main">
            <a:srgbClr val="056839"/>
          </a:solidFill>
          <a:ln xmlns:a="http://schemas.openxmlformats.org/drawingml/2006/main" w="19050">
            <a:solidFill>
              <a:srgbClr val="056839"/>
            </a:solidFill>
          </a:ln>
        </p:spPr>
      </p:sp>
      <p:sp>
        <p:nvSpPr>
          <p:cNvPr id="13" name="">
            <a:extLst xmlns:a="http://schemas.openxmlformats.org/drawingml/2006/main">
              <a:ext uri="{FF2B5EF4-FFF2-40B4-BE49-F238E27FC236}">
                <a16:creationId xmlns:a16="http://schemas.microsoft.com/office/drawing/2014/main" id="{4A8BD4B0-B394-456A-9CC9-8B2E74E3A217}"/>
              </a:ext>
            </a:extLst>
          </p:cNvPr>
          <p:cNvSpPr>
            <a:spLocks xmlns:a="http://schemas.openxmlformats.org/drawingml/2006/main" noGrp="1"/>
          </p:cNvSpPr>
          <p:nvPr/>
        </p:nvSpPr>
        <p:spPr>
          <a:xfrm xmlns:a="http://schemas.openxmlformats.org/drawingml/2006/main">
            <a:off x="8477250" y="4191000"/>
            <a:ext cx="2190750" cy="723900"/>
          </a:xfrm>
          <a:prstGeom xmlns:a="http://schemas.openxmlformats.org/drawingml/2006/main" prst="roundRect">
            <a:avLst>
              <a:gd name="adj" fmla="val 18421"/>
            </a:avLst>
          </a:prstGeom>
          <a:solidFill xmlns:a="http://schemas.openxmlformats.org/drawingml/2006/main">
            <a:srgbClr val="EAF5EF"/>
          </a:solidFill>
          <a:ln xmlns:a="http://schemas.openxmlformats.org/drawingml/2006/main" w="19050">
            <a:solidFill>
              <a:srgbClr val="0F6E41"/>
            </a:solidFill>
          </a:ln>
        </p:spPr>
      </p:sp>
      <p:sp>
        <p:nvSpPr>
          <p:cNvPr id="14" name="">
            <a:extLst xmlns:a="http://schemas.openxmlformats.org/drawingml/2006/main">
              <a:ext uri="{FF2B5EF4-FFF2-40B4-BE49-F238E27FC236}">
                <a16:creationId xmlns:a16="http://schemas.microsoft.com/office/drawing/2014/main" id="{551C8D36-E275-4AAC-9814-39DAE3B6BB12}"/>
              </a:ext>
            </a:extLst>
          </p:cNvPr>
          <p:cNvSpPr>
            <a:spLocks xmlns:a="http://schemas.openxmlformats.org/drawingml/2006/main" noGrp="1"/>
          </p:cNvSpPr>
          <p:nvPr/>
        </p:nvSpPr>
        <p:spPr>
          <a:xfrm xmlns:a="http://schemas.openxmlformats.org/drawingml/2006/main">
            <a:off x="1762125" y="4371975"/>
            <a:ext cx="1714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17352B"/>
                </a:solidFill>
                <a:latin typeface="Noto Sans"/>
                <a:ea typeface="Noto Sans"/>
                <a:cs typeface="Noto Sans"/>
              </a:defRPr>
            </a:pPr>
            <a:r>
              <a:rPr sz="1650" b="1">
                <a:solidFill>
                  <a:srgbClr val="17352B"/>
                </a:solidFill>
                <a:latin typeface="Noto Sans"/>
                <a:ea typeface="Noto Sans"/>
                <a:cs typeface="Noto Sans"/>
              </a:rPr>
              <a:t>Tín hiệu nền</a:t>
            </a:r>
          </a:p>
        </p:txBody>
      </p:sp>
      <p:sp>
        <p:nvSpPr>
          <p:cNvPr id="15" name="">
            <a:extLst xmlns:a="http://schemas.openxmlformats.org/drawingml/2006/main">
              <a:ext uri="{FF2B5EF4-FFF2-40B4-BE49-F238E27FC236}">
                <a16:creationId xmlns:a16="http://schemas.microsoft.com/office/drawing/2014/main" id="{F7588E67-CC14-4129-B05A-5F77BCC4079F}"/>
              </a:ext>
            </a:extLst>
          </p:cNvPr>
          <p:cNvSpPr>
            <a:spLocks xmlns:a="http://schemas.openxmlformats.org/drawingml/2006/main" noGrp="1"/>
          </p:cNvSpPr>
          <p:nvPr/>
        </p:nvSpPr>
        <p:spPr>
          <a:xfrm xmlns:a="http://schemas.openxmlformats.org/drawingml/2006/main">
            <a:off x="5095875" y="4210050"/>
            <a:ext cx="2000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98"/>
          </a:bodyPr>
          <a:lstStyle xmlns:a="http://schemas.openxmlformats.org/drawingml/2006/main"/>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Hiệu chỉnh độ lệch</a:t>
            </a:r>
          </a:p>
          <a:p xmlns:a="http://schemas.openxmlformats.org/drawingml/2006/main">
            <a:pPr algn="ctr">
              <a:defRPr sz="1800" b="1">
                <a:solidFill>
                  <a:srgbClr val="FFFFFF"/>
                </a:solidFill>
                <a:latin typeface="Noto Sans"/>
                <a:ea typeface="Noto Sans"/>
                <a:cs typeface="Noto Sans"/>
              </a:defRPr>
            </a:pPr>
            <a:r>
              <a:rPr sz="1800" b="1">
                <a:solidFill>
                  <a:srgbClr val="FFFFFF"/>
                </a:solidFill>
                <a:latin typeface="Noto Sans"/>
                <a:ea typeface="Noto Sans"/>
                <a:cs typeface="Noto Sans"/>
              </a:rPr>
              <a:t>thích nghi</a:t>
            </a:r>
          </a:p>
        </p:txBody>
      </p:sp>
      <p:sp>
        <p:nvSpPr>
          <p:cNvPr id="16" name="">
            <a:extLst xmlns:a="http://schemas.openxmlformats.org/drawingml/2006/main">
              <a:ext uri="{FF2B5EF4-FFF2-40B4-BE49-F238E27FC236}">
                <a16:creationId xmlns:a16="http://schemas.microsoft.com/office/drawing/2014/main" id="{411F978C-BB27-42ED-AFA7-1128E11E3730}"/>
              </a:ext>
            </a:extLst>
          </p:cNvPr>
          <p:cNvSpPr>
            <a:spLocks xmlns:a="http://schemas.openxmlformats.org/drawingml/2006/main" noGrp="1"/>
          </p:cNvSpPr>
          <p:nvPr/>
        </p:nvSpPr>
        <p:spPr>
          <a:xfrm xmlns:a="http://schemas.openxmlformats.org/drawingml/2006/main">
            <a:off x="8610600" y="4267200"/>
            <a:ext cx="1924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271"/>
          </a:bodyPr>
          <a:lstStyle xmlns:a="http://schemas.openxmlformats.org/drawingml/2006/main"/>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Quan sát đạt QC</a:t>
            </a:r>
          </a:p>
          <a:p xmlns:a="http://schemas.openxmlformats.org/drawingml/2006/main">
            <a:pPr algn="ctr">
              <a:defRPr sz="1425" b="1">
                <a:solidFill>
                  <a:srgbClr val="17352B"/>
                </a:solidFill>
                <a:latin typeface="Noto Sans"/>
                <a:ea typeface="Noto Sans"/>
                <a:cs typeface="Noto Sans"/>
              </a:defRPr>
            </a:pPr>
            <a:r>
              <a:rPr sz="1425" b="1">
                <a:solidFill>
                  <a:srgbClr val="17352B"/>
                </a:solidFill>
                <a:latin typeface="Noto Sans"/>
                <a:ea typeface="Noto Sans"/>
                <a:cs typeface="Noto Sans"/>
              </a:rPr>
              <a:t>mới cập nhật độ lệch</a:t>
            </a:r>
          </a:p>
        </p:txBody>
      </p:sp>
      <p:cxnSp>
        <p:nvCxnSpPr>
          <p:cNvPr id="36" name=""/>
          <p:cNvCxnSpPr>
            <a:stCxn xmlns:a="http://schemas.openxmlformats.org/drawingml/2006/main" id="11" idx="3"/>
            <a:endCxn xmlns:a="http://schemas.openxmlformats.org/drawingml/2006/main" id="12" idx="1"/>
          </p:cNvCxnSpPr>
          <p:nvPr/>
        </p:nvCxnSpPr>
        <p:spPr>
          <a:xfrm xmlns:a="http://schemas.openxmlformats.org/drawingml/2006/main">
            <a:off x="3714750" y="4552950"/>
            <a:ext cx="1143000" cy="0"/>
          </a:xfrm>
          <a:prstGeom xmlns:a="http://schemas.openxmlformats.org/drawingml/2006/main" prst="straightConnector1">
            <a:avLst/>
          </a:prstGeom>
          <a:ln xmlns:a="http://schemas.openxmlformats.org/drawingml/2006/main" w="28575">
            <a:solidFill>
              <a:srgbClr val="0F6E41"/>
            </a:solidFill>
            <a:tailEnd type="arrow" w="med" len="med"/>
          </a:ln>
        </p:spPr>
      </p:cxnSp>
      <p:cxnSp>
        <p:nvCxnSpPr>
          <p:cNvPr id="37" name=""/>
          <p:cNvCxnSpPr>
            <a:stCxn xmlns:a="http://schemas.openxmlformats.org/drawingml/2006/main" id="13" idx="1"/>
            <a:endCxn xmlns:a="http://schemas.openxmlformats.org/drawingml/2006/main" id="12" idx="3"/>
          </p:cNvCxnSpPr>
          <p:nvPr/>
        </p:nvCxnSpPr>
        <p:spPr>
          <a:xfrm xmlns:a="http://schemas.openxmlformats.org/drawingml/2006/main" flipH="1">
            <a:off x="7334250" y="4552950"/>
            <a:ext cx="1143000" cy="0"/>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19" name="">
            <a:extLst xmlns:a="http://schemas.openxmlformats.org/drawingml/2006/main">
              <a:ext uri="{FF2B5EF4-FFF2-40B4-BE49-F238E27FC236}">
                <a16:creationId xmlns:a16="http://schemas.microsoft.com/office/drawing/2014/main" id="{73343FB2-1A17-47B0-8478-1C9C096FBB50}"/>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2</a:t>
            </a:r>
          </a:p>
        </p:txBody>
      </p:sp>
    </p:spTree>
    <p:extLst>
      <p:ext uri="{BB962C8B-B14F-4D97-AF65-F5344CB8AC3E}">
        <p14:creationId xmlns:p14="http://schemas.microsoft.com/office/powerpoint/2010/main" val="16383721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235037C-BA44-44E6-ABFE-D726AC4F29EF}"/>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Kiến trúc hệ thống</a:t>
            </a:r>
          </a:p>
        </p:txBody>
      </p:sp>
      <p:sp>
        <p:nvSpPr>
          <p:cNvPr id="2" name="">
            <a:extLst xmlns:a="http://schemas.openxmlformats.org/drawingml/2006/main">
              <a:ext uri="{FF2B5EF4-FFF2-40B4-BE49-F238E27FC236}">
                <a16:creationId xmlns:a16="http://schemas.microsoft.com/office/drawing/2014/main" id="{7B331592-107A-4BD9-9B49-D812DC9CBCB8}"/>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1f702d2776b4678"/>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F0CF230-6A87-4E11-A476-70D3538A6A95}"/>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b2a003fc7eb7442e"/>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78FC158-47D6-451B-8CBD-83F079A6E20E}"/>
              </a:ext>
            </a:extLst>
          </p:cNvPr>
          <p:cNvSpPr>
            <a:spLocks xmlns:a="http://schemas.openxmlformats.org/drawingml/2006/main" noGrp="1"/>
          </p:cNvSpPr>
          <p:nvPr/>
        </p:nvSpPr>
        <p:spPr>
          <a:xfrm xmlns:a="http://schemas.openxmlformats.org/drawingml/2006/main">
            <a:off x="609600" y="1581150"/>
            <a:ext cx="7867650" cy="3333750"/>
          </a:xfrm>
          <a:prstGeom xmlns:a="http://schemas.openxmlformats.org/drawingml/2006/main" prst="roundRect">
            <a:avLst>
              <a:gd name="adj" fmla="val 5143"/>
            </a:avLst>
          </a:prstGeom>
          <a:solidFill xmlns:a="http://schemas.openxmlformats.org/drawingml/2006/main">
            <a:srgbClr val="F5FAF7"/>
          </a:solidFill>
          <a:ln xmlns:a="http://schemas.openxmlformats.org/drawingml/2006/main" w="9525">
            <a:solidFill>
              <a:srgbClr val="C8D8CF"/>
            </a:solidFill>
          </a:ln>
        </p:spPr>
      </p:sp>
      <p:sp>
        <p:nvSpPr>
          <p:cNvPr id="7" name="">
            <a:extLst xmlns:a="http://schemas.openxmlformats.org/drawingml/2006/main">
              <a:ext uri="{FF2B5EF4-FFF2-40B4-BE49-F238E27FC236}">
                <a16:creationId xmlns:a16="http://schemas.microsoft.com/office/drawing/2014/main" id="{2F9307C9-CE19-4D3B-BC42-204EBD9735D4}"/>
              </a:ext>
            </a:extLst>
          </p:cNvPr>
          <p:cNvSpPr>
            <a:spLocks xmlns:a="http://schemas.openxmlformats.org/drawingml/2006/main" noGrp="1"/>
          </p:cNvSpPr>
          <p:nvPr/>
        </p:nvSpPr>
        <p:spPr>
          <a:xfrm xmlns:a="http://schemas.openxmlformats.org/drawingml/2006/main">
            <a:off x="8743950" y="1581150"/>
            <a:ext cx="2838450" cy="3333750"/>
          </a:xfrm>
          <a:prstGeom xmlns:a="http://schemas.openxmlformats.org/drawingml/2006/main" prst="roundRect">
            <a:avLst>
              <a:gd name="adj" fmla="val 6040"/>
            </a:avLst>
          </a:prstGeom>
          <a:solidFill xmlns:a="http://schemas.openxmlformats.org/drawingml/2006/main">
            <a:srgbClr val="EAF5EF"/>
          </a:solidFill>
          <a:ln xmlns:a="http://schemas.openxmlformats.org/drawingml/2006/main" w="19050">
            <a:solidFill>
              <a:srgbClr val="0F6E41"/>
            </a:solidFill>
          </a:ln>
        </p:spPr>
      </p:sp>
      <p:sp>
        <p:nvSpPr>
          <p:cNvPr id="8" name="">
            <a:extLst xmlns:a="http://schemas.openxmlformats.org/drawingml/2006/main">
              <a:ext uri="{FF2B5EF4-FFF2-40B4-BE49-F238E27FC236}">
                <a16:creationId xmlns:a16="http://schemas.microsoft.com/office/drawing/2014/main" id="{D331840D-0FBE-48B1-8019-B4CDEAA18CB6}"/>
              </a:ext>
            </a:extLst>
          </p:cNvPr>
          <p:cNvSpPr>
            <a:spLocks xmlns:a="http://schemas.openxmlformats.org/drawingml/2006/main" noGrp="1"/>
          </p:cNvSpPr>
          <p:nvPr/>
        </p:nvSpPr>
        <p:spPr>
          <a:xfrm xmlns:a="http://schemas.openxmlformats.org/drawingml/2006/main">
            <a:off x="838200" y="17526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F6E41"/>
                </a:solidFill>
                <a:latin typeface="Noto Sans"/>
                <a:ea typeface="Noto Sans"/>
                <a:cs typeface="Noto Sans"/>
              </a:defRPr>
            </a:pPr>
            <a:r>
              <a:rPr sz="1200" b="1">
                <a:solidFill>
                  <a:srgbClr val="0F6E41"/>
                </a:solidFill>
                <a:latin typeface="Noto Sans"/>
                <a:ea typeface="Noto Sans"/>
                <a:cs typeface="Noto Sans"/>
              </a:rPr>
              <a:t>MÁY CHỦ</a:t>
            </a:r>
          </a:p>
        </p:txBody>
      </p:sp>
      <p:sp>
        <p:nvSpPr>
          <p:cNvPr id="9" name="">
            <a:extLst xmlns:a="http://schemas.openxmlformats.org/drawingml/2006/main">
              <a:ext uri="{FF2B5EF4-FFF2-40B4-BE49-F238E27FC236}">
                <a16:creationId xmlns:a16="http://schemas.microsoft.com/office/drawing/2014/main" id="{3430C3EF-20EA-4BF8-BE87-BBB4CF54C6DE}"/>
              </a:ext>
            </a:extLst>
          </p:cNvPr>
          <p:cNvSpPr>
            <a:spLocks xmlns:a="http://schemas.openxmlformats.org/drawingml/2006/main" noGrp="1"/>
          </p:cNvSpPr>
          <p:nvPr/>
        </p:nvSpPr>
        <p:spPr>
          <a:xfrm xmlns:a="http://schemas.openxmlformats.org/drawingml/2006/main">
            <a:off x="9010650" y="17526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defRPr sz="1200" b="1">
                <a:solidFill>
                  <a:srgbClr val="0F6E41"/>
                </a:solidFill>
                <a:latin typeface="Noto Sans"/>
                <a:ea typeface="Noto Sans"/>
                <a:cs typeface="Noto Sans"/>
              </a:defRPr>
            </a:pPr>
            <a:r>
              <a:rPr sz="1200" b="1">
                <a:solidFill>
                  <a:srgbClr val="0F6E41"/>
                </a:solidFill>
                <a:latin typeface="Noto Sans"/>
                <a:ea typeface="Noto Sans"/>
                <a:cs typeface="Noto Sans"/>
              </a:rPr>
              <a:t>FPGA</a:t>
            </a:r>
          </a:p>
        </p:txBody>
      </p:sp>
      <p:sp>
        <p:nvSpPr>
          <p:cNvPr id="10" name="">
            <a:extLst xmlns:a="http://schemas.openxmlformats.org/drawingml/2006/main">
              <a:ext uri="{FF2B5EF4-FFF2-40B4-BE49-F238E27FC236}">
                <a16:creationId xmlns:a16="http://schemas.microsoft.com/office/drawing/2014/main" id="{48AC086C-BCFF-474C-AB35-589193908BC1}"/>
              </a:ext>
            </a:extLst>
          </p:cNvPr>
          <p:cNvSpPr>
            <a:spLocks xmlns:a="http://schemas.openxmlformats.org/drawingml/2006/main" noGrp="1"/>
          </p:cNvSpPr>
          <p:nvPr/>
        </p:nvSpPr>
        <p:spPr>
          <a:xfrm xmlns:a="http://schemas.openxmlformats.org/drawingml/2006/main">
            <a:off x="8572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1" name="">
            <a:extLst xmlns:a="http://schemas.openxmlformats.org/drawingml/2006/main">
              <a:ext uri="{FF2B5EF4-FFF2-40B4-BE49-F238E27FC236}">
                <a16:creationId xmlns:a16="http://schemas.microsoft.com/office/drawing/2014/main" id="{30089063-B9D5-4316-ADC0-E6C40DBBB597}"/>
              </a:ext>
            </a:extLst>
          </p:cNvPr>
          <p:cNvSpPr>
            <a:spLocks xmlns:a="http://schemas.openxmlformats.org/drawingml/2006/main" noGrp="1"/>
          </p:cNvSpPr>
          <p:nvPr/>
        </p:nvSpPr>
        <p:spPr>
          <a:xfrm xmlns:a="http://schemas.openxmlformats.org/drawingml/2006/main">
            <a:off x="9525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CAMS</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PurpleAir</a:t>
            </a:r>
          </a:p>
        </p:txBody>
      </p:sp>
      <p:sp>
        <p:nvSpPr>
          <p:cNvPr id="12" name="">
            <a:extLst xmlns:a="http://schemas.openxmlformats.org/drawingml/2006/main">
              <a:ext uri="{FF2B5EF4-FFF2-40B4-BE49-F238E27FC236}">
                <a16:creationId xmlns:a16="http://schemas.microsoft.com/office/drawing/2014/main" id="{ACE3D143-17A0-4294-B5F1-339AA25D217A}"/>
              </a:ext>
            </a:extLst>
          </p:cNvPr>
          <p:cNvSpPr>
            <a:spLocks xmlns:a="http://schemas.openxmlformats.org/drawingml/2006/main" noGrp="1"/>
          </p:cNvSpPr>
          <p:nvPr/>
        </p:nvSpPr>
        <p:spPr>
          <a:xfrm xmlns:a="http://schemas.openxmlformats.org/drawingml/2006/main">
            <a:off x="27241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3" name="">
            <a:extLst xmlns:a="http://schemas.openxmlformats.org/drawingml/2006/main">
              <a:ext uri="{FF2B5EF4-FFF2-40B4-BE49-F238E27FC236}">
                <a16:creationId xmlns:a16="http://schemas.microsoft.com/office/drawing/2014/main" id="{908E2C79-BF0D-4C9A-AB6E-D28A7CF68017}"/>
              </a:ext>
            </a:extLst>
          </p:cNvPr>
          <p:cNvSpPr>
            <a:spLocks xmlns:a="http://schemas.openxmlformats.org/drawingml/2006/main" noGrp="1"/>
          </p:cNvSpPr>
          <p:nvPr/>
        </p:nvSpPr>
        <p:spPr>
          <a:xfrm xmlns:a="http://schemas.openxmlformats.org/drawingml/2006/main">
            <a:off x="28194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Thu thập</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và QC</a:t>
            </a:r>
          </a:p>
        </p:txBody>
      </p:sp>
      <p:sp>
        <p:nvSpPr>
          <p:cNvPr id="14" name="">
            <a:extLst xmlns:a="http://schemas.openxmlformats.org/drawingml/2006/main">
              <a:ext uri="{FF2B5EF4-FFF2-40B4-BE49-F238E27FC236}">
                <a16:creationId xmlns:a16="http://schemas.microsoft.com/office/drawing/2014/main" id="{46EB3B51-F4B5-48BC-BC5C-8AA7FD2C0D1A}"/>
              </a:ext>
            </a:extLst>
          </p:cNvPr>
          <p:cNvSpPr>
            <a:spLocks xmlns:a="http://schemas.openxmlformats.org/drawingml/2006/main" noGrp="1"/>
          </p:cNvSpPr>
          <p:nvPr/>
        </p:nvSpPr>
        <p:spPr>
          <a:xfrm xmlns:a="http://schemas.openxmlformats.org/drawingml/2006/main">
            <a:off x="4591050" y="2457450"/>
            <a:ext cx="14287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5" name="">
            <a:extLst xmlns:a="http://schemas.openxmlformats.org/drawingml/2006/main">
              <a:ext uri="{FF2B5EF4-FFF2-40B4-BE49-F238E27FC236}">
                <a16:creationId xmlns:a16="http://schemas.microsoft.com/office/drawing/2014/main" id="{F6E4D2D4-65B4-4EB3-BEEF-2F768873A3AC}"/>
              </a:ext>
            </a:extLst>
          </p:cNvPr>
          <p:cNvSpPr>
            <a:spLocks xmlns:a="http://schemas.openxmlformats.org/drawingml/2006/main" noGrp="1"/>
          </p:cNvSpPr>
          <p:nvPr/>
        </p:nvSpPr>
        <p:spPr>
          <a:xfrm xmlns:a="http://schemas.openxmlformats.org/drawingml/2006/main">
            <a:off x="4686300" y="2638425"/>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Lượng tử</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hóa x16</a:t>
            </a:r>
          </a:p>
        </p:txBody>
      </p:sp>
      <p:sp>
        <p:nvSpPr>
          <p:cNvPr id="16" name="">
            <a:extLst xmlns:a="http://schemas.openxmlformats.org/drawingml/2006/main">
              <a:ext uri="{FF2B5EF4-FFF2-40B4-BE49-F238E27FC236}">
                <a16:creationId xmlns:a16="http://schemas.microsoft.com/office/drawing/2014/main" id="{E4C1EF5F-C901-4A74-A2DB-E8BFAF9A5D64}"/>
              </a:ext>
            </a:extLst>
          </p:cNvPr>
          <p:cNvSpPr>
            <a:spLocks xmlns:a="http://schemas.openxmlformats.org/drawingml/2006/main" noGrp="1"/>
          </p:cNvSpPr>
          <p:nvPr/>
        </p:nvSpPr>
        <p:spPr>
          <a:xfrm xmlns:a="http://schemas.openxmlformats.org/drawingml/2006/main">
            <a:off x="6457950" y="2457450"/>
            <a:ext cx="1619250" cy="914400"/>
          </a:xfrm>
          <a:prstGeom xmlns:a="http://schemas.openxmlformats.org/drawingml/2006/main" prst="roundRect">
            <a:avLst>
              <a:gd name="adj" fmla="val 14583"/>
            </a:avLst>
          </a:prstGeom>
          <a:solidFill xmlns:a="http://schemas.openxmlformats.org/drawingml/2006/main">
            <a:srgbClr val="FFFFFF"/>
          </a:solidFill>
          <a:ln xmlns:a="http://schemas.openxmlformats.org/drawingml/2006/main" w="19050">
            <a:solidFill>
              <a:srgbClr val="0F6E41"/>
            </a:solidFill>
          </a:ln>
        </p:spPr>
      </p:sp>
      <p:sp>
        <p:nvSpPr>
          <p:cNvPr id="17" name="">
            <a:extLst xmlns:a="http://schemas.openxmlformats.org/drawingml/2006/main">
              <a:ext uri="{FF2B5EF4-FFF2-40B4-BE49-F238E27FC236}">
                <a16:creationId xmlns:a16="http://schemas.microsoft.com/office/drawing/2014/main" id="{F54EB95D-6FA9-48B7-8EBB-B2A76EBF0603}"/>
              </a:ext>
            </a:extLst>
          </p:cNvPr>
          <p:cNvSpPr>
            <a:spLocks xmlns:a="http://schemas.openxmlformats.org/drawingml/2006/main" noGrp="1"/>
          </p:cNvSpPr>
          <p:nvPr/>
        </p:nvSpPr>
        <p:spPr>
          <a:xfrm xmlns:a="http://schemas.openxmlformats.org/drawingml/2006/main">
            <a:off x="6553200" y="2638425"/>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Mô hình</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tham chiếu</a:t>
            </a:r>
          </a:p>
        </p:txBody>
      </p:sp>
      <p:cxnSp>
        <p:nvCxnSpPr>
          <p:cNvPr id="51" name=""/>
          <p:cNvCxnSpPr>
            <a:stCxn xmlns:a="http://schemas.openxmlformats.org/drawingml/2006/main" id="10" idx="3"/>
            <a:endCxn xmlns:a="http://schemas.openxmlformats.org/drawingml/2006/main" id="12" idx="1"/>
          </p:cNvCxnSpPr>
          <p:nvPr/>
        </p:nvCxnSpPr>
        <p:spPr>
          <a:xfrm xmlns:a="http://schemas.openxmlformats.org/drawingml/2006/main">
            <a:off x="22860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cxnSp>
        <p:nvCxnSpPr>
          <p:cNvPr id="52" name=""/>
          <p:cNvCxnSpPr>
            <a:stCxn xmlns:a="http://schemas.openxmlformats.org/drawingml/2006/main" id="12" idx="3"/>
            <a:endCxn xmlns:a="http://schemas.openxmlformats.org/drawingml/2006/main" id="14" idx="1"/>
          </p:cNvCxnSpPr>
          <p:nvPr/>
        </p:nvCxnSpPr>
        <p:spPr>
          <a:xfrm xmlns:a="http://schemas.openxmlformats.org/drawingml/2006/main">
            <a:off x="41529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cxnSp>
        <p:nvCxnSpPr>
          <p:cNvPr id="53" name=""/>
          <p:cNvCxnSpPr>
            <a:stCxn xmlns:a="http://schemas.openxmlformats.org/drawingml/2006/main" id="14" idx="3"/>
            <a:endCxn xmlns:a="http://schemas.openxmlformats.org/drawingml/2006/main" id="16" idx="1"/>
          </p:cNvCxnSpPr>
          <p:nvPr/>
        </p:nvCxnSpPr>
        <p:spPr>
          <a:xfrm xmlns:a="http://schemas.openxmlformats.org/drawingml/2006/main">
            <a:off x="6019800" y="2914650"/>
            <a:ext cx="438150" cy="0"/>
          </a:xfrm>
          <a:prstGeom xmlns:a="http://schemas.openxmlformats.org/drawingml/2006/main" prst="straightConnector1">
            <a:avLst/>
          </a:prstGeom>
          <a:ln xmlns:a="http://schemas.openxmlformats.org/drawingml/2006/main" w="23813">
            <a:solidFill>
              <a:srgbClr val="0F6E41"/>
            </a:solidFill>
            <a:tailEnd type="arrow" w="med" len="med"/>
          </a:ln>
        </p:spPr>
      </p:cxnSp>
      <p:sp>
        <p:nvSpPr>
          <p:cNvPr id="21" name="">
            <a:extLst xmlns:a="http://schemas.openxmlformats.org/drawingml/2006/main">
              <a:ext uri="{FF2B5EF4-FFF2-40B4-BE49-F238E27FC236}">
                <a16:creationId xmlns:a16="http://schemas.microsoft.com/office/drawing/2014/main" id="{29535351-7B34-49E3-96D1-E344A37DF280}"/>
              </a:ext>
            </a:extLst>
          </p:cNvPr>
          <p:cNvSpPr>
            <a:spLocks xmlns:a="http://schemas.openxmlformats.org/drawingml/2006/main" noGrp="1"/>
          </p:cNvSpPr>
          <p:nvPr/>
        </p:nvSpPr>
        <p:spPr>
          <a:xfrm xmlns:a="http://schemas.openxmlformats.org/drawingml/2006/main">
            <a:off x="9086850" y="2343150"/>
            <a:ext cx="2133600" cy="781050"/>
          </a:xfrm>
          <a:prstGeom xmlns:a="http://schemas.openxmlformats.org/drawingml/2006/main" prst="roundRect">
            <a:avLst>
              <a:gd name="adj" fmla="val 17073"/>
            </a:avLst>
          </a:prstGeom>
          <a:solidFill xmlns:a="http://schemas.openxmlformats.org/drawingml/2006/main">
            <a:srgbClr val="FFFFFF"/>
          </a:solidFill>
          <a:ln xmlns:a="http://schemas.openxmlformats.org/drawingml/2006/main" w="19050">
            <a:solidFill>
              <a:srgbClr val="0F6E41"/>
            </a:solidFill>
          </a:ln>
        </p:spPr>
      </p:sp>
      <p:sp>
        <p:nvSpPr>
          <p:cNvPr id="22" name="">
            <a:extLst xmlns:a="http://schemas.openxmlformats.org/drawingml/2006/main">
              <a:ext uri="{FF2B5EF4-FFF2-40B4-BE49-F238E27FC236}">
                <a16:creationId xmlns:a16="http://schemas.microsoft.com/office/drawing/2014/main" id="{7AF4659F-8E43-4D40-81B5-B54378EC6C61}"/>
              </a:ext>
            </a:extLst>
          </p:cNvPr>
          <p:cNvSpPr>
            <a:spLocks xmlns:a="http://schemas.openxmlformats.org/drawingml/2006/main" noGrp="1"/>
          </p:cNvSpPr>
          <p:nvPr/>
        </p:nvSpPr>
        <p:spPr>
          <a:xfrm xmlns:a="http://schemas.openxmlformats.org/drawingml/2006/main">
            <a:off x="9086850" y="3524250"/>
            <a:ext cx="2133600" cy="876300"/>
          </a:xfrm>
          <a:prstGeom xmlns:a="http://schemas.openxmlformats.org/drawingml/2006/main" prst="roundRect">
            <a:avLst>
              <a:gd name="adj" fmla="val 15217"/>
            </a:avLst>
          </a:prstGeom>
          <a:solidFill xmlns:a="http://schemas.openxmlformats.org/drawingml/2006/main">
            <a:srgbClr val="056839"/>
          </a:solidFill>
          <a:ln xmlns:a="http://schemas.openxmlformats.org/drawingml/2006/main" w="19050">
            <a:solidFill>
              <a:srgbClr val="056839"/>
            </a:solidFill>
          </a:ln>
        </p:spPr>
      </p:sp>
      <p:sp>
        <p:nvSpPr>
          <p:cNvPr id="23" name="">
            <a:extLst xmlns:a="http://schemas.openxmlformats.org/drawingml/2006/main">
              <a:ext uri="{FF2B5EF4-FFF2-40B4-BE49-F238E27FC236}">
                <a16:creationId xmlns:a16="http://schemas.microsoft.com/office/drawing/2014/main" id="{5DBEFA2A-F2E3-4AF9-AA51-B60B66D6A7D7}"/>
              </a:ext>
            </a:extLst>
          </p:cNvPr>
          <p:cNvSpPr>
            <a:spLocks xmlns:a="http://schemas.openxmlformats.org/drawingml/2006/main" noGrp="1"/>
          </p:cNvSpPr>
          <p:nvPr/>
        </p:nvSpPr>
        <p:spPr>
          <a:xfrm xmlns:a="http://schemas.openxmlformats.org/drawingml/2006/main">
            <a:off x="9258300" y="2543175"/>
            <a:ext cx="1790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17352B"/>
                </a:solidFill>
                <a:latin typeface="Noto Sans"/>
                <a:ea typeface="Noto Sans"/>
                <a:cs typeface="Noto Sans"/>
              </a:defRPr>
            </a:pPr>
            <a:r>
              <a:rPr sz="1575" b="1">
                <a:solidFill>
                  <a:srgbClr val="17352B"/>
                </a:solidFill>
                <a:latin typeface="Noto Sans"/>
                <a:ea typeface="Noto Sans"/>
                <a:cs typeface="Noto Sans"/>
              </a:rPr>
              <a:t>UART 9/10 byte</a:t>
            </a:r>
          </a:p>
        </p:txBody>
      </p:sp>
      <p:sp>
        <p:nvSpPr>
          <p:cNvPr id="24" name="">
            <a:extLst xmlns:a="http://schemas.openxmlformats.org/drawingml/2006/main">
              <a:ext uri="{FF2B5EF4-FFF2-40B4-BE49-F238E27FC236}">
                <a16:creationId xmlns:a16="http://schemas.microsoft.com/office/drawing/2014/main" id="{9722851B-1FF9-4773-A47D-A707DC2D9789}"/>
              </a:ext>
            </a:extLst>
          </p:cNvPr>
          <p:cNvSpPr>
            <a:spLocks xmlns:a="http://schemas.openxmlformats.org/drawingml/2006/main" noGrp="1"/>
          </p:cNvSpPr>
          <p:nvPr/>
        </p:nvSpPr>
        <p:spPr>
          <a:xfrm xmlns:a="http://schemas.openxmlformats.org/drawingml/2006/main">
            <a:off x="9296400" y="3686175"/>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7681"/>
          </a:bodyPr>
          <a:lstStyle xmlns:a="http://schemas.openxmlformats.org/drawingml/2006/main"/>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Lõi RTL</a:t>
            </a:r>
          </a:p>
          <a:p xmlns:a="http://schemas.openxmlformats.org/drawingml/2006/main">
            <a:pPr algn="ctr">
              <a:defRPr sz="1725" b="1">
                <a:solidFill>
                  <a:srgbClr val="FFFFFF"/>
                </a:solidFill>
                <a:latin typeface="Noto Sans"/>
                <a:ea typeface="Noto Sans"/>
                <a:cs typeface="Noto Sans"/>
              </a:defRPr>
            </a:pPr>
            <a:r>
              <a:rPr sz="1725" b="1">
                <a:solidFill>
                  <a:srgbClr val="FFFFFF"/>
                </a:solidFill>
                <a:latin typeface="Noto Sans"/>
                <a:ea typeface="Noto Sans"/>
                <a:cs typeface="Noto Sans"/>
              </a:rPr>
              <a:t>PM2.5</a:t>
            </a:r>
          </a:p>
        </p:txBody>
      </p:sp>
      <p:cxnSp>
        <p:nvCxnSpPr>
          <p:cNvPr id="58" name=""/>
          <p:cNvCxnSpPr>
            <a:stCxn xmlns:a="http://schemas.openxmlformats.org/drawingml/2006/main" id="21" idx="2"/>
            <a:endCxn xmlns:a="http://schemas.openxmlformats.org/drawingml/2006/main" id="22" idx="0"/>
          </p:cNvCxnSpPr>
          <p:nvPr/>
        </p:nvCxnSpPr>
        <p:spPr>
          <a:xfrm xmlns:a="http://schemas.openxmlformats.org/drawingml/2006/main">
            <a:off x="10153650" y="3124200"/>
            <a:ext cx="0" cy="400050"/>
          </a:xfrm>
          <a:prstGeom xmlns:a="http://schemas.openxmlformats.org/drawingml/2006/main" prst="straightConnector1">
            <a:avLst/>
          </a:prstGeom>
          <a:ln xmlns:a="http://schemas.openxmlformats.org/drawingml/2006/main" w="28575">
            <a:solidFill>
              <a:srgbClr val="0F6E41"/>
            </a:solidFill>
            <a:tailEnd type="arrow" w="med" len="med"/>
          </a:ln>
        </p:spPr>
      </p:cxnSp>
      <p:cxnSp>
        <p:nvCxnSpPr>
          <p:cNvPr id="59" name=""/>
          <p:cNvCxnSpPr>
            <a:stCxn xmlns:a="http://schemas.openxmlformats.org/drawingml/2006/main" id="16" idx="3"/>
            <a:endCxn xmlns:a="http://schemas.openxmlformats.org/drawingml/2006/main" id="21" idx="1"/>
          </p:cNvCxnSpPr>
          <p:nvPr/>
        </p:nvCxnSpPr>
        <p:spPr>
          <a:xfrm xmlns:a="http://schemas.openxmlformats.org/drawingml/2006/main" flipV="1">
            <a:off x="8077200" y="2733675"/>
            <a:ext cx="1009650" cy="180975"/>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27" name="">
            <a:extLst xmlns:a="http://schemas.openxmlformats.org/drawingml/2006/main">
              <a:ext uri="{FF2B5EF4-FFF2-40B4-BE49-F238E27FC236}">
                <a16:creationId xmlns:a16="http://schemas.microsoft.com/office/drawing/2014/main" id="{AC8F8596-927D-46A0-9610-9E5FF3853B89}"/>
              </a:ext>
            </a:extLst>
          </p:cNvPr>
          <p:cNvSpPr>
            <a:spLocks xmlns:a="http://schemas.openxmlformats.org/drawingml/2006/main" noGrp="1"/>
          </p:cNvSpPr>
          <p:nvPr/>
        </p:nvSpPr>
        <p:spPr>
          <a:xfrm xmlns:a="http://schemas.openxmlformats.org/drawingml/2006/main">
            <a:off x="1066800" y="37909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246"/>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Ba chuỗi dữ liệu được lưu độc lập</a:t>
            </a:r>
          </a:p>
        </p:txBody>
      </p:sp>
      <p:sp>
        <p:nvSpPr>
          <p:cNvPr id="28" name="">
            <a:extLst xmlns:a="http://schemas.openxmlformats.org/drawingml/2006/main">
              <a:ext uri="{FF2B5EF4-FFF2-40B4-BE49-F238E27FC236}">
                <a16:creationId xmlns:a16="http://schemas.microsoft.com/office/drawing/2014/main" id="{CDDDA848-0464-4948-980D-6DDF3FF7B75A}"/>
              </a:ext>
            </a:extLst>
          </p:cNvPr>
          <p:cNvSpPr>
            <a:spLocks xmlns:a="http://schemas.openxmlformats.org/drawingml/2006/main" noGrp="1"/>
          </p:cNvSpPr>
          <p:nvPr/>
        </p:nvSpPr>
        <p:spPr>
          <a:xfrm xmlns:a="http://schemas.openxmlformats.org/drawingml/2006/main">
            <a:off x="1314450" y="43053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1">
                <a:solidFill>
                  <a:srgbClr val="056839"/>
                </a:solidFill>
                <a:latin typeface="Noto Sans"/>
                <a:ea typeface="Noto Sans"/>
                <a:cs typeface="Noto Sans"/>
              </a:defRPr>
            </a:pPr>
            <a:r>
              <a:rPr sz="1500" b="1">
                <a:solidFill>
                  <a:srgbClr val="056839"/>
                </a:solidFill>
                <a:latin typeface="Noto Sans"/>
                <a:ea typeface="Noto Sans"/>
                <a:cs typeface="Noto Sans"/>
              </a:rPr>
              <a:t>CAMS</a:t>
            </a:r>
          </a:p>
        </p:txBody>
      </p:sp>
      <p:sp>
        <p:nvSpPr>
          <p:cNvPr id="29" name="">
            <a:extLst xmlns:a="http://schemas.openxmlformats.org/drawingml/2006/main">
              <a:ext uri="{FF2B5EF4-FFF2-40B4-BE49-F238E27FC236}">
                <a16:creationId xmlns:a16="http://schemas.microsoft.com/office/drawing/2014/main" id="{F9112134-3600-4FF1-AF6C-CADE61B72126}"/>
              </a:ext>
            </a:extLst>
          </p:cNvPr>
          <p:cNvSpPr>
            <a:spLocks xmlns:a="http://schemas.openxmlformats.org/drawingml/2006/main" noGrp="1"/>
          </p:cNvSpPr>
          <p:nvPr/>
        </p:nvSpPr>
        <p:spPr>
          <a:xfrm xmlns:a="http://schemas.openxmlformats.org/drawingml/2006/main">
            <a:off x="3352800" y="43053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1">
                <a:solidFill>
                  <a:srgbClr val="0F6E41"/>
                </a:solidFill>
                <a:latin typeface="Noto Sans"/>
                <a:ea typeface="Noto Sans"/>
                <a:cs typeface="Noto Sans"/>
              </a:defRPr>
            </a:pPr>
            <a:r>
              <a:rPr sz="1500" b="1">
                <a:solidFill>
                  <a:srgbClr val="0F6E41"/>
                </a:solidFill>
                <a:latin typeface="Noto Sans"/>
                <a:ea typeface="Noto Sans"/>
                <a:cs typeface="Noto Sans"/>
              </a:rPr>
              <a:t>PurpleAir</a:t>
            </a:r>
          </a:p>
        </p:txBody>
      </p:sp>
      <p:sp>
        <p:nvSpPr>
          <p:cNvPr id="30" name="">
            <a:extLst xmlns:a="http://schemas.openxmlformats.org/drawingml/2006/main">
              <a:ext uri="{FF2B5EF4-FFF2-40B4-BE49-F238E27FC236}">
                <a16:creationId xmlns:a16="http://schemas.microsoft.com/office/drawing/2014/main" id="{89918D85-A8C2-401A-9211-922D1C615685}"/>
              </a:ext>
            </a:extLst>
          </p:cNvPr>
          <p:cNvSpPr>
            <a:spLocks xmlns:a="http://schemas.openxmlformats.org/drawingml/2006/main" noGrp="1"/>
          </p:cNvSpPr>
          <p:nvPr/>
        </p:nvSpPr>
        <p:spPr>
          <a:xfrm xmlns:a="http://schemas.openxmlformats.org/drawingml/2006/main">
            <a:off x="5391150" y="4305300"/>
            <a:ext cx="2247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333"/>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Kết quả hiệu chỉnh</a:t>
            </a:r>
          </a:p>
        </p:txBody>
      </p:sp>
      <p:sp>
        <p:nvSpPr>
          <p:cNvPr id="31" name="">
            <a:extLst xmlns:a="http://schemas.openxmlformats.org/drawingml/2006/main">
              <a:ext uri="{FF2B5EF4-FFF2-40B4-BE49-F238E27FC236}">
                <a16:creationId xmlns:a16="http://schemas.microsoft.com/office/drawing/2014/main" id="{2B562506-2053-43E6-B5D4-9F401A1152B6}"/>
              </a:ext>
            </a:extLst>
          </p:cNvPr>
          <p:cNvSpPr>
            <a:spLocks xmlns:a="http://schemas.openxmlformats.org/drawingml/2006/main" noGrp="1"/>
          </p:cNvSpPr>
          <p:nvPr/>
        </p:nvSpPr>
        <p:spPr>
          <a:xfrm xmlns:a="http://schemas.openxmlformats.org/drawingml/2006/main">
            <a:off x="3162300" y="4267200"/>
            <a:ext cx="0" cy="40005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32" name="">
            <a:extLst xmlns:a="http://schemas.openxmlformats.org/drawingml/2006/main">
              <a:ext uri="{FF2B5EF4-FFF2-40B4-BE49-F238E27FC236}">
                <a16:creationId xmlns:a16="http://schemas.microsoft.com/office/drawing/2014/main" id="{D14616D4-740A-4968-9CCE-43DAC804543E}"/>
              </a:ext>
            </a:extLst>
          </p:cNvPr>
          <p:cNvSpPr>
            <a:spLocks xmlns:a="http://schemas.openxmlformats.org/drawingml/2006/main" noGrp="1"/>
          </p:cNvSpPr>
          <p:nvPr/>
        </p:nvSpPr>
        <p:spPr>
          <a:xfrm xmlns:a="http://schemas.openxmlformats.org/drawingml/2006/main">
            <a:off x="5219700" y="4267200"/>
            <a:ext cx="0" cy="40005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33" name="">
            <a:extLst xmlns:a="http://schemas.openxmlformats.org/drawingml/2006/main">
              <a:ext uri="{FF2B5EF4-FFF2-40B4-BE49-F238E27FC236}">
                <a16:creationId xmlns:a16="http://schemas.microsoft.com/office/drawing/2014/main" id="{4F0DA814-C681-4289-977B-12928474E8E9}"/>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3</a:t>
            </a:r>
          </a:p>
        </p:txBody>
      </p:sp>
    </p:spTree>
    <p:extLst>
      <p:ext uri="{BB962C8B-B14F-4D97-AF65-F5344CB8AC3E}">
        <p14:creationId xmlns:p14="http://schemas.microsoft.com/office/powerpoint/2010/main" val="4798141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03DC26-0602-4DDA-B2BE-E12D9A454606}"/>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Lõi hiệu chỉnh độ lệch thích nghi</a:t>
            </a:r>
          </a:p>
        </p:txBody>
      </p:sp>
      <p:sp>
        <p:nvSpPr>
          <p:cNvPr id="2" name="">
            <a:extLst xmlns:a="http://schemas.openxmlformats.org/drawingml/2006/main">
              <a:ext uri="{FF2B5EF4-FFF2-40B4-BE49-F238E27FC236}">
                <a16:creationId xmlns:a16="http://schemas.microsoft.com/office/drawing/2014/main" id="{F01B47D6-B6F9-4BEE-9378-C744D7B365BC}"/>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2bd4f91f00e4a69"/>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AD3731-7262-46D1-BF8B-D8DE529DB267}"/>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3e108062efe4dd1"/>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0D1839-C354-4F0E-B157-8CD9E48F3467}"/>
              </a:ext>
            </a:extLst>
          </p:cNvPr>
          <p:cNvSpPr>
            <a:spLocks xmlns:a="http://schemas.openxmlformats.org/drawingml/2006/main" noGrp="1"/>
          </p:cNvSpPr>
          <p:nvPr/>
        </p:nvSpPr>
        <p:spPr>
          <a:xfrm xmlns:a="http://schemas.openxmlformats.org/drawingml/2006/main">
            <a:off x="666750" y="1619250"/>
            <a:ext cx="7429500" cy="3390900"/>
          </a:xfrm>
          <a:prstGeom xmlns:a="http://schemas.openxmlformats.org/drawingml/2006/main" prst="roundRect">
            <a:avLst>
              <a:gd name="adj" fmla="val 5056"/>
            </a:avLst>
          </a:prstGeom>
          <a:solidFill xmlns:a="http://schemas.openxmlformats.org/drawingml/2006/main">
            <a:srgbClr val="F5FA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85BB76-9069-4FB6-94AB-BFB57312044C}"/>
              </a:ext>
            </a:extLst>
          </p:cNvPr>
          <p:cNvSpPr>
            <a:spLocks xmlns:a="http://schemas.openxmlformats.org/drawingml/2006/main" noGrp="1"/>
          </p:cNvSpPr>
          <p:nvPr/>
        </p:nvSpPr>
        <p:spPr>
          <a:xfrm xmlns:a="http://schemas.openxmlformats.org/drawingml/2006/main">
            <a:off x="1028700" y="193357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352B"/>
                </a:solidFill>
                <a:latin typeface="DejaVu Sans Mono"/>
                <a:ea typeface="DejaVu Sans Mono"/>
                <a:cs typeface="DejaVu Sans Mono"/>
              </a:defRPr>
            </a:pPr>
            <a:r>
              <a:rPr sz="1875" b="1">
                <a:solidFill>
                  <a:srgbClr val="17352B"/>
                </a:solidFill>
                <a:latin typeface="DejaVu Sans Mono"/>
                <a:ea typeface="DejaVu Sans Mono"/>
                <a:cs typeface="DejaVu Sans Mono"/>
              </a:rPr>
              <a:t>residual[t] = PurpleAir[t] - CAMS[t]</a:t>
            </a:r>
          </a:p>
        </p:txBody>
      </p:sp>
      <p:sp>
        <p:nvSpPr>
          <p:cNvPr id="8" name="">
            <a:extLst xmlns:a="http://schemas.openxmlformats.org/drawingml/2006/main">
              <a:ext uri="{FF2B5EF4-FFF2-40B4-BE49-F238E27FC236}">
                <a16:creationId xmlns:a16="http://schemas.microsoft.com/office/drawing/2014/main" id="{19CE270D-3FA4-4697-92D5-581B15C9D5E1}"/>
              </a:ext>
            </a:extLst>
          </p:cNvPr>
          <p:cNvSpPr>
            <a:spLocks xmlns:a="http://schemas.openxmlformats.org/drawingml/2006/main" noGrp="1"/>
          </p:cNvSpPr>
          <p:nvPr/>
        </p:nvSpPr>
        <p:spPr>
          <a:xfrm xmlns:a="http://schemas.openxmlformats.org/drawingml/2006/main">
            <a:off x="1028700" y="259080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error[t] = residual[t] - bias_before[t]</a:t>
            </a:r>
          </a:p>
        </p:txBody>
      </p:sp>
      <p:sp>
        <p:nvSpPr>
          <p:cNvPr id="9" name="">
            <a:extLst xmlns:a="http://schemas.openxmlformats.org/drawingml/2006/main">
              <a:ext uri="{FF2B5EF4-FFF2-40B4-BE49-F238E27FC236}">
                <a16:creationId xmlns:a16="http://schemas.microsoft.com/office/drawing/2014/main" id="{11BEF9BC-40A3-42F9-89DF-0FF039CA7CC6}"/>
              </a:ext>
            </a:extLst>
          </p:cNvPr>
          <p:cNvSpPr>
            <a:spLocks xmlns:a="http://schemas.openxmlformats.org/drawingml/2006/main" noGrp="1"/>
          </p:cNvSpPr>
          <p:nvPr/>
        </p:nvSpPr>
        <p:spPr>
          <a:xfrm xmlns:a="http://schemas.openxmlformats.org/drawingml/2006/main">
            <a:off x="1028700" y="3248025"/>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0F6E41"/>
                </a:solidFill>
                <a:latin typeface="DejaVu Sans Mono"/>
                <a:ea typeface="DejaVu Sans Mono"/>
                <a:cs typeface="DejaVu Sans Mono"/>
              </a:defRPr>
            </a:pPr>
            <a:r>
              <a:rPr sz="1950" b="1">
                <a:solidFill>
                  <a:srgbClr val="0F6E41"/>
                </a:solidFill>
                <a:latin typeface="DejaVu Sans Mono"/>
                <a:ea typeface="DejaVu Sans Mono"/>
                <a:cs typeface="DejaVu Sans Mono"/>
              </a:rPr>
              <a:t>delta[t] = error[t] &gt;&gt;&gt; 3</a:t>
            </a:r>
          </a:p>
        </p:txBody>
      </p:sp>
      <p:sp>
        <p:nvSpPr>
          <p:cNvPr id="10" name="">
            <a:extLst xmlns:a="http://schemas.openxmlformats.org/drawingml/2006/main">
              <a:ext uri="{FF2B5EF4-FFF2-40B4-BE49-F238E27FC236}">
                <a16:creationId xmlns:a16="http://schemas.microsoft.com/office/drawing/2014/main" id="{09CF2453-12FE-4608-B742-DB95BA9411A0}"/>
              </a:ext>
            </a:extLst>
          </p:cNvPr>
          <p:cNvSpPr>
            <a:spLocks xmlns:a="http://schemas.openxmlformats.org/drawingml/2006/main" noGrp="1"/>
          </p:cNvSpPr>
          <p:nvPr/>
        </p:nvSpPr>
        <p:spPr>
          <a:xfrm xmlns:a="http://schemas.openxmlformats.org/drawingml/2006/main">
            <a:off x="1028700" y="4095750"/>
            <a:ext cx="666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056839"/>
                </a:solidFill>
                <a:latin typeface="DejaVu Sans Mono"/>
                <a:ea typeface="DejaVu Sans Mono"/>
                <a:cs typeface="DejaVu Sans Mono"/>
              </a:defRPr>
            </a:pPr>
            <a:r>
              <a:rPr sz="1800" b="1">
                <a:solidFill>
                  <a:srgbClr val="056839"/>
                </a:solidFill>
                <a:latin typeface="DejaVu Sans Mono"/>
                <a:ea typeface="DejaVu Sans Mono"/>
                <a:cs typeface="DejaVu Sans Mono"/>
              </a:rPr>
              <a:t>fused[t] = sat(CAMS[t] + bias_before[t])</a:t>
            </a:r>
          </a:p>
        </p:txBody>
      </p:sp>
      <p:sp>
        <p:nvSpPr>
          <p:cNvPr id="11" name="">
            <a:extLst xmlns:a="http://schemas.openxmlformats.org/drawingml/2006/main">
              <a:ext uri="{FF2B5EF4-FFF2-40B4-BE49-F238E27FC236}">
                <a16:creationId xmlns:a16="http://schemas.microsoft.com/office/drawing/2014/main" id="{C10F7786-06BB-46CA-894D-4190E15419F4}"/>
              </a:ext>
            </a:extLst>
          </p:cNvPr>
          <p:cNvSpPr>
            <a:spLocks xmlns:a="http://schemas.openxmlformats.org/drawingml/2006/main" noGrp="1"/>
          </p:cNvSpPr>
          <p:nvPr/>
        </p:nvSpPr>
        <p:spPr>
          <a:xfrm xmlns:a="http://schemas.openxmlformats.org/drawingml/2006/main">
            <a:off x="8763000" y="1714500"/>
            <a:ext cx="228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000"/>
          </a:bodyPr>
          <a:lstStyle xmlns:a="http://schemas.openxmlformats.org/drawingml/2006/main"/>
          <a:p xmlns:a="http://schemas.openxmlformats.org/drawingml/2006/main">
            <a:pPr algn="ctr">
              <a:defRPr sz="3750" b="1">
                <a:solidFill>
                  <a:srgbClr val="0F6E41"/>
                </a:solidFill>
                <a:latin typeface="Noto Sans"/>
                <a:ea typeface="Noto Sans"/>
                <a:cs typeface="Noto Sans"/>
              </a:defRPr>
            </a:pPr>
            <a:r>
              <a:rPr sz="3750" b="1">
                <a:solidFill>
                  <a:srgbClr val="0F6E41"/>
                </a:solidFill>
                <a:latin typeface="Noto Sans"/>
                <a:ea typeface="Noto Sans"/>
                <a:cs typeface="Noto Sans"/>
              </a:rPr>
              <a:t>x16</a:t>
            </a:r>
          </a:p>
        </p:txBody>
      </p:sp>
      <p:sp>
        <p:nvSpPr>
          <p:cNvPr id="12" name="">
            <a:extLst xmlns:a="http://schemas.openxmlformats.org/drawingml/2006/main">
              <a:ext uri="{FF2B5EF4-FFF2-40B4-BE49-F238E27FC236}">
                <a16:creationId xmlns:a16="http://schemas.microsoft.com/office/drawing/2014/main" id="{6C0FA9C4-B4DF-446E-B10B-7168C02F7862}"/>
              </a:ext>
            </a:extLst>
          </p:cNvPr>
          <p:cNvSpPr>
            <a:spLocks xmlns:a="http://schemas.openxmlformats.org/drawingml/2006/main" noGrp="1"/>
          </p:cNvSpPr>
          <p:nvPr/>
        </p:nvSpPr>
        <p:spPr>
          <a:xfrm xmlns:a="http://schemas.openxmlformats.org/drawingml/2006/main">
            <a:off x="8572500" y="23431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Số nguyên có dấu</a:t>
            </a:r>
          </a:p>
        </p:txBody>
      </p:sp>
      <p:sp>
        <p:nvSpPr>
          <p:cNvPr id="13" name="">
            <a:extLst xmlns:a="http://schemas.openxmlformats.org/drawingml/2006/main">
              <a:ext uri="{FF2B5EF4-FFF2-40B4-BE49-F238E27FC236}">
                <a16:creationId xmlns:a16="http://schemas.microsoft.com/office/drawing/2014/main" id="{C3D72F92-F48E-4B5B-B8B6-267A42C03343}"/>
              </a:ext>
            </a:extLst>
          </p:cNvPr>
          <p:cNvSpPr>
            <a:spLocks xmlns:a="http://schemas.openxmlformats.org/drawingml/2006/main" noGrp="1"/>
          </p:cNvSpPr>
          <p:nvPr/>
        </p:nvSpPr>
        <p:spPr>
          <a:xfrm xmlns:a="http://schemas.openxmlformats.org/drawingml/2006/main">
            <a:off x="8572500" y="27241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ctr">
              <a:defRPr sz="1650" b="1">
                <a:solidFill>
                  <a:srgbClr val="056839"/>
                </a:solidFill>
                <a:latin typeface="Noto Sans"/>
                <a:ea typeface="Noto Sans"/>
                <a:cs typeface="Noto Sans"/>
              </a:defRPr>
            </a:pPr>
            <a:r>
              <a:rPr sz="1650" b="1">
                <a:solidFill>
                  <a:srgbClr val="056839"/>
                </a:solidFill>
                <a:latin typeface="Noto Sans"/>
                <a:ea typeface="Noto Sans"/>
                <a:cs typeface="Noto Sans"/>
              </a:rPr>
              <a:t>S = 3, α = 1/8</a:t>
            </a:r>
          </a:p>
        </p:txBody>
      </p:sp>
      <p:sp>
        <p:nvSpPr>
          <p:cNvPr id="14" name="">
            <a:extLst xmlns:a="http://schemas.openxmlformats.org/drawingml/2006/main">
              <a:ext uri="{FF2B5EF4-FFF2-40B4-BE49-F238E27FC236}">
                <a16:creationId xmlns:a16="http://schemas.microsoft.com/office/drawing/2014/main" id="{F4CF8376-94D4-45A0-A4AA-705F1C9B58DB}"/>
              </a:ext>
            </a:extLst>
          </p:cNvPr>
          <p:cNvSpPr>
            <a:spLocks xmlns:a="http://schemas.openxmlformats.org/drawingml/2006/main" noGrp="1"/>
          </p:cNvSpPr>
          <p:nvPr/>
        </p:nvSpPr>
        <p:spPr>
          <a:xfrm xmlns:a="http://schemas.openxmlformats.org/drawingml/2006/main">
            <a:off x="8572500" y="3105150"/>
            <a:ext cx="2667000" cy="0"/>
          </a:xfrm>
          <a:prstGeom xmlns:a="http://schemas.openxmlformats.org/drawingml/2006/main" prst="line">
            <a:avLst/>
          </a:prstGeom>
          <a:noFill xmlns:a="http://schemas.openxmlformats.org/drawingml/2006/main"/>
          <a:ln xmlns:a="http://schemas.openxmlformats.org/drawingml/2006/main" w="38100">
            <a:solidFill>
              <a:srgbClr val="0F6E41"/>
            </a:solidFill>
          </a:ln>
        </p:spPr>
      </p:sp>
      <p:sp>
        <p:nvSpPr>
          <p:cNvPr id="15" name="">
            <a:extLst xmlns:a="http://schemas.openxmlformats.org/drawingml/2006/main">
              <a:ext uri="{FF2B5EF4-FFF2-40B4-BE49-F238E27FC236}">
                <a16:creationId xmlns:a16="http://schemas.microsoft.com/office/drawing/2014/main" id="{53A2977B-8214-4A66-A5C2-0D785733E440}"/>
              </a:ext>
            </a:extLst>
          </p:cNvPr>
          <p:cNvSpPr>
            <a:spLocks xmlns:a="http://schemas.openxmlformats.org/drawingml/2006/main" noGrp="1"/>
          </p:cNvSpPr>
          <p:nvPr/>
        </p:nvSpPr>
        <p:spPr>
          <a:xfrm xmlns:a="http://schemas.openxmlformats.org/drawingml/2006/main">
            <a:off x="8629650" y="3429000"/>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0F6E41"/>
                </a:solidFill>
                <a:latin typeface="Noto Sans"/>
                <a:ea typeface="Noto Sans"/>
                <a:cs typeface="Noto Sans"/>
              </a:defRPr>
            </a:pPr>
            <a:r>
              <a:rPr sz="1500" b="1">
                <a:solidFill>
                  <a:srgbClr val="0F6E41"/>
                </a:solidFill>
                <a:latin typeface="Noto Sans"/>
                <a:ea typeface="Noto Sans"/>
                <a:cs typeface="Noto Sans"/>
              </a:rPr>
              <a:t>qc_ok = 1: cập nhật bias</a:t>
            </a:r>
          </a:p>
        </p:txBody>
      </p:sp>
      <p:sp>
        <p:nvSpPr>
          <p:cNvPr id="16" name="">
            <a:extLst xmlns:a="http://schemas.openxmlformats.org/drawingml/2006/main">
              <a:ext uri="{FF2B5EF4-FFF2-40B4-BE49-F238E27FC236}">
                <a16:creationId xmlns:a16="http://schemas.microsoft.com/office/drawing/2014/main" id="{CB2913BD-3D16-4DB3-917C-21036C430E54}"/>
              </a:ext>
            </a:extLst>
          </p:cNvPr>
          <p:cNvSpPr>
            <a:spLocks xmlns:a="http://schemas.openxmlformats.org/drawingml/2006/main" noGrp="1"/>
          </p:cNvSpPr>
          <p:nvPr/>
        </p:nvSpPr>
        <p:spPr>
          <a:xfrm xmlns:a="http://schemas.openxmlformats.org/drawingml/2006/main">
            <a:off x="8629650" y="3962400"/>
            <a:ext cx="276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17352B"/>
                </a:solidFill>
                <a:latin typeface="Noto Sans"/>
                <a:ea typeface="Noto Sans"/>
                <a:cs typeface="Noto Sans"/>
              </a:defRPr>
            </a:pPr>
            <a:r>
              <a:rPr sz="1500" b="1">
                <a:solidFill>
                  <a:srgbClr val="17352B"/>
                </a:solidFill>
                <a:latin typeface="Noto Sans"/>
                <a:ea typeface="Noto Sans"/>
                <a:cs typeface="Noto Sans"/>
              </a:rPr>
              <a:t>qc_ok = 0: giữ bias</a:t>
            </a:r>
          </a:p>
        </p:txBody>
      </p:sp>
      <p:sp>
        <p:nvSpPr>
          <p:cNvPr id="17" name="">
            <a:extLst xmlns:a="http://schemas.openxmlformats.org/drawingml/2006/main">
              <a:ext uri="{FF2B5EF4-FFF2-40B4-BE49-F238E27FC236}">
                <a16:creationId xmlns:a16="http://schemas.microsoft.com/office/drawing/2014/main" id="{9AD54734-6116-4E07-BDA1-9B41D2D79AD1}"/>
              </a:ext>
            </a:extLst>
          </p:cNvPr>
          <p:cNvSpPr>
            <a:spLocks xmlns:a="http://schemas.openxmlformats.org/drawingml/2006/main" noGrp="1"/>
          </p:cNvSpPr>
          <p:nvPr/>
        </p:nvSpPr>
        <p:spPr>
          <a:xfrm xmlns:a="http://schemas.openxmlformats.org/drawingml/2006/main">
            <a:off x="1562100" y="5314950"/>
            <a:ext cx="9067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025" b="1">
                <a:solidFill>
                  <a:srgbClr val="056839"/>
                </a:solidFill>
                <a:latin typeface="Noto Sans"/>
                <a:ea typeface="Noto Sans"/>
                <a:cs typeface="Noto Sans"/>
              </a:defRPr>
            </a:pPr>
            <a:r>
              <a:rPr sz="2025" b="1">
                <a:solidFill>
                  <a:srgbClr val="056839"/>
                </a:solidFill>
                <a:latin typeface="Noto Sans"/>
                <a:ea typeface="Noto Sans"/>
                <a:cs typeface="Noto Sans"/>
              </a:rPr>
              <a:t>Đầu ra của mẫu hiện tại dùng độ lệch trước cập nhật</a:t>
            </a:r>
          </a:p>
        </p:txBody>
      </p:sp>
      <p:sp>
        <p:nvSpPr>
          <p:cNvPr id="18" name="">
            <a:extLst xmlns:a="http://schemas.openxmlformats.org/drawingml/2006/main">
              <a:ext uri="{FF2B5EF4-FFF2-40B4-BE49-F238E27FC236}">
                <a16:creationId xmlns:a16="http://schemas.microsoft.com/office/drawing/2014/main" id="{802407CB-643F-48FF-AE11-660E025F887B}"/>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4</a:t>
            </a:r>
          </a:p>
        </p:txBody>
      </p:sp>
    </p:spTree>
    <p:extLst>
      <p:ext uri="{BB962C8B-B14F-4D97-AF65-F5344CB8AC3E}">
        <p14:creationId xmlns:p14="http://schemas.microsoft.com/office/powerpoint/2010/main" val="2078212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3EF089E-DC9E-484D-821E-AA836FBB3D8F}"/>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Dữ liệu và kiểm soát chất lượng</a:t>
            </a:r>
          </a:p>
        </p:txBody>
      </p:sp>
      <p:sp>
        <p:nvSpPr>
          <p:cNvPr id="2" name="">
            <a:extLst xmlns:a="http://schemas.openxmlformats.org/drawingml/2006/main">
              <a:ext uri="{FF2B5EF4-FFF2-40B4-BE49-F238E27FC236}">
                <a16:creationId xmlns:a16="http://schemas.microsoft.com/office/drawing/2014/main" id="{99A95697-8672-496D-B2AF-29789588D1AB}"/>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f47ebcf484e44b2"/>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EAC305-2BE5-4BF1-A405-90F8A3521F9F}"/>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a5a5e692f404dfb"/>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C5B3EE-2620-4E84-BE7D-78C1884625A0}"/>
              </a:ext>
            </a:extLst>
          </p:cNvPr>
          <p:cNvSpPr>
            <a:spLocks xmlns:a="http://schemas.openxmlformats.org/drawingml/2006/main" noGrp="1"/>
          </p:cNvSpPr>
          <p:nvPr/>
        </p:nvSpPr>
        <p:spPr>
          <a:xfrm xmlns:a="http://schemas.openxmlformats.org/drawingml/2006/main">
            <a:off x="781050" y="1581150"/>
            <a:ext cx="167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F6E41"/>
                </a:solidFill>
                <a:latin typeface="Noto Sans"/>
                <a:ea typeface="Noto Sans"/>
                <a:cs typeface="Noto Sans"/>
              </a:defRPr>
            </a:pPr>
            <a:r>
              <a:rPr sz="3000" b="1">
                <a:solidFill>
                  <a:srgbClr val="0F6E41"/>
                </a:solidFill>
                <a:latin typeface="Noto Sans"/>
                <a:ea typeface="Noto Sans"/>
                <a:cs typeface="Noto Sans"/>
              </a:rPr>
              <a:t>4.137</a:t>
            </a:r>
          </a:p>
        </p:txBody>
      </p:sp>
      <p:sp>
        <p:nvSpPr>
          <p:cNvPr id="7" name="">
            <a:extLst xmlns:a="http://schemas.openxmlformats.org/drawingml/2006/main">
              <a:ext uri="{FF2B5EF4-FFF2-40B4-BE49-F238E27FC236}">
                <a16:creationId xmlns:a16="http://schemas.microsoft.com/office/drawing/2014/main" id="{AED38D99-6226-4AF8-A0AC-1193F6A7B56D}"/>
              </a:ext>
            </a:extLst>
          </p:cNvPr>
          <p:cNvSpPr>
            <a:spLocks xmlns:a="http://schemas.openxmlformats.org/drawingml/2006/main" noGrp="1"/>
          </p:cNvSpPr>
          <p:nvPr/>
        </p:nvSpPr>
        <p:spPr>
          <a:xfrm xmlns:a="http://schemas.openxmlformats.org/drawingml/2006/main">
            <a:off x="2400300" y="16764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52"/>
          </a:bodyPr>
          <a:lstStyle xmlns:a="http://schemas.openxmlformats.org/drawingml/2006/main"/>
          <a:p xmlns:a="http://schemas.openxmlformats.org/drawingml/2006/main">
            <a:pPr>
              <a:defRPr sz="1725" b="0">
                <a:solidFill>
                  <a:srgbClr val="17352B"/>
                </a:solidFill>
                <a:latin typeface="Noto Sans"/>
                <a:ea typeface="Noto Sans"/>
                <a:cs typeface="Noto Sans"/>
              </a:defRPr>
            </a:pPr>
            <a:r>
              <a:rPr sz="1725" b="0">
                <a:solidFill>
                  <a:srgbClr val="17352B"/>
                </a:solidFill>
                <a:latin typeface="Noto Sans"/>
                <a:ea typeface="Noto Sans"/>
                <a:cs typeface="Noto Sans"/>
              </a:rPr>
              <a:t>mẫu PurpleAir, độ phân giải 10 phút</a:t>
            </a:r>
          </a:p>
        </p:txBody>
      </p:sp>
      <p:sp>
        <p:nvSpPr>
          <p:cNvPr id="8" name="">
            <a:extLst xmlns:a="http://schemas.openxmlformats.org/drawingml/2006/main">
              <a:ext uri="{FF2B5EF4-FFF2-40B4-BE49-F238E27FC236}">
                <a16:creationId xmlns:a16="http://schemas.microsoft.com/office/drawing/2014/main" id="{1F1F2136-6A1B-4ACD-B276-A7CC0A87DF27}"/>
              </a:ext>
            </a:extLst>
          </p:cNvPr>
          <p:cNvSpPr>
            <a:spLocks xmlns:a="http://schemas.openxmlformats.org/drawingml/2006/main" noGrp="1"/>
          </p:cNvSpPr>
          <p:nvPr/>
        </p:nvSpPr>
        <p:spPr>
          <a:xfrm xmlns:a="http://schemas.openxmlformats.org/drawingml/2006/main">
            <a:off x="781050" y="2343150"/>
            <a:ext cx="1038225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9" name="">
            <a:extLst xmlns:a="http://schemas.openxmlformats.org/drawingml/2006/main">
              <a:ext uri="{FF2B5EF4-FFF2-40B4-BE49-F238E27FC236}">
                <a16:creationId xmlns:a16="http://schemas.microsoft.com/office/drawing/2014/main" id="{6C524817-E83E-41D0-B225-71BD8B77976F}"/>
              </a:ext>
            </a:extLst>
          </p:cNvPr>
          <p:cNvSpPr>
            <a:spLocks xmlns:a="http://schemas.openxmlformats.org/drawingml/2006/main" noGrp="1"/>
          </p:cNvSpPr>
          <p:nvPr/>
        </p:nvSpPr>
        <p:spPr>
          <a:xfrm xmlns:a="http://schemas.openxmlformats.org/drawingml/2006/main">
            <a:off x="876300" y="27241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925" b="1">
                <a:solidFill>
                  <a:srgbClr val="056839"/>
                </a:solidFill>
                <a:latin typeface="Noto Sans"/>
                <a:ea typeface="Noto Sans"/>
                <a:cs typeface="Noto Sans"/>
              </a:defRPr>
            </a:pPr>
            <a:r>
              <a:rPr sz="2925" b="1">
                <a:solidFill>
                  <a:srgbClr val="056839"/>
                </a:solidFill>
                <a:latin typeface="Noto Sans"/>
                <a:ea typeface="Noto Sans"/>
                <a:cs typeface="Noto Sans"/>
              </a:rPr>
              <a:t>1.309</a:t>
            </a:r>
          </a:p>
        </p:txBody>
      </p:sp>
      <p:sp>
        <p:nvSpPr>
          <p:cNvPr id="10" name="">
            <a:extLst xmlns:a="http://schemas.openxmlformats.org/drawingml/2006/main">
              <a:ext uri="{FF2B5EF4-FFF2-40B4-BE49-F238E27FC236}">
                <a16:creationId xmlns:a16="http://schemas.microsoft.com/office/drawing/2014/main" id="{3EEACE88-D55F-4FC9-8153-7558F14DBDF8}"/>
              </a:ext>
            </a:extLst>
          </p:cNvPr>
          <p:cNvSpPr>
            <a:spLocks xmlns:a="http://schemas.openxmlformats.org/drawingml/2006/main" noGrp="1"/>
          </p:cNvSpPr>
          <p:nvPr/>
        </p:nvSpPr>
        <p:spPr>
          <a:xfrm xmlns:a="http://schemas.openxmlformats.org/drawingml/2006/main">
            <a:off x="876300" y="3333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giờ có bản ghi nguồn</a:t>
            </a:r>
          </a:p>
        </p:txBody>
      </p:sp>
      <p:sp>
        <p:nvSpPr>
          <p:cNvPr id="11" name="">
            <a:extLst xmlns:a="http://schemas.openxmlformats.org/drawingml/2006/main">
              <a:ext uri="{FF2B5EF4-FFF2-40B4-BE49-F238E27FC236}">
                <a16:creationId xmlns:a16="http://schemas.microsoft.com/office/drawing/2014/main" id="{6875943D-C7A5-490F-87E1-AD0E50A1657A}"/>
              </a:ext>
            </a:extLst>
          </p:cNvPr>
          <p:cNvSpPr>
            <a:spLocks xmlns:a="http://schemas.openxmlformats.org/drawingml/2006/main" noGrp="1"/>
          </p:cNvSpPr>
          <p:nvPr/>
        </p:nvSpPr>
        <p:spPr>
          <a:xfrm xmlns:a="http://schemas.openxmlformats.org/drawingml/2006/main">
            <a:off x="4171950" y="27241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925" b="1">
                <a:solidFill>
                  <a:srgbClr val="056839"/>
                </a:solidFill>
                <a:latin typeface="Noto Sans"/>
                <a:ea typeface="Noto Sans"/>
                <a:cs typeface="Noto Sans"/>
              </a:defRPr>
            </a:pPr>
            <a:r>
              <a:rPr sz="2925" b="1">
                <a:solidFill>
                  <a:srgbClr val="056839"/>
                </a:solidFill>
                <a:latin typeface="Noto Sans"/>
                <a:ea typeface="Noto Sans"/>
                <a:cs typeface="Noto Sans"/>
              </a:rPr>
              <a:t>1.226</a:t>
            </a:r>
          </a:p>
        </p:txBody>
      </p:sp>
      <p:sp>
        <p:nvSpPr>
          <p:cNvPr id="12" name="">
            <a:extLst xmlns:a="http://schemas.openxmlformats.org/drawingml/2006/main">
              <a:ext uri="{FF2B5EF4-FFF2-40B4-BE49-F238E27FC236}">
                <a16:creationId xmlns:a16="http://schemas.microsoft.com/office/drawing/2014/main" id="{DFEF1E5D-545D-485A-ACEC-E7D1EBA886DA}"/>
              </a:ext>
            </a:extLst>
          </p:cNvPr>
          <p:cNvSpPr>
            <a:spLocks xmlns:a="http://schemas.openxmlformats.org/drawingml/2006/main" noGrp="1"/>
          </p:cNvSpPr>
          <p:nvPr/>
        </p:nvSpPr>
        <p:spPr>
          <a:xfrm xmlns:a="http://schemas.openxmlformats.org/drawingml/2006/main">
            <a:off x="4171950" y="3333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giờ có giá trị đại diện</a:t>
            </a:r>
          </a:p>
        </p:txBody>
      </p:sp>
      <p:sp>
        <p:nvSpPr>
          <p:cNvPr id="13" name="">
            <a:extLst xmlns:a="http://schemas.openxmlformats.org/drawingml/2006/main">
              <a:ext uri="{FF2B5EF4-FFF2-40B4-BE49-F238E27FC236}">
                <a16:creationId xmlns:a16="http://schemas.microsoft.com/office/drawing/2014/main" id="{BB63D825-4D02-4F21-B0F9-D08427F35F4B}"/>
              </a:ext>
            </a:extLst>
          </p:cNvPr>
          <p:cNvSpPr>
            <a:spLocks xmlns:a="http://schemas.openxmlformats.org/drawingml/2006/main" noGrp="1"/>
          </p:cNvSpPr>
          <p:nvPr/>
        </p:nvSpPr>
        <p:spPr>
          <a:xfrm xmlns:a="http://schemas.openxmlformats.org/drawingml/2006/main">
            <a:off x="7467600" y="27241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2925" b="1">
                <a:solidFill>
                  <a:srgbClr val="056839"/>
                </a:solidFill>
                <a:latin typeface="Noto Sans"/>
                <a:ea typeface="Noto Sans"/>
                <a:cs typeface="Noto Sans"/>
              </a:defRPr>
            </a:pPr>
            <a:r>
              <a:rPr sz="2925" b="1">
                <a:solidFill>
                  <a:srgbClr val="056839"/>
                </a:solidFill>
                <a:latin typeface="Noto Sans"/>
                <a:ea typeface="Noto Sans"/>
                <a:cs typeface="Noto Sans"/>
              </a:rPr>
              <a:t>553</a:t>
            </a:r>
          </a:p>
        </p:txBody>
      </p:sp>
      <p:sp>
        <p:nvSpPr>
          <p:cNvPr id="14" name="">
            <a:extLst xmlns:a="http://schemas.openxmlformats.org/drawingml/2006/main">
              <a:ext uri="{FF2B5EF4-FFF2-40B4-BE49-F238E27FC236}">
                <a16:creationId xmlns:a16="http://schemas.microsoft.com/office/drawing/2014/main" id="{5468C15B-6F24-4BBF-8F7C-3396B79169E9}"/>
              </a:ext>
            </a:extLst>
          </p:cNvPr>
          <p:cNvSpPr>
            <a:spLocks xmlns:a="http://schemas.openxmlformats.org/drawingml/2006/main" noGrp="1"/>
          </p:cNvSpPr>
          <p:nvPr/>
        </p:nvSpPr>
        <p:spPr>
          <a:xfrm xmlns:a="http://schemas.openxmlformats.org/drawingml/2006/main">
            <a:off x="7467600" y="333375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425" b="0">
                <a:solidFill>
                  <a:srgbClr val="5D6B66"/>
                </a:solidFill>
                <a:latin typeface="Noto Sans"/>
                <a:ea typeface="Noto Sans"/>
                <a:cs typeface="Noto Sans"/>
              </a:defRPr>
            </a:pPr>
            <a:r>
              <a:rPr sz="1425" b="0">
                <a:solidFill>
                  <a:srgbClr val="5D6B66"/>
                </a:solidFill>
                <a:latin typeface="Noto Sans"/>
                <a:ea typeface="Noto Sans"/>
                <a:cs typeface="Noto Sans"/>
              </a:rPr>
              <a:t>giờ đạt QC nghiêm ngặt</a:t>
            </a:r>
          </a:p>
        </p:txBody>
      </p:sp>
      <p:sp>
        <p:nvSpPr>
          <p:cNvPr id="15" name="">
            <a:extLst xmlns:a="http://schemas.openxmlformats.org/drawingml/2006/main">
              <a:ext uri="{FF2B5EF4-FFF2-40B4-BE49-F238E27FC236}">
                <a16:creationId xmlns:a16="http://schemas.microsoft.com/office/drawing/2014/main" id="{9CFBE6C3-5178-4B9A-8EDC-B218D901BDC4}"/>
              </a:ext>
            </a:extLst>
          </p:cNvPr>
          <p:cNvSpPr>
            <a:spLocks xmlns:a="http://schemas.openxmlformats.org/drawingml/2006/main" noGrp="1"/>
          </p:cNvSpPr>
          <p:nvPr/>
        </p:nvSpPr>
        <p:spPr>
          <a:xfrm xmlns:a="http://schemas.openxmlformats.org/drawingml/2006/main">
            <a:off x="3781425" y="2800350"/>
            <a:ext cx="0" cy="89535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6" name="">
            <a:extLst xmlns:a="http://schemas.openxmlformats.org/drawingml/2006/main">
              <a:ext uri="{FF2B5EF4-FFF2-40B4-BE49-F238E27FC236}">
                <a16:creationId xmlns:a16="http://schemas.microsoft.com/office/drawing/2014/main" id="{09F2E4A7-ECD4-4F41-94E5-976C2004D70C}"/>
              </a:ext>
            </a:extLst>
          </p:cNvPr>
          <p:cNvSpPr>
            <a:spLocks xmlns:a="http://schemas.openxmlformats.org/drawingml/2006/main" noGrp="1"/>
          </p:cNvSpPr>
          <p:nvPr/>
        </p:nvSpPr>
        <p:spPr>
          <a:xfrm xmlns:a="http://schemas.openxmlformats.org/drawingml/2006/main">
            <a:off x="7077075" y="2800350"/>
            <a:ext cx="0" cy="89535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17" name="">
            <a:extLst xmlns:a="http://schemas.openxmlformats.org/drawingml/2006/main">
              <a:ext uri="{FF2B5EF4-FFF2-40B4-BE49-F238E27FC236}">
                <a16:creationId xmlns:a16="http://schemas.microsoft.com/office/drawing/2014/main" id="{85F8500F-E645-43FC-AECD-E65E2CA19EE5}"/>
              </a:ext>
            </a:extLst>
          </p:cNvPr>
          <p:cNvSpPr>
            <a:spLocks xmlns:a="http://schemas.openxmlformats.org/drawingml/2006/main" noGrp="1"/>
          </p:cNvSpPr>
          <p:nvPr/>
        </p:nvSpPr>
        <p:spPr>
          <a:xfrm xmlns:a="http://schemas.openxmlformats.org/drawingml/2006/main">
            <a:off x="7334250" y="3733800"/>
            <a:ext cx="293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84"/>
          </a:bodyPr>
          <a:lstStyle xmlns:a="http://schemas.openxmlformats.org/drawingml/2006/main"/>
          <a:p xmlns:a="http://schemas.openxmlformats.org/drawingml/2006/main">
            <a:pPr algn="ctr">
              <a:defRPr sz="1200" b="1">
                <a:solidFill>
                  <a:srgbClr val="0F6E41"/>
                </a:solidFill>
                <a:latin typeface="Noto Sans"/>
                <a:ea typeface="Noto Sans"/>
                <a:cs typeface="Noto Sans"/>
              </a:defRPr>
            </a:pPr>
            <a:r>
              <a:rPr sz="1200" b="1">
                <a:solidFill>
                  <a:srgbClr val="0F6E41"/>
                </a:solidFill>
                <a:latin typeface="Noto Sans"/>
                <a:ea typeface="Noto Sans"/>
                <a:cs typeface="Noto Sans"/>
              </a:rPr>
              <a:t>Ít nhất 4 mẫu tốt, phủ tối thiểu 30 phút</a:t>
            </a:r>
          </a:p>
        </p:txBody>
      </p:sp>
      <p:sp>
        <p:nvSpPr>
          <p:cNvPr id="18" name="">
            <a:extLst xmlns:a="http://schemas.openxmlformats.org/drawingml/2006/main">
              <a:ext uri="{FF2B5EF4-FFF2-40B4-BE49-F238E27FC236}">
                <a16:creationId xmlns:a16="http://schemas.microsoft.com/office/drawing/2014/main" id="{ABFA3ABB-1AB7-4586-83CC-C9FB785CD846}"/>
              </a:ext>
            </a:extLst>
          </p:cNvPr>
          <p:cNvSpPr>
            <a:spLocks xmlns:a="http://schemas.openxmlformats.org/drawingml/2006/main" noGrp="1"/>
          </p:cNvSpPr>
          <p:nvPr/>
        </p:nvSpPr>
        <p:spPr>
          <a:xfrm xmlns:a="http://schemas.openxmlformats.org/drawingml/2006/main">
            <a:off x="781050" y="4419600"/>
            <a:ext cx="1038225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9" name="">
            <a:extLst xmlns:a="http://schemas.openxmlformats.org/drawingml/2006/main">
              <a:ext uri="{FF2B5EF4-FFF2-40B4-BE49-F238E27FC236}">
                <a16:creationId xmlns:a16="http://schemas.microsoft.com/office/drawing/2014/main" id="{9A2403C6-9935-40FA-AB59-959AFEDA3B46}"/>
              </a:ext>
            </a:extLst>
          </p:cNvPr>
          <p:cNvSpPr>
            <a:spLocks xmlns:a="http://schemas.openxmlformats.org/drawingml/2006/main" noGrp="1"/>
          </p:cNvSpPr>
          <p:nvPr/>
        </p:nvSpPr>
        <p:spPr>
          <a:xfrm xmlns:a="http://schemas.openxmlformats.org/drawingml/2006/main">
            <a:off x="1047750" y="47625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45"/>
          </a:bodyPr>
          <a:lstStyle xmlns:a="http://schemas.openxmlformats.org/drawingml/2006/main"/>
          <a:p xmlns:a="http://schemas.openxmlformats.org/drawingml/2006/main">
            <a:pPr>
              <a:defRPr sz="2925" b="1">
                <a:solidFill>
                  <a:srgbClr val="056839"/>
                </a:solidFill>
                <a:latin typeface="Noto Sans"/>
                <a:ea typeface="Noto Sans"/>
                <a:cs typeface="Noto Sans"/>
              </a:defRPr>
            </a:pPr>
            <a:r>
              <a:rPr sz="2925" b="1">
                <a:solidFill>
                  <a:srgbClr val="056839"/>
                </a:solidFill>
                <a:latin typeface="Noto Sans"/>
                <a:ea typeface="Noto Sans"/>
                <a:cs typeface="Noto Sans"/>
              </a:rPr>
              <a:t>13.704</a:t>
            </a:r>
          </a:p>
        </p:txBody>
      </p:sp>
      <p:sp>
        <p:nvSpPr>
          <p:cNvPr id="20" name="">
            <a:extLst xmlns:a="http://schemas.openxmlformats.org/drawingml/2006/main">
              <a:ext uri="{FF2B5EF4-FFF2-40B4-BE49-F238E27FC236}">
                <a16:creationId xmlns:a16="http://schemas.microsoft.com/office/drawing/2014/main" id="{38B264DD-97C2-49CC-B8AC-6D5CB1FB1D67}"/>
              </a:ext>
            </a:extLst>
          </p:cNvPr>
          <p:cNvSpPr>
            <a:spLocks xmlns:a="http://schemas.openxmlformats.org/drawingml/2006/main" noGrp="1"/>
          </p:cNvSpPr>
          <p:nvPr/>
        </p:nvSpPr>
        <p:spPr>
          <a:xfrm xmlns:a="http://schemas.openxmlformats.org/drawingml/2006/main">
            <a:off x="1047750" y="53149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5D6B66"/>
                </a:solidFill>
                <a:latin typeface="Noto Sans"/>
                <a:ea typeface="Noto Sans"/>
                <a:cs typeface="Noto Sans"/>
              </a:defRPr>
            </a:pPr>
            <a:r>
              <a:rPr sz="1425" b="0">
                <a:solidFill>
                  <a:srgbClr val="5D6B66"/>
                </a:solidFill>
                <a:latin typeface="Noto Sans"/>
                <a:ea typeface="Noto Sans"/>
                <a:cs typeface="Noto Sans"/>
              </a:rPr>
              <a:t>giờ CAMS trên trục thời gian</a:t>
            </a:r>
          </a:p>
        </p:txBody>
      </p:sp>
      <p:sp>
        <p:nvSpPr>
          <p:cNvPr id="21" name="">
            <a:extLst xmlns:a="http://schemas.openxmlformats.org/drawingml/2006/main">
              <a:ext uri="{FF2B5EF4-FFF2-40B4-BE49-F238E27FC236}">
                <a16:creationId xmlns:a16="http://schemas.microsoft.com/office/drawing/2014/main" id="{E55169C8-4096-4E25-9B12-72240E893B4E}"/>
              </a:ext>
            </a:extLst>
          </p:cNvPr>
          <p:cNvSpPr>
            <a:spLocks xmlns:a="http://schemas.openxmlformats.org/drawingml/2006/main" noGrp="1"/>
          </p:cNvSpPr>
          <p:nvPr/>
        </p:nvSpPr>
        <p:spPr>
          <a:xfrm xmlns:a="http://schemas.openxmlformats.org/drawingml/2006/main">
            <a:off x="5905500" y="4667250"/>
            <a:ext cx="0" cy="1066800"/>
          </a:xfrm>
          <a:prstGeom xmlns:a="http://schemas.openxmlformats.org/drawingml/2006/main" prst="line">
            <a:avLst/>
          </a:prstGeom>
          <a:noFill xmlns:a="http://schemas.openxmlformats.org/drawingml/2006/main"/>
          <a:ln xmlns:a="http://schemas.openxmlformats.org/drawingml/2006/main" w="9525">
            <a:solidFill>
              <a:srgbClr val="C8D8CF"/>
            </a:solidFill>
          </a:ln>
        </p:spPr>
      </p:sp>
      <p:sp>
        <p:nvSpPr>
          <p:cNvPr id="22" name="">
            <a:extLst xmlns:a="http://schemas.openxmlformats.org/drawingml/2006/main">
              <a:ext uri="{FF2B5EF4-FFF2-40B4-BE49-F238E27FC236}">
                <a16:creationId xmlns:a16="http://schemas.microsoft.com/office/drawing/2014/main" id="{3C719127-BCCB-4514-B888-443F211FAEA8}"/>
              </a:ext>
            </a:extLst>
          </p:cNvPr>
          <p:cNvSpPr>
            <a:spLocks xmlns:a="http://schemas.openxmlformats.org/drawingml/2006/main" noGrp="1"/>
          </p:cNvSpPr>
          <p:nvPr/>
        </p:nvSpPr>
        <p:spPr>
          <a:xfrm xmlns:a="http://schemas.openxmlformats.org/drawingml/2006/main">
            <a:off x="6667500" y="47625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145"/>
          </a:bodyPr>
          <a:lstStyle xmlns:a="http://schemas.openxmlformats.org/drawingml/2006/main"/>
          <a:p xmlns:a="http://schemas.openxmlformats.org/drawingml/2006/main">
            <a:pPr>
              <a:defRPr sz="2925" b="1">
                <a:solidFill>
                  <a:srgbClr val="0F6E41"/>
                </a:solidFill>
                <a:latin typeface="Noto Sans"/>
                <a:ea typeface="Noto Sans"/>
                <a:cs typeface="Noto Sans"/>
              </a:defRPr>
            </a:pPr>
            <a:r>
              <a:rPr sz="2925" b="1">
                <a:solidFill>
                  <a:srgbClr val="0F6E41"/>
                </a:solidFill>
                <a:latin typeface="Noto Sans"/>
                <a:ea typeface="Noto Sans"/>
                <a:cs typeface="Noto Sans"/>
              </a:rPr>
              <a:t>12.395</a:t>
            </a:r>
          </a:p>
        </p:txBody>
      </p:sp>
      <p:sp>
        <p:nvSpPr>
          <p:cNvPr id="23" name="">
            <a:extLst xmlns:a="http://schemas.openxmlformats.org/drawingml/2006/main">
              <a:ext uri="{FF2B5EF4-FFF2-40B4-BE49-F238E27FC236}">
                <a16:creationId xmlns:a16="http://schemas.microsoft.com/office/drawing/2014/main" id="{946228B2-BEC2-4D27-B0D8-417928BBA57F}"/>
              </a:ext>
            </a:extLst>
          </p:cNvPr>
          <p:cNvSpPr>
            <a:spLocks xmlns:a="http://schemas.openxmlformats.org/drawingml/2006/main" noGrp="1"/>
          </p:cNvSpPr>
          <p:nvPr/>
        </p:nvSpPr>
        <p:spPr>
          <a:xfrm xmlns:a="http://schemas.openxmlformats.org/drawingml/2006/main">
            <a:off x="6667500" y="5314950"/>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425" b="0">
                <a:solidFill>
                  <a:srgbClr val="5D6B66"/>
                </a:solidFill>
                <a:latin typeface="Noto Sans"/>
                <a:ea typeface="Noto Sans"/>
                <a:cs typeface="Noto Sans"/>
              </a:defRPr>
            </a:pPr>
            <a:r>
              <a:rPr sz="1425" b="0">
                <a:solidFill>
                  <a:srgbClr val="5D6B66"/>
                </a:solidFill>
                <a:latin typeface="Noto Sans"/>
                <a:ea typeface="Noto Sans"/>
                <a:cs typeface="Noto Sans"/>
              </a:rPr>
              <a:t>giờ thiếu bản ghi PurpleAir</a:t>
            </a:r>
          </a:p>
          <a:p xmlns:a="http://schemas.openxmlformats.org/drawingml/2006/main">
            <a:pPr>
              <a:defRPr sz="1425" b="0">
                <a:solidFill>
                  <a:srgbClr val="5D6B66"/>
                </a:solidFill>
                <a:latin typeface="Noto Sans"/>
                <a:ea typeface="Noto Sans"/>
                <a:cs typeface="Noto Sans"/>
              </a:defRPr>
            </a:pPr>
            <a:r>
              <a:rPr sz="1425" b="0">
                <a:solidFill>
                  <a:srgbClr val="5D6B66"/>
                </a:solidFill>
                <a:latin typeface="Noto Sans"/>
                <a:ea typeface="Noto Sans"/>
                <a:cs typeface="Noto Sans"/>
              </a:rPr>
              <a:t>vẫn tạo đầu ra từ trạng thái hiện tại</a:t>
            </a:r>
          </a:p>
        </p:txBody>
      </p:sp>
      <p:sp>
        <p:nvSpPr>
          <p:cNvPr id="24" name="">
            <a:extLst xmlns:a="http://schemas.openxmlformats.org/drawingml/2006/main">
              <a:ext uri="{FF2B5EF4-FFF2-40B4-BE49-F238E27FC236}">
                <a16:creationId xmlns:a16="http://schemas.microsoft.com/office/drawing/2014/main" id="{B7599DEE-004E-4787-8389-6DE8517D0F4A}"/>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5</a:t>
            </a:r>
          </a:p>
        </p:txBody>
      </p:sp>
    </p:spTree>
    <p:extLst>
      <p:ext uri="{BB962C8B-B14F-4D97-AF65-F5344CB8AC3E}">
        <p14:creationId xmlns:p14="http://schemas.microsoft.com/office/powerpoint/2010/main" val="9098110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2D88338-FDBB-4E3A-850D-EDA5E71244CB}"/>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Đánh giá hệ số thích nghi</a:t>
            </a:r>
          </a:p>
        </p:txBody>
      </p:sp>
      <p:sp>
        <p:nvSpPr>
          <p:cNvPr id="2" name="">
            <a:extLst xmlns:a="http://schemas.openxmlformats.org/drawingml/2006/main">
              <a:ext uri="{FF2B5EF4-FFF2-40B4-BE49-F238E27FC236}">
                <a16:creationId xmlns:a16="http://schemas.microsoft.com/office/drawing/2014/main" id="{F0C00D75-4817-4083-9ECB-608FB9A258D9}"/>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70ddaa47fea4f90"/>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47387D4-0920-4C39-AE62-2366A64A685F}"/>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1b2df6f8aa54de8"/>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90D2BA0-C2C7-4FD4-B6EB-256E5D8CE923}"/>
              </a:ext>
            </a:extLst>
          </p:cNvPr>
          <p:cNvSpPr>
            <a:spLocks xmlns:a="http://schemas.openxmlformats.org/drawingml/2006/main" noGrp="1"/>
          </p:cNvSpPr>
          <p:nvPr/>
        </p:nvSpPr>
        <p:spPr>
          <a:xfrm xmlns:a="http://schemas.openxmlformats.org/drawingml/2006/main">
            <a:off x="628650" y="1352550"/>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415 giờ kiểm định, 4 phần thời gian liên tiếp</a:t>
            </a:r>
          </a:p>
        </p:txBody>
      </p:sp>
      <p:graphicFrame>
        <p:nvGraphicFramePr>
          <p:cNvPr id="22" name="Chart"/>
          <p:cNvGraphicFramePr/>
          <p:nvPr/>
        </p:nvGraphicFramePr>
        <p:xfrm>
          <a:off xmlns:a="http://schemas.openxmlformats.org/drawingml/2006/main" x="609600" y="1752600"/>
          <a:ext xmlns:a="http://schemas.openxmlformats.org/drawingml/2006/main" cx="7239000" cy="3543300"/>
        </p:xfrm>
        <a:graphic xmlns:a="http://schemas.openxmlformats.org/drawingml/2006/main">
          <a:graphicData uri="http://schemas.openxmlformats.org/drawingml/2006/chart">
            <c:chart xmlns:r="http://schemas.openxmlformats.org/officeDocument/2006/relationships" xmlns:c="http://schemas.openxmlformats.org/drawingml/2006/chart" r:id="R4b9e1726678d4b92"/>
          </a:graphicData>
        </a:graphic>
      </p:graphicFrame>
      <p:sp>
        <p:nvSpPr>
          <p:cNvPr id="8" name="">
            <a:extLst xmlns:a="http://schemas.openxmlformats.org/drawingml/2006/main">
              <a:ext uri="{FF2B5EF4-FFF2-40B4-BE49-F238E27FC236}">
                <a16:creationId xmlns:a16="http://schemas.microsoft.com/office/drawing/2014/main" id="{239E8998-5FB0-4857-8FDD-A236A5685845}"/>
              </a:ext>
            </a:extLst>
          </p:cNvPr>
          <p:cNvSpPr>
            <a:spLocks xmlns:a="http://schemas.openxmlformats.org/drawingml/2006/main" noGrp="1"/>
          </p:cNvSpPr>
          <p:nvPr/>
        </p:nvSpPr>
        <p:spPr>
          <a:xfrm xmlns:a="http://schemas.openxmlformats.org/drawingml/2006/main">
            <a:off x="8324850" y="1809750"/>
            <a:ext cx="257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defRPr sz="2850" b="1">
                <a:solidFill>
                  <a:srgbClr val="056839"/>
                </a:solidFill>
                <a:latin typeface="Noto Sans"/>
                <a:ea typeface="Noto Sans"/>
                <a:cs typeface="Noto Sans"/>
              </a:defRPr>
            </a:pPr>
            <a:r>
              <a:rPr sz="2850" b="1">
                <a:solidFill>
                  <a:srgbClr val="056839"/>
                </a:solidFill>
                <a:latin typeface="Noto Sans"/>
                <a:ea typeface="Noto Sans"/>
                <a:cs typeface="Noto Sans"/>
              </a:rPr>
              <a:t>S = 3</a:t>
            </a:r>
          </a:p>
        </p:txBody>
      </p:sp>
      <p:sp>
        <p:nvSpPr>
          <p:cNvPr id="9" name="">
            <a:extLst xmlns:a="http://schemas.openxmlformats.org/drawingml/2006/main">
              <a:ext uri="{FF2B5EF4-FFF2-40B4-BE49-F238E27FC236}">
                <a16:creationId xmlns:a16="http://schemas.microsoft.com/office/drawing/2014/main" id="{791B9B8F-C890-4911-904D-E798ED3551E9}"/>
              </a:ext>
            </a:extLst>
          </p:cNvPr>
          <p:cNvSpPr>
            <a:spLocks xmlns:a="http://schemas.openxmlformats.org/drawingml/2006/main" noGrp="1"/>
          </p:cNvSpPr>
          <p:nvPr/>
        </p:nvSpPr>
        <p:spPr>
          <a:xfrm xmlns:a="http://schemas.openxmlformats.org/drawingml/2006/main">
            <a:off x="8324850" y="23431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17352B"/>
                </a:solidFill>
                <a:latin typeface="Noto Sans"/>
                <a:ea typeface="Noto Sans"/>
                <a:cs typeface="Noto Sans"/>
              </a:defRPr>
            </a:pPr>
            <a:r>
              <a:rPr sz="1500" b="1">
                <a:solidFill>
                  <a:srgbClr val="17352B"/>
                </a:solidFill>
                <a:latin typeface="Noto Sans"/>
                <a:ea typeface="Noto Sans"/>
                <a:cs typeface="Noto Sans"/>
              </a:rPr>
              <a:t>α = 1/8 đang triển khai</a:t>
            </a:r>
          </a:p>
        </p:txBody>
      </p:sp>
      <p:sp>
        <p:nvSpPr>
          <p:cNvPr id="10" name="">
            <a:extLst xmlns:a="http://schemas.openxmlformats.org/drawingml/2006/main">
              <a:ext uri="{FF2B5EF4-FFF2-40B4-BE49-F238E27FC236}">
                <a16:creationId xmlns:a16="http://schemas.microsoft.com/office/drawing/2014/main" id="{8A7EE523-4966-409B-A5F2-38FED6345FBC}"/>
              </a:ext>
            </a:extLst>
          </p:cNvPr>
          <p:cNvSpPr>
            <a:spLocks xmlns:a="http://schemas.openxmlformats.org/drawingml/2006/main" noGrp="1"/>
          </p:cNvSpPr>
          <p:nvPr/>
        </p:nvSpPr>
        <p:spPr>
          <a:xfrm xmlns:a="http://schemas.openxmlformats.org/drawingml/2006/main">
            <a:off x="8324850" y="2895600"/>
            <a:ext cx="285750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1" name="">
            <a:extLst xmlns:a="http://schemas.openxmlformats.org/drawingml/2006/main">
              <a:ext uri="{FF2B5EF4-FFF2-40B4-BE49-F238E27FC236}">
                <a16:creationId xmlns:a16="http://schemas.microsoft.com/office/drawing/2014/main" id="{E2E2263C-E9EB-416E-9CB0-9F07362E3088}"/>
              </a:ext>
            </a:extLst>
          </p:cNvPr>
          <p:cNvSpPr>
            <a:spLocks xmlns:a="http://schemas.openxmlformats.org/drawingml/2006/main" noGrp="1"/>
          </p:cNvSpPr>
          <p:nvPr/>
        </p:nvSpPr>
        <p:spPr>
          <a:xfrm xmlns:a="http://schemas.openxmlformats.org/drawingml/2006/main">
            <a:off x="8324850" y="3105150"/>
            <a:ext cx="1619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D79B2D"/>
                </a:solidFill>
                <a:latin typeface="Noto Sans"/>
                <a:ea typeface="Noto Sans"/>
                <a:cs typeface="Noto Sans"/>
              </a:defRPr>
            </a:pPr>
            <a:r>
              <a:rPr sz="2025" b="1">
                <a:solidFill>
                  <a:srgbClr val="D79B2D"/>
                </a:solidFill>
                <a:latin typeface="Noto Sans"/>
                <a:ea typeface="Noto Sans"/>
                <a:cs typeface="Noto Sans"/>
              </a:rPr>
              <a:t>S = 2</a:t>
            </a:r>
          </a:p>
        </p:txBody>
      </p:sp>
      <p:sp>
        <p:nvSpPr>
          <p:cNvPr id="12" name="">
            <a:extLst xmlns:a="http://schemas.openxmlformats.org/drawingml/2006/main">
              <a:ext uri="{FF2B5EF4-FFF2-40B4-BE49-F238E27FC236}">
                <a16:creationId xmlns:a16="http://schemas.microsoft.com/office/drawing/2014/main" id="{C3462BAD-BC12-4127-92CF-4CC8405CAE01}"/>
              </a:ext>
            </a:extLst>
          </p:cNvPr>
          <p:cNvSpPr>
            <a:spLocks xmlns:a="http://schemas.openxmlformats.org/drawingml/2006/main" noGrp="1"/>
          </p:cNvSpPr>
          <p:nvPr/>
        </p:nvSpPr>
        <p:spPr>
          <a:xfrm xmlns:a="http://schemas.openxmlformats.org/drawingml/2006/main">
            <a:off x="8324850" y="3524250"/>
            <a:ext cx="29146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476"/>
          </a:bodyPr>
          <a:lstStyle xmlns:a="http://schemas.openxmlformats.org/drawingml/2006/main"/>
          <a:p xmlns:a="http://schemas.openxmlformats.org/drawingml/2006/main">
            <a:pPr>
              <a:defRPr sz="1425" b="0">
                <a:solidFill>
                  <a:srgbClr val="17352B"/>
                </a:solidFill>
                <a:latin typeface="Noto Sans"/>
                <a:ea typeface="Noto Sans"/>
                <a:cs typeface="Noto Sans"/>
              </a:defRPr>
            </a:pPr>
            <a:r>
              <a:rPr sz="1425" b="0">
                <a:solidFill>
                  <a:srgbClr val="17352B"/>
                </a:solidFill>
                <a:latin typeface="Noto Sans"/>
                <a:ea typeface="Noto Sans"/>
                <a:cs typeface="Noto Sans"/>
              </a:rPr>
              <a:t>MAE thấp nhất trên tập kiểm định</a:t>
            </a:r>
          </a:p>
          <a:p xmlns:a="http://schemas.openxmlformats.org/drawingml/2006/main">
            <a:pPr>
              <a:defRPr sz="1425" b="0">
                <a:solidFill>
                  <a:srgbClr val="17352B"/>
                </a:solidFill>
                <a:latin typeface="Noto Sans"/>
                <a:ea typeface="Noto Sans"/>
                <a:cs typeface="Noto Sans"/>
              </a:defRPr>
            </a:pPr>
            <a:r>
              <a:rPr sz="1425" b="0">
                <a:solidFill>
                  <a:srgbClr val="17352B"/>
                </a:solidFill>
                <a:latin typeface="Noto Sans"/>
                <a:ea typeface="Noto Sans"/>
                <a:cs typeface="Noto Sans"/>
              </a:rPr>
              <a:t>nhưng chưa triển khai</a:t>
            </a:r>
          </a:p>
        </p:txBody>
      </p:sp>
      <p:sp>
        <p:nvSpPr>
          <p:cNvPr id="13" name="">
            <a:extLst xmlns:a="http://schemas.openxmlformats.org/drawingml/2006/main">
              <a:ext uri="{FF2B5EF4-FFF2-40B4-BE49-F238E27FC236}">
                <a16:creationId xmlns:a16="http://schemas.microsoft.com/office/drawing/2014/main" id="{C7512845-3056-47E1-A21A-F208703342B0}"/>
              </a:ext>
            </a:extLst>
          </p:cNvPr>
          <p:cNvSpPr>
            <a:spLocks xmlns:a="http://schemas.openxmlformats.org/drawingml/2006/main" noGrp="1"/>
          </p:cNvSpPr>
          <p:nvPr/>
        </p:nvSpPr>
        <p:spPr>
          <a:xfrm xmlns:a="http://schemas.openxmlformats.org/drawingml/2006/main">
            <a:off x="8324850" y="4400550"/>
            <a:ext cx="2857500" cy="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4" name="">
            <a:extLst xmlns:a="http://schemas.openxmlformats.org/drawingml/2006/main">
              <a:ext uri="{FF2B5EF4-FFF2-40B4-BE49-F238E27FC236}">
                <a16:creationId xmlns:a16="http://schemas.microsoft.com/office/drawing/2014/main" id="{F85DD3C8-4910-4A81-9FCF-BE5017A9C6EF}"/>
              </a:ext>
            </a:extLst>
          </p:cNvPr>
          <p:cNvSpPr>
            <a:spLocks xmlns:a="http://schemas.openxmlformats.org/drawingml/2006/main" noGrp="1"/>
          </p:cNvSpPr>
          <p:nvPr/>
        </p:nvSpPr>
        <p:spPr>
          <a:xfrm xmlns:a="http://schemas.openxmlformats.org/drawingml/2006/main">
            <a:off x="8324850" y="4610100"/>
            <a:ext cx="285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056839"/>
                </a:solidFill>
                <a:latin typeface="Noto Sans"/>
                <a:ea typeface="Noto Sans"/>
                <a:cs typeface="Noto Sans"/>
              </a:defRPr>
            </a:pPr>
            <a:r>
              <a:rPr sz="1575" b="1">
                <a:solidFill>
                  <a:srgbClr val="056839"/>
                </a:solidFill>
                <a:latin typeface="Noto Sans"/>
                <a:ea typeface="Noto Sans"/>
                <a:cs typeface="Noto Sans"/>
              </a:rPr>
              <a:t>94 kiểm thử Python đạt</a:t>
            </a:r>
          </a:p>
          <a:p xmlns:a="http://schemas.openxmlformats.org/drawingml/2006/main">
            <a:pPr>
              <a:defRPr sz="1575" b="1">
                <a:solidFill>
                  <a:srgbClr val="056839"/>
                </a:solidFill>
                <a:latin typeface="Noto Sans"/>
                <a:ea typeface="Noto Sans"/>
                <a:cs typeface="Noto Sans"/>
              </a:defRPr>
            </a:pPr>
            <a:r>
              <a:rPr sz="1575" b="1">
                <a:solidFill>
                  <a:srgbClr val="056839"/>
                </a:solidFill>
                <a:latin typeface="Noto Sans"/>
                <a:ea typeface="Noto Sans"/>
                <a:cs typeface="Noto Sans"/>
              </a:rPr>
              <a:t>941 mẫu RTL, 0 lỗi</a:t>
            </a:r>
          </a:p>
        </p:txBody>
      </p:sp>
      <p:sp>
        <p:nvSpPr>
          <p:cNvPr id="15" name="">
            <a:extLst xmlns:a="http://schemas.openxmlformats.org/drawingml/2006/main">
              <a:ext uri="{FF2B5EF4-FFF2-40B4-BE49-F238E27FC236}">
                <a16:creationId xmlns:a16="http://schemas.microsoft.com/office/drawing/2014/main" id="{63225BF1-953F-4E1C-8E8B-62306AA6225B}"/>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6</a:t>
            </a:r>
          </a:p>
        </p:txBody>
      </p:sp>
    </p:spTree>
    <p:extLst>
      <p:ext uri="{BB962C8B-B14F-4D97-AF65-F5344CB8AC3E}">
        <p14:creationId xmlns:p14="http://schemas.microsoft.com/office/powerpoint/2010/main" val="709447967"/>
      </p:ext>
    </p:extLst>
  </p:cSld>
</p:sld>
</file>

<file path=ppt/slides/slide7.xml><?xml version="1.0" encoding="utf-8"?>
<p:sld xmlns:p="http://schemas.openxmlformats.org/presentationml/2006/main">
  <p:cSld>
    <p:bg>
      <p:bgPr>
        <a:solidFill xmlns:a="http://schemas.openxmlformats.org/drawingml/2006/main">
          <a:srgbClr val="084C3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1FEEA7C-7059-4815-A9ED-8610A6D5458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F6E4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90A5C6-A14F-4B95-B592-A8B5D3F4EE39}"/>
              </a:ext>
            </a:extLst>
          </p:cNvPr>
          <p:cNvSpPr>
            <a:spLocks xmlns:a="http://schemas.openxmlformats.org/drawingml/2006/main" noGrp="1"/>
          </p:cNvSpPr>
          <p:nvPr/>
        </p:nvSpPr>
        <p:spPr>
          <a:xfrm xmlns:a="http://schemas.openxmlformats.org/drawingml/2006/main">
            <a:off x="9886950" y="171450"/>
            <a:ext cx="1885950" cy="609600"/>
          </a:xfrm>
          <a:prstGeom xmlns:a="http://schemas.openxmlformats.org/drawingml/2006/main" prst="roundRect">
            <a:avLst>
              <a:gd name="adj" fmla="val 15625"/>
            </a:avLst>
          </a:prstGeom>
          <a:solidFill xmlns:a="http://schemas.openxmlformats.org/drawingml/2006/main">
            <a:srgbClr val="FFFFFF"/>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f55078fb8eac4f98"/>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4B8463-4D27-47BA-836A-E6242D338F7E}"/>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C8D8CF"/>
            </a:solid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b048d72c9f94a6a"/>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F3BE3E-157E-4CB8-A48B-48386353F84E}"/>
              </a:ext>
            </a:extLst>
          </p:cNvPr>
          <p:cNvSpPr>
            <a:spLocks xmlns:a="http://schemas.openxmlformats.org/drawingml/2006/main" noGrp="1"/>
          </p:cNvSpPr>
          <p:nvPr/>
        </p:nvSpPr>
        <p:spPr>
          <a:xfrm xmlns:a="http://schemas.openxmlformats.org/drawingml/2006/main">
            <a:off x="666750" y="43815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125" b="1">
                <a:solidFill>
                  <a:srgbClr val="B9DDCA"/>
                </a:solidFill>
                <a:latin typeface="Noto Sans"/>
                <a:ea typeface="Noto Sans"/>
                <a:cs typeface="Noto Sans"/>
              </a:defRPr>
            </a:pPr>
            <a:r>
              <a:rPr sz="1125" b="1">
                <a:solidFill>
                  <a:srgbClr val="B9DDCA"/>
                </a:solidFill>
                <a:latin typeface="Noto Sans"/>
                <a:ea typeface="Noto Sans"/>
                <a:cs typeface="Noto Sans"/>
              </a:rPr>
              <a:t>KẾT QUẢ TRÊN TANG NANO 9K</a:t>
            </a:r>
          </a:p>
        </p:txBody>
      </p:sp>
      <p:sp>
        <p:nvSpPr>
          <p:cNvPr id="7" name="">
            <a:extLst xmlns:a="http://schemas.openxmlformats.org/drawingml/2006/main">
              <a:ext uri="{FF2B5EF4-FFF2-40B4-BE49-F238E27FC236}">
                <a16:creationId xmlns:a16="http://schemas.microsoft.com/office/drawing/2014/main" id="{8A0C3238-C0AC-405C-9428-764F2AB8CC99}"/>
              </a:ext>
            </a:extLst>
          </p:cNvPr>
          <p:cNvSpPr>
            <a:spLocks xmlns:a="http://schemas.openxmlformats.org/drawingml/2006/main" noGrp="1"/>
          </p:cNvSpPr>
          <p:nvPr/>
        </p:nvSpPr>
        <p:spPr>
          <a:xfrm xmlns:a="http://schemas.openxmlformats.org/drawingml/2006/main">
            <a:off x="685800" y="1257300"/>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581"/>
          </a:bodyPr>
          <a:lstStyle xmlns:a="http://schemas.openxmlformats.org/drawingml/2006/main"/>
          <a:p xmlns:a="http://schemas.openxmlformats.org/drawingml/2006/main">
            <a:pPr>
              <a:defRPr sz="5850" b="1">
                <a:solidFill>
                  <a:srgbClr val="FFFFFF"/>
                </a:solidFill>
                <a:latin typeface="Noto Sans"/>
                <a:ea typeface="Noto Sans"/>
                <a:cs typeface="Noto Sans"/>
              </a:defRPr>
            </a:pPr>
            <a:r>
              <a:rPr sz="5850" b="1">
                <a:solidFill>
                  <a:srgbClr val="FFFFFF"/>
                </a:solidFill>
                <a:latin typeface="Noto Sans"/>
                <a:ea typeface="Noto Sans"/>
                <a:cs typeface="Noto Sans"/>
              </a:rPr>
              <a:t>140/140</a:t>
            </a:r>
          </a:p>
        </p:txBody>
      </p:sp>
      <p:sp>
        <p:nvSpPr>
          <p:cNvPr id="8" name="">
            <a:extLst xmlns:a="http://schemas.openxmlformats.org/drawingml/2006/main">
              <a:ext uri="{FF2B5EF4-FFF2-40B4-BE49-F238E27FC236}">
                <a16:creationId xmlns:a16="http://schemas.microsoft.com/office/drawing/2014/main" id="{562A5A5F-E5F0-44C5-A4B7-6E5683F57807}"/>
              </a:ext>
            </a:extLst>
          </p:cNvPr>
          <p:cNvSpPr>
            <a:spLocks xmlns:a="http://schemas.openxmlformats.org/drawingml/2006/main" noGrp="1"/>
          </p:cNvSpPr>
          <p:nvPr/>
        </p:nvSpPr>
        <p:spPr>
          <a:xfrm xmlns:a="http://schemas.openxmlformats.org/drawingml/2006/main">
            <a:off x="723900" y="2266950"/>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D7E9DF"/>
                </a:solidFill>
                <a:latin typeface="Noto Sans"/>
                <a:ea typeface="Noto Sans"/>
                <a:cs typeface="Noto Sans"/>
              </a:defRPr>
            </a:pPr>
            <a:r>
              <a:rPr sz="2025" b="1">
                <a:solidFill>
                  <a:srgbClr val="D7E9DF"/>
                </a:solidFill>
                <a:latin typeface="Noto Sans"/>
                <a:ea typeface="Noto Sans"/>
                <a:cs typeface="Noto Sans"/>
              </a:rPr>
              <a:t>giao dịch UART khớp mô hình tham chiếu</a:t>
            </a:r>
          </a:p>
        </p:txBody>
      </p:sp>
      <p:sp>
        <p:nvSpPr>
          <p:cNvPr id="9" name="">
            <a:extLst xmlns:a="http://schemas.openxmlformats.org/drawingml/2006/main">
              <a:ext uri="{FF2B5EF4-FFF2-40B4-BE49-F238E27FC236}">
                <a16:creationId xmlns:a16="http://schemas.microsoft.com/office/drawing/2014/main" id="{111E2772-8B75-4762-8939-4D6BF3592149}"/>
              </a:ext>
            </a:extLst>
          </p:cNvPr>
          <p:cNvSpPr>
            <a:spLocks xmlns:a="http://schemas.openxmlformats.org/drawingml/2006/main" noGrp="1"/>
          </p:cNvSpPr>
          <p:nvPr/>
        </p:nvSpPr>
        <p:spPr>
          <a:xfrm xmlns:a="http://schemas.openxmlformats.org/drawingml/2006/main">
            <a:off x="7143750" y="1028700"/>
            <a:ext cx="0" cy="4476750"/>
          </a:xfrm>
          <a:prstGeom xmlns:a="http://schemas.openxmlformats.org/drawingml/2006/main" prst="line">
            <a:avLst/>
          </a:prstGeom>
          <a:noFill xmlns:a="http://schemas.openxmlformats.org/drawingml/2006/main"/>
          <a:ln xmlns:a="http://schemas.openxmlformats.org/drawingml/2006/main" w="19050">
            <a:solidFill>
              <a:srgbClr val="4E896D"/>
            </a:solidFill>
          </a:ln>
        </p:spPr>
      </p:sp>
      <p:sp>
        <p:nvSpPr>
          <p:cNvPr id="10" name="">
            <a:extLst xmlns:a="http://schemas.openxmlformats.org/drawingml/2006/main">
              <a:ext uri="{FF2B5EF4-FFF2-40B4-BE49-F238E27FC236}">
                <a16:creationId xmlns:a16="http://schemas.microsoft.com/office/drawing/2014/main" id="{25EACE47-4637-43F1-A828-17DE8426A154}"/>
              </a:ext>
            </a:extLst>
          </p:cNvPr>
          <p:cNvSpPr>
            <a:spLocks xmlns:a="http://schemas.openxmlformats.org/drawingml/2006/main" noGrp="1"/>
          </p:cNvSpPr>
          <p:nvPr/>
        </p:nvSpPr>
        <p:spPr>
          <a:xfrm xmlns:a="http://schemas.openxmlformats.org/drawingml/2006/main">
            <a:off x="7715250" y="12001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B9DDCA"/>
                </a:solidFill>
                <a:latin typeface="Noto Sans"/>
                <a:ea typeface="Noto Sans"/>
                <a:cs typeface="Noto Sans"/>
              </a:defRPr>
            </a:pPr>
            <a:r>
              <a:rPr sz="1350" b="1">
                <a:solidFill>
                  <a:srgbClr val="B9DDCA"/>
                </a:solidFill>
                <a:latin typeface="Noto Sans"/>
                <a:ea typeface="Noto Sans"/>
                <a:cs typeface="Noto Sans"/>
              </a:rPr>
              <a:t>GW1NR-LV9QN88PC6/I5</a:t>
            </a:r>
          </a:p>
        </p:txBody>
      </p:sp>
      <p:sp>
        <p:nvSpPr>
          <p:cNvPr id="11" name="">
            <a:extLst xmlns:a="http://schemas.openxmlformats.org/drawingml/2006/main">
              <a:ext uri="{FF2B5EF4-FFF2-40B4-BE49-F238E27FC236}">
                <a16:creationId xmlns:a16="http://schemas.microsoft.com/office/drawing/2014/main" id="{8B330454-F67B-4ED9-97F0-F79BBE02AC02}"/>
              </a:ext>
            </a:extLst>
          </p:cNvPr>
          <p:cNvSpPr>
            <a:spLocks xmlns:a="http://schemas.openxmlformats.org/drawingml/2006/main" noGrp="1"/>
          </p:cNvSpPr>
          <p:nvPr/>
        </p:nvSpPr>
        <p:spPr>
          <a:xfrm xmlns:a="http://schemas.openxmlformats.org/drawingml/2006/main">
            <a:off x="7715250" y="180975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27 MHz</a:t>
            </a:r>
          </a:p>
        </p:txBody>
      </p:sp>
      <p:sp>
        <p:nvSpPr>
          <p:cNvPr id="12" name="">
            <a:extLst xmlns:a="http://schemas.openxmlformats.org/drawingml/2006/main">
              <a:ext uri="{FF2B5EF4-FFF2-40B4-BE49-F238E27FC236}">
                <a16:creationId xmlns:a16="http://schemas.microsoft.com/office/drawing/2014/main" id="{DA2CAB4B-3C7A-42E2-A3C4-26FA359F71C2}"/>
              </a:ext>
            </a:extLst>
          </p:cNvPr>
          <p:cNvSpPr>
            <a:spLocks xmlns:a="http://schemas.openxmlformats.org/drawingml/2006/main" noGrp="1"/>
          </p:cNvSpPr>
          <p:nvPr/>
        </p:nvSpPr>
        <p:spPr>
          <a:xfrm xmlns:a="http://schemas.openxmlformats.org/drawingml/2006/main">
            <a:off x="7715250" y="232410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xung nhịp mục tiêu</a:t>
            </a:r>
          </a:p>
        </p:txBody>
      </p:sp>
      <p:sp>
        <p:nvSpPr>
          <p:cNvPr id="13" name="">
            <a:extLst xmlns:a="http://schemas.openxmlformats.org/drawingml/2006/main">
              <a:ext uri="{FF2B5EF4-FFF2-40B4-BE49-F238E27FC236}">
                <a16:creationId xmlns:a16="http://schemas.microsoft.com/office/drawing/2014/main" id="{138A3919-B233-4184-987A-B9B9D4411250}"/>
              </a:ext>
            </a:extLst>
          </p:cNvPr>
          <p:cNvSpPr>
            <a:spLocks xmlns:a="http://schemas.openxmlformats.org/drawingml/2006/main" noGrp="1"/>
          </p:cNvSpPr>
          <p:nvPr/>
        </p:nvSpPr>
        <p:spPr>
          <a:xfrm xmlns:a="http://schemas.openxmlformats.org/drawingml/2006/main">
            <a:off x="7715250" y="3009900"/>
            <a:ext cx="323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58,705 MHz</a:t>
            </a:r>
          </a:p>
        </p:txBody>
      </p:sp>
      <p:sp>
        <p:nvSpPr>
          <p:cNvPr id="14" name="">
            <a:extLst xmlns:a="http://schemas.openxmlformats.org/drawingml/2006/main">
              <a:ext uri="{FF2B5EF4-FFF2-40B4-BE49-F238E27FC236}">
                <a16:creationId xmlns:a16="http://schemas.microsoft.com/office/drawing/2014/main" id="{980B7EE0-4A01-4884-BB01-B2C97E5F2D13}"/>
              </a:ext>
            </a:extLst>
          </p:cNvPr>
          <p:cNvSpPr>
            <a:spLocks xmlns:a="http://schemas.openxmlformats.org/drawingml/2006/main" noGrp="1"/>
          </p:cNvSpPr>
          <p:nvPr/>
        </p:nvSpPr>
        <p:spPr>
          <a:xfrm xmlns:a="http://schemas.openxmlformats.org/drawingml/2006/main">
            <a:off x="7715250" y="35242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tần số cực đại</a:t>
            </a:r>
          </a:p>
        </p:txBody>
      </p:sp>
      <p:sp>
        <p:nvSpPr>
          <p:cNvPr id="15" name="">
            <a:extLst xmlns:a="http://schemas.openxmlformats.org/drawingml/2006/main">
              <a:ext uri="{FF2B5EF4-FFF2-40B4-BE49-F238E27FC236}">
                <a16:creationId xmlns:a16="http://schemas.microsoft.com/office/drawing/2014/main" id="{42BAED18-F0DB-4D3A-BBB7-B43562154957}"/>
              </a:ext>
            </a:extLst>
          </p:cNvPr>
          <p:cNvSpPr>
            <a:spLocks xmlns:a="http://schemas.openxmlformats.org/drawingml/2006/main" noGrp="1"/>
          </p:cNvSpPr>
          <p:nvPr/>
        </p:nvSpPr>
        <p:spPr>
          <a:xfrm xmlns:a="http://schemas.openxmlformats.org/drawingml/2006/main">
            <a:off x="7715250" y="4210050"/>
            <a:ext cx="209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368"/>
          </a:bodyPr>
          <a:lstStyle xmlns:a="http://schemas.openxmlformats.org/drawingml/2006/main"/>
          <a:p xmlns:a="http://schemas.openxmlformats.org/drawingml/2006/main">
            <a:pPr>
              <a:defRPr sz="2850" b="1">
                <a:solidFill>
                  <a:srgbClr val="7AE0AC"/>
                </a:solidFill>
                <a:latin typeface="Noto Sans"/>
                <a:ea typeface="Noto Sans"/>
                <a:cs typeface="Noto Sans"/>
              </a:defRPr>
            </a:pPr>
            <a:r>
              <a:rPr sz="2850" b="1">
                <a:solidFill>
                  <a:srgbClr val="7AE0AC"/>
                </a:solidFill>
                <a:latin typeface="Noto Sans"/>
                <a:ea typeface="Noto Sans"/>
                <a:cs typeface="Noto Sans"/>
              </a:rPr>
              <a:t>0/0</a:t>
            </a:r>
          </a:p>
        </p:txBody>
      </p:sp>
      <p:sp>
        <p:nvSpPr>
          <p:cNvPr id="16" name="">
            <a:extLst xmlns:a="http://schemas.openxmlformats.org/drawingml/2006/main">
              <a:ext uri="{FF2B5EF4-FFF2-40B4-BE49-F238E27FC236}">
                <a16:creationId xmlns:a16="http://schemas.microsoft.com/office/drawing/2014/main" id="{4F1E88B0-9747-4491-A4DD-54A6D6DB9E4E}"/>
              </a:ext>
            </a:extLst>
          </p:cNvPr>
          <p:cNvSpPr>
            <a:spLocks xmlns:a="http://schemas.openxmlformats.org/drawingml/2006/main" noGrp="1"/>
          </p:cNvSpPr>
          <p:nvPr/>
        </p:nvSpPr>
        <p:spPr>
          <a:xfrm xmlns:a="http://schemas.openxmlformats.org/drawingml/2006/main">
            <a:off x="7715250" y="472440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CDE6D7"/>
                </a:solidFill>
                <a:latin typeface="Noto Sans"/>
                <a:ea typeface="Noto Sans"/>
                <a:cs typeface="Noto Sans"/>
              </a:defRPr>
            </a:pPr>
            <a:r>
              <a:rPr sz="1350" b="0">
                <a:solidFill>
                  <a:srgbClr val="CDE6D7"/>
                </a:solidFill>
                <a:latin typeface="Noto Sans"/>
                <a:ea typeface="Noto Sans"/>
                <a:cs typeface="Noto Sans"/>
              </a:rPr>
              <a:t>vi phạm thiết lập/giữ</a:t>
            </a:r>
          </a:p>
        </p:txBody>
      </p:sp>
      <p:sp>
        <p:nvSpPr>
          <p:cNvPr id="17" name="">
            <a:extLst xmlns:a="http://schemas.openxmlformats.org/drawingml/2006/main">
              <a:ext uri="{FF2B5EF4-FFF2-40B4-BE49-F238E27FC236}">
                <a16:creationId xmlns:a16="http://schemas.microsoft.com/office/drawing/2014/main" id="{B9C587E9-CA20-444F-A159-E3CCC2AF2D48}"/>
              </a:ext>
            </a:extLst>
          </p:cNvPr>
          <p:cNvSpPr>
            <a:spLocks xmlns:a="http://schemas.openxmlformats.org/drawingml/2006/main" noGrp="1"/>
          </p:cNvSpPr>
          <p:nvPr/>
        </p:nvSpPr>
        <p:spPr>
          <a:xfrm xmlns:a="http://schemas.openxmlformats.org/drawingml/2006/main">
            <a:off x="723900" y="3486150"/>
            <a:ext cx="5810250" cy="0"/>
          </a:xfrm>
          <a:prstGeom xmlns:a="http://schemas.openxmlformats.org/drawingml/2006/main" prst="line">
            <a:avLst/>
          </a:prstGeom>
          <a:noFill xmlns:a="http://schemas.openxmlformats.org/drawingml/2006/main"/>
          <a:ln xmlns:a="http://schemas.openxmlformats.org/drawingml/2006/main" w="19050">
            <a:solidFill>
              <a:srgbClr val="4E896D"/>
            </a:solidFill>
          </a:ln>
        </p:spPr>
      </p:sp>
      <p:sp>
        <p:nvSpPr>
          <p:cNvPr id="18" name="">
            <a:extLst xmlns:a="http://schemas.openxmlformats.org/drawingml/2006/main">
              <a:ext uri="{FF2B5EF4-FFF2-40B4-BE49-F238E27FC236}">
                <a16:creationId xmlns:a16="http://schemas.microsoft.com/office/drawing/2014/main" id="{D8C61FB5-B05D-4F0D-A0C2-9F98E3F5E781}"/>
              </a:ext>
            </a:extLst>
          </p:cNvPr>
          <p:cNvSpPr>
            <a:spLocks xmlns:a="http://schemas.openxmlformats.org/drawingml/2006/main" noGrp="1"/>
          </p:cNvSpPr>
          <p:nvPr/>
        </p:nvSpPr>
        <p:spPr>
          <a:xfrm xmlns:a="http://schemas.openxmlformats.org/drawingml/2006/main">
            <a:off x="781050" y="38862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490/8.640</a:t>
            </a:r>
          </a:p>
        </p:txBody>
      </p:sp>
      <p:sp>
        <p:nvSpPr>
          <p:cNvPr id="19" name="">
            <a:extLst xmlns:a="http://schemas.openxmlformats.org/drawingml/2006/main">
              <a:ext uri="{FF2B5EF4-FFF2-40B4-BE49-F238E27FC236}">
                <a16:creationId xmlns:a16="http://schemas.microsoft.com/office/drawing/2014/main" id="{E9EE47DE-3953-47D8-B013-F94ECDF63723}"/>
              </a:ext>
            </a:extLst>
          </p:cNvPr>
          <p:cNvSpPr>
            <a:spLocks xmlns:a="http://schemas.openxmlformats.org/drawingml/2006/main" noGrp="1"/>
          </p:cNvSpPr>
          <p:nvPr/>
        </p:nvSpPr>
        <p:spPr>
          <a:xfrm xmlns:a="http://schemas.openxmlformats.org/drawingml/2006/main">
            <a:off x="781050" y="44196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9DF"/>
                </a:solidFill>
                <a:latin typeface="Noto Sans"/>
                <a:ea typeface="Noto Sans"/>
                <a:cs typeface="Noto Sans"/>
              </a:defRPr>
            </a:pPr>
            <a:r>
              <a:rPr sz="1350" b="0">
                <a:solidFill>
                  <a:srgbClr val="D7E9DF"/>
                </a:solidFill>
                <a:latin typeface="Noto Sans"/>
                <a:ea typeface="Noto Sans"/>
                <a:cs typeface="Noto Sans"/>
              </a:rPr>
              <a:t>phần tử logic, 6%</a:t>
            </a:r>
          </a:p>
        </p:txBody>
      </p:sp>
      <p:sp>
        <p:nvSpPr>
          <p:cNvPr id="20" name="">
            <a:extLst xmlns:a="http://schemas.openxmlformats.org/drawingml/2006/main">
              <a:ext uri="{FF2B5EF4-FFF2-40B4-BE49-F238E27FC236}">
                <a16:creationId xmlns:a16="http://schemas.microsoft.com/office/drawing/2014/main" id="{6DB2E2B9-38D6-4B3B-BB4C-04897860D222}"/>
              </a:ext>
            </a:extLst>
          </p:cNvPr>
          <p:cNvSpPr>
            <a:spLocks xmlns:a="http://schemas.openxmlformats.org/drawingml/2006/main" noGrp="1"/>
          </p:cNvSpPr>
          <p:nvPr/>
        </p:nvSpPr>
        <p:spPr>
          <a:xfrm xmlns:a="http://schemas.openxmlformats.org/drawingml/2006/main">
            <a:off x="3829050" y="38862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FFFFFF"/>
                </a:solidFill>
                <a:latin typeface="Noto Sans"/>
                <a:ea typeface="Noto Sans"/>
                <a:cs typeface="Noto Sans"/>
              </a:defRPr>
            </a:pPr>
            <a:r>
              <a:rPr sz="2850" b="1">
                <a:solidFill>
                  <a:srgbClr val="FFFFFF"/>
                </a:solidFill>
                <a:latin typeface="Noto Sans"/>
                <a:ea typeface="Noto Sans"/>
                <a:cs typeface="Noto Sans"/>
              </a:rPr>
              <a:t>283/6.693</a:t>
            </a:r>
          </a:p>
        </p:txBody>
      </p:sp>
      <p:sp>
        <p:nvSpPr>
          <p:cNvPr id="21" name="">
            <a:extLst xmlns:a="http://schemas.openxmlformats.org/drawingml/2006/main">
              <a:ext uri="{FF2B5EF4-FFF2-40B4-BE49-F238E27FC236}">
                <a16:creationId xmlns:a16="http://schemas.microsoft.com/office/drawing/2014/main" id="{8EDDDD73-2E4C-4D00-BD86-4CF2C2C8BA26}"/>
              </a:ext>
            </a:extLst>
          </p:cNvPr>
          <p:cNvSpPr>
            <a:spLocks xmlns:a="http://schemas.openxmlformats.org/drawingml/2006/main" noGrp="1"/>
          </p:cNvSpPr>
          <p:nvPr/>
        </p:nvSpPr>
        <p:spPr>
          <a:xfrm xmlns:a="http://schemas.openxmlformats.org/drawingml/2006/main">
            <a:off x="3829050" y="44196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D7E9DF"/>
                </a:solidFill>
                <a:latin typeface="Noto Sans"/>
                <a:ea typeface="Noto Sans"/>
                <a:cs typeface="Noto Sans"/>
              </a:defRPr>
            </a:pPr>
            <a:r>
              <a:rPr sz="1350" b="0">
                <a:solidFill>
                  <a:srgbClr val="D7E9DF"/>
                </a:solidFill>
                <a:latin typeface="Noto Sans"/>
                <a:ea typeface="Noto Sans"/>
                <a:cs typeface="Noto Sans"/>
              </a:rPr>
              <a:t>thanh ghi, 5%</a:t>
            </a:r>
          </a:p>
        </p:txBody>
      </p:sp>
      <p:sp>
        <p:nvSpPr>
          <p:cNvPr id="22" name="">
            <a:extLst xmlns:a="http://schemas.openxmlformats.org/drawingml/2006/main">
              <a:ext uri="{FF2B5EF4-FFF2-40B4-BE49-F238E27FC236}">
                <a16:creationId xmlns:a16="http://schemas.microsoft.com/office/drawing/2014/main" id="{532D1B74-345E-411C-9E54-41814B7F9158}"/>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CDE6D7"/>
                </a:solidFill>
                <a:latin typeface="Noto Sans"/>
                <a:ea typeface="Noto Sans"/>
                <a:cs typeface="Noto Sans"/>
              </a:defRPr>
            </a:pPr>
            <a:r>
              <a:rPr sz="975" b="1">
                <a:solidFill>
                  <a:srgbClr val="CDE6D7"/>
                </a:solidFill>
                <a:latin typeface="Noto Sans"/>
                <a:ea typeface="Noto Sans"/>
                <a:cs typeface="Noto Sans"/>
              </a:rPr>
              <a:t>7</a:t>
            </a:r>
          </a:p>
        </p:txBody>
      </p:sp>
    </p:spTree>
    <p:extLst>
      <p:ext uri="{BB962C8B-B14F-4D97-AF65-F5344CB8AC3E}">
        <p14:creationId xmlns:p14="http://schemas.microsoft.com/office/powerpoint/2010/main" val="13221462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2F24E5D-27DC-4CDE-BC52-19A5E684E506}"/>
              </a:ext>
            </a:extLst>
          </p:cNvPr>
          <p:cNvSpPr>
            <a:spLocks xmlns:a="http://schemas.openxmlformats.org/drawingml/2006/main" noGrp="1"/>
          </p:cNvSpPr>
          <p:nvPr/>
        </p:nvSpPr>
        <p:spPr>
          <a:xfrm xmlns:a="http://schemas.openxmlformats.org/drawingml/2006/main">
            <a:off x="628650" y="45720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Kịch bản demo</a:t>
            </a:r>
          </a:p>
        </p:txBody>
      </p:sp>
      <p:sp>
        <p:nvSpPr>
          <p:cNvPr id="2" name="">
            <a:extLst xmlns:a="http://schemas.openxmlformats.org/drawingml/2006/main">
              <a:ext uri="{FF2B5EF4-FFF2-40B4-BE49-F238E27FC236}">
                <a16:creationId xmlns:a16="http://schemas.microsoft.com/office/drawing/2014/main" id="{4BA80493-7334-457E-8627-7FA0135DA085}"/>
              </a:ext>
            </a:extLst>
          </p:cNvPr>
          <p:cNvSpPr>
            <a:spLocks xmlns:a="http://schemas.openxmlformats.org/drawingml/2006/main" noGrp="1"/>
          </p:cNvSpPr>
          <p:nvPr/>
        </p:nvSpPr>
        <p:spPr>
          <a:xfrm xmlns:a="http://schemas.openxmlformats.org/drawingml/2006/main">
            <a:off x="628650" y="112395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24f4b49e72f4a19"/>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8828CAC-7575-4B37-B4D5-C5E3739F2F4F}"/>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1b751fffaad445a"/>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C3C6CE3-C51E-4EEF-8FA2-0ADC57755407}"/>
              </a:ext>
            </a:extLst>
          </p:cNvPr>
          <p:cNvSpPr>
            <a:spLocks xmlns:a="http://schemas.openxmlformats.org/drawingml/2006/main" noGrp="1"/>
          </p:cNvSpPr>
          <p:nvPr/>
        </p:nvSpPr>
        <p:spPr>
          <a:xfrm xmlns:a="http://schemas.openxmlformats.org/drawingml/2006/main">
            <a:off x="781050" y="16573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3827"/>
          </a:bodyPr>
          <a:lstStyle xmlns:a="http://schemas.openxmlformats.org/drawingml/2006/main"/>
          <a:p xmlns:a="http://schemas.openxmlformats.org/drawingml/2006/main">
            <a:pPr>
              <a:defRPr sz="2025" b="1">
                <a:solidFill>
                  <a:srgbClr val="056839"/>
                </a:solidFill>
                <a:latin typeface="Noto Sans"/>
                <a:ea typeface="Noto Sans"/>
                <a:cs typeface="Noto Sans"/>
              </a:defRPr>
            </a:pPr>
            <a:r>
              <a:rPr sz="2025" b="1">
                <a:solidFill>
                  <a:srgbClr val="056839"/>
                </a:solidFill>
                <a:latin typeface="Noto Sans"/>
                <a:ea typeface="Noto Sans"/>
                <a:cs typeface="Noto Sans"/>
              </a:rPr>
              <a:t>Các tình huống sẽ kiểm tra</a:t>
            </a:r>
          </a:p>
        </p:txBody>
      </p:sp>
      <p:sp>
        <p:nvSpPr>
          <p:cNvPr id="7" name="">
            <a:extLst xmlns:a="http://schemas.openxmlformats.org/drawingml/2006/main">
              <a:ext uri="{FF2B5EF4-FFF2-40B4-BE49-F238E27FC236}">
                <a16:creationId xmlns:a16="http://schemas.microsoft.com/office/drawing/2014/main" id="{47440B82-BE4F-4834-B95C-ED1D17F77FB3}"/>
              </a:ext>
            </a:extLst>
          </p:cNvPr>
          <p:cNvSpPr>
            <a:spLocks xmlns:a="http://schemas.openxmlformats.org/drawingml/2006/main" noGrp="1"/>
          </p:cNvSpPr>
          <p:nvPr/>
        </p:nvSpPr>
        <p:spPr>
          <a:xfrm xmlns:a="http://schemas.openxmlformats.org/drawingml/2006/main">
            <a:off x="838200" y="22288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1">
                <a:solidFill>
                  <a:srgbClr val="0F6E41"/>
                </a:solidFill>
                <a:latin typeface="Noto Sans"/>
                <a:ea typeface="Noto Sans"/>
                <a:cs typeface="Noto Sans"/>
              </a:defRPr>
            </a:pPr>
            <a:r>
              <a:rPr sz="1575" b="1">
                <a:solidFill>
                  <a:srgbClr val="0F6E41"/>
                </a:solidFill>
                <a:latin typeface="Noto Sans"/>
                <a:ea typeface="Noto Sans"/>
                <a:cs typeface="Noto Sans"/>
              </a:rPr>
              <a:t>1   Dữ liệu đạt QC và cập nhật độ lệch</a:t>
            </a:r>
          </a:p>
        </p:txBody>
      </p:sp>
      <p:sp>
        <p:nvSpPr>
          <p:cNvPr id="8" name="">
            <a:extLst xmlns:a="http://schemas.openxmlformats.org/drawingml/2006/main">
              <a:ext uri="{FF2B5EF4-FFF2-40B4-BE49-F238E27FC236}">
                <a16:creationId xmlns:a16="http://schemas.microsoft.com/office/drawing/2014/main" id="{27358585-E943-45C3-AE18-10D026DF703E}"/>
              </a:ext>
            </a:extLst>
          </p:cNvPr>
          <p:cNvSpPr>
            <a:spLocks xmlns:a="http://schemas.openxmlformats.org/drawingml/2006/main" noGrp="1"/>
          </p:cNvSpPr>
          <p:nvPr/>
        </p:nvSpPr>
        <p:spPr>
          <a:xfrm xmlns:a="http://schemas.openxmlformats.org/drawingml/2006/main">
            <a:off x="838200" y="27813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2   Dữ liệu không đạt QC và giữ trạng thái</a:t>
            </a:r>
          </a:p>
        </p:txBody>
      </p:sp>
      <p:sp>
        <p:nvSpPr>
          <p:cNvPr id="9" name="">
            <a:extLst xmlns:a="http://schemas.openxmlformats.org/drawingml/2006/main">
              <a:ext uri="{FF2B5EF4-FFF2-40B4-BE49-F238E27FC236}">
                <a16:creationId xmlns:a16="http://schemas.microsoft.com/office/drawing/2014/main" id="{CA716B8C-4360-489B-9554-601EC2586F66}"/>
              </a:ext>
            </a:extLst>
          </p:cNvPr>
          <p:cNvSpPr>
            <a:spLocks xmlns:a="http://schemas.openxmlformats.org/drawingml/2006/main" noGrp="1"/>
          </p:cNvSpPr>
          <p:nvPr/>
        </p:nvSpPr>
        <p:spPr>
          <a:xfrm xmlns:a="http://schemas.openxmlformats.org/drawingml/2006/main">
            <a:off x="838200" y="33337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3   Độ lệch âm và độ lệch dương</a:t>
            </a:r>
          </a:p>
        </p:txBody>
      </p:sp>
      <p:sp>
        <p:nvSpPr>
          <p:cNvPr id="10" name="">
            <a:extLst xmlns:a="http://schemas.openxmlformats.org/drawingml/2006/main">
              <a:ext uri="{FF2B5EF4-FFF2-40B4-BE49-F238E27FC236}">
                <a16:creationId xmlns:a16="http://schemas.microsoft.com/office/drawing/2014/main" id="{59DA4C33-BA9B-480E-ACDE-CBC218479D65}"/>
              </a:ext>
            </a:extLst>
          </p:cNvPr>
          <p:cNvSpPr>
            <a:spLocks xmlns:a="http://schemas.openxmlformats.org/drawingml/2006/main" noGrp="1"/>
          </p:cNvSpPr>
          <p:nvPr/>
        </p:nvSpPr>
        <p:spPr>
          <a:xfrm xmlns:a="http://schemas.openxmlformats.org/drawingml/2006/main">
            <a:off x="838200" y="388620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4   Các biên cảnh báo</a:t>
            </a:r>
          </a:p>
        </p:txBody>
      </p:sp>
      <p:sp>
        <p:nvSpPr>
          <p:cNvPr id="11" name="">
            <a:extLst xmlns:a="http://schemas.openxmlformats.org/drawingml/2006/main">
              <a:ext uri="{FF2B5EF4-FFF2-40B4-BE49-F238E27FC236}">
                <a16:creationId xmlns:a16="http://schemas.microsoft.com/office/drawing/2014/main" id="{4D7487A0-C036-4B48-A088-FC8C6DE06C67}"/>
              </a:ext>
            </a:extLst>
          </p:cNvPr>
          <p:cNvSpPr>
            <a:spLocks xmlns:a="http://schemas.openxmlformats.org/drawingml/2006/main" noGrp="1"/>
          </p:cNvSpPr>
          <p:nvPr/>
        </p:nvSpPr>
        <p:spPr>
          <a:xfrm xmlns:a="http://schemas.openxmlformats.org/drawingml/2006/main">
            <a:off x="838200" y="4438650"/>
            <a:ext cx="533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7352B"/>
                </a:solidFill>
                <a:latin typeface="Noto Sans"/>
                <a:ea typeface="Noto Sans"/>
                <a:cs typeface="Noto Sans"/>
              </a:defRPr>
            </a:pPr>
            <a:r>
              <a:rPr sz="1575" b="0">
                <a:solidFill>
                  <a:srgbClr val="17352B"/>
                </a:solidFill>
                <a:latin typeface="Noto Sans"/>
                <a:ea typeface="Noto Sans"/>
                <a:cs typeface="Noto Sans"/>
              </a:rPr>
              <a:t>5   Bão hòa độ lệch</a:t>
            </a:r>
          </a:p>
        </p:txBody>
      </p:sp>
      <p:sp>
        <p:nvSpPr>
          <p:cNvPr id="12" name="">
            <a:extLst xmlns:a="http://schemas.openxmlformats.org/drawingml/2006/main">
              <a:ext uri="{FF2B5EF4-FFF2-40B4-BE49-F238E27FC236}">
                <a16:creationId xmlns:a16="http://schemas.microsoft.com/office/drawing/2014/main" id="{F7CFC344-807A-4ADE-9063-8A0CF9E62C87}"/>
              </a:ext>
            </a:extLst>
          </p:cNvPr>
          <p:cNvSpPr>
            <a:spLocks xmlns:a="http://schemas.openxmlformats.org/drawingml/2006/main" noGrp="1"/>
          </p:cNvSpPr>
          <p:nvPr/>
        </p:nvSpPr>
        <p:spPr>
          <a:xfrm xmlns:a="http://schemas.openxmlformats.org/drawingml/2006/main">
            <a:off x="6496050" y="1657350"/>
            <a:ext cx="0" cy="320040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3" name="">
            <a:extLst xmlns:a="http://schemas.openxmlformats.org/drawingml/2006/main">
              <a:ext uri="{FF2B5EF4-FFF2-40B4-BE49-F238E27FC236}">
                <a16:creationId xmlns:a16="http://schemas.microsoft.com/office/drawing/2014/main" id="{EDDD510A-CADC-48AC-A54F-7F57085BBD50}"/>
              </a:ext>
            </a:extLst>
          </p:cNvPr>
          <p:cNvSpPr>
            <a:spLocks xmlns:a="http://schemas.openxmlformats.org/drawingml/2006/main" noGrp="1"/>
          </p:cNvSpPr>
          <p:nvPr/>
        </p:nvSpPr>
        <p:spPr>
          <a:xfrm xmlns:a="http://schemas.openxmlformats.org/drawingml/2006/main">
            <a:off x="7143750" y="2076450"/>
            <a:ext cx="1809750" cy="781050"/>
          </a:xfrm>
          <a:prstGeom xmlns:a="http://schemas.openxmlformats.org/drawingml/2006/main" prst="roundRect">
            <a:avLst>
              <a:gd name="adj" fmla="val 17073"/>
            </a:avLst>
          </a:prstGeom>
          <a:solidFill xmlns:a="http://schemas.openxmlformats.org/drawingml/2006/main">
            <a:srgbClr val="EAF5EF"/>
          </a:solidFill>
          <a:ln xmlns:a="http://schemas.openxmlformats.org/drawingml/2006/main" w="19050">
            <a:solidFill>
              <a:srgbClr val="0F6E41"/>
            </a:solidFill>
          </a:ln>
        </p:spPr>
      </p:sp>
      <p:sp>
        <p:nvSpPr>
          <p:cNvPr id="14" name="">
            <a:extLst xmlns:a="http://schemas.openxmlformats.org/drawingml/2006/main">
              <a:ext uri="{FF2B5EF4-FFF2-40B4-BE49-F238E27FC236}">
                <a16:creationId xmlns:a16="http://schemas.microsoft.com/office/drawing/2014/main" id="{33F865B5-21D5-4EB1-9D70-2BFD66339C0C}"/>
              </a:ext>
            </a:extLst>
          </p:cNvPr>
          <p:cNvSpPr>
            <a:spLocks xmlns:a="http://schemas.openxmlformats.org/drawingml/2006/main" noGrp="1"/>
          </p:cNvSpPr>
          <p:nvPr/>
        </p:nvSpPr>
        <p:spPr>
          <a:xfrm xmlns:a="http://schemas.openxmlformats.org/drawingml/2006/main">
            <a:off x="9486900" y="2076450"/>
            <a:ext cx="1809750" cy="781050"/>
          </a:xfrm>
          <a:prstGeom xmlns:a="http://schemas.openxmlformats.org/drawingml/2006/main" prst="roundRect">
            <a:avLst>
              <a:gd name="adj" fmla="val 17073"/>
            </a:avLst>
          </a:prstGeom>
          <a:solidFill xmlns:a="http://schemas.openxmlformats.org/drawingml/2006/main">
            <a:srgbClr val="056839"/>
          </a:solidFill>
          <a:ln xmlns:a="http://schemas.openxmlformats.org/drawingml/2006/main" w="19050">
            <a:solidFill>
              <a:srgbClr val="056839"/>
            </a:solidFill>
          </a:ln>
        </p:spPr>
      </p:sp>
      <p:sp>
        <p:nvSpPr>
          <p:cNvPr id="15" name="">
            <a:extLst xmlns:a="http://schemas.openxmlformats.org/drawingml/2006/main">
              <a:ext uri="{FF2B5EF4-FFF2-40B4-BE49-F238E27FC236}">
                <a16:creationId xmlns:a16="http://schemas.microsoft.com/office/drawing/2014/main" id="{6E255742-57D5-420F-BB50-83C233A28DAB}"/>
              </a:ext>
            </a:extLst>
          </p:cNvPr>
          <p:cNvSpPr>
            <a:spLocks xmlns:a="http://schemas.openxmlformats.org/drawingml/2006/main" noGrp="1"/>
          </p:cNvSpPr>
          <p:nvPr/>
        </p:nvSpPr>
        <p:spPr>
          <a:xfrm xmlns:a="http://schemas.openxmlformats.org/drawingml/2006/main">
            <a:off x="7334250"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Máy tính</a:t>
            </a:r>
          </a:p>
          <a:p xmlns:a="http://schemas.openxmlformats.org/drawingml/2006/main">
            <a:pPr algn="ctr">
              <a:defRPr sz="1500" b="1">
                <a:solidFill>
                  <a:srgbClr val="17352B"/>
                </a:solidFill>
                <a:latin typeface="Noto Sans"/>
                <a:ea typeface="Noto Sans"/>
                <a:cs typeface="Noto Sans"/>
              </a:defRPr>
            </a:pPr>
            <a:r>
              <a:rPr sz="1500" b="1">
                <a:solidFill>
                  <a:srgbClr val="17352B"/>
                </a:solidFill>
                <a:latin typeface="Noto Sans"/>
                <a:ea typeface="Noto Sans"/>
                <a:cs typeface="Noto Sans"/>
              </a:rPr>
              <a:t>gửi gói tin</a:t>
            </a:r>
          </a:p>
        </p:txBody>
      </p:sp>
      <p:sp>
        <p:nvSpPr>
          <p:cNvPr id="16" name="">
            <a:extLst xmlns:a="http://schemas.openxmlformats.org/drawingml/2006/main">
              <a:ext uri="{FF2B5EF4-FFF2-40B4-BE49-F238E27FC236}">
                <a16:creationId xmlns:a16="http://schemas.microsoft.com/office/drawing/2014/main" id="{A2ED70DF-18DA-4B2E-B638-EA22B06A4AB0}"/>
              </a:ext>
            </a:extLst>
          </p:cNvPr>
          <p:cNvSpPr>
            <a:spLocks xmlns:a="http://schemas.openxmlformats.org/drawingml/2006/main" noGrp="1"/>
          </p:cNvSpPr>
          <p:nvPr/>
        </p:nvSpPr>
        <p:spPr>
          <a:xfrm xmlns:a="http://schemas.openxmlformats.org/drawingml/2006/main">
            <a:off x="9677400" y="2238375"/>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FPGA</a:t>
            </a:r>
          </a:p>
          <a:p xmlns:a="http://schemas.openxmlformats.org/drawingml/2006/main">
            <a:pPr algn="ctr">
              <a:defRPr sz="1500" b="1">
                <a:solidFill>
                  <a:srgbClr val="FFFFFF"/>
                </a:solidFill>
                <a:latin typeface="Noto Sans"/>
                <a:ea typeface="Noto Sans"/>
                <a:cs typeface="Noto Sans"/>
              </a:defRPr>
            </a:pPr>
            <a:r>
              <a:rPr sz="1500" b="1">
                <a:solidFill>
                  <a:srgbClr val="FFFFFF"/>
                </a:solidFill>
                <a:latin typeface="Noto Sans"/>
                <a:ea typeface="Noto Sans"/>
                <a:cs typeface="Noto Sans"/>
              </a:rPr>
              <a:t>chạy lõi RTL</a:t>
            </a:r>
          </a:p>
        </p:txBody>
      </p:sp>
      <p:cxnSp>
        <p:nvCxnSpPr>
          <p:cNvPr id="36" name=""/>
          <p:cNvCxnSpPr>
            <a:stCxn xmlns:a="http://schemas.openxmlformats.org/drawingml/2006/main" id="13" idx="3"/>
            <a:endCxn xmlns:a="http://schemas.openxmlformats.org/drawingml/2006/main" id="14" idx="1"/>
          </p:cNvCxnSpPr>
          <p:nvPr/>
        </p:nvCxnSpPr>
        <p:spPr>
          <a:xfrm xmlns:a="http://schemas.openxmlformats.org/drawingml/2006/main">
            <a:off x="8953500" y="2466975"/>
            <a:ext cx="533400" cy="0"/>
          </a:xfrm>
          <a:prstGeom xmlns:a="http://schemas.openxmlformats.org/drawingml/2006/main" prst="straightConnector1">
            <a:avLst/>
          </a:prstGeom>
          <a:ln xmlns:a="http://schemas.openxmlformats.org/drawingml/2006/main" w="28575">
            <a:solidFill>
              <a:srgbClr val="0F6E41"/>
            </a:solidFill>
            <a:tailEnd type="arrow" w="med" len="med"/>
          </a:ln>
        </p:spPr>
      </p:cxnSp>
      <p:sp>
        <p:nvSpPr>
          <p:cNvPr id="18" name="">
            <a:extLst xmlns:a="http://schemas.openxmlformats.org/drawingml/2006/main">
              <a:ext uri="{FF2B5EF4-FFF2-40B4-BE49-F238E27FC236}">
                <a16:creationId xmlns:a16="http://schemas.microsoft.com/office/drawing/2014/main" id="{6E30A55A-BEF1-45AB-8025-061C5D28D6E1}"/>
              </a:ext>
            </a:extLst>
          </p:cNvPr>
          <p:cNvSpPr>
            <a:spLocks xmlns:a="http://schemas.openxmlformats.org/drawingml/2006/main" noGrp="1"/>
          </p:cNvSpPr>
          <p:nvPr/>
        </p:nvSpPr>
        <p:spPr>
          <a:xfrm xmlns:a="http://schemas.openxmlformats.org/drawingml/2006/main">
            <a:off x="7124700" y="3371850"/>
            <a:ext cx="4210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800" b="1">
                <a:solidFill>
                  <a:srgbClr val="056839"/>
                </a:solidFill>
                <a:latin typeface="Noto Sans"/>
                <a:ea typeface="Noto Sans"/>
                <a:cs typeface="Noto Sans"/>
              </a:defRPr>
            </a:pPr>
            <a:r>
              <a:rPr sz="1800" b="1">
                <a:solidFill>
                  <a:srgbClr val="056839"/>
                </a:solidFill>
                <a:latin typeface="Noto Sans"/>
                <a:ea typeface="Noto Sans"/>
                <a:cs typeface="Noto Sans"/>
              </a:rPr>
              <a:t>Phản hồi FPGA phải khớp mô hình tham chiếu theo từng trường</a:t>
            </a:r>
          </a:p>
        </p:txBody>
      </p:sp>
      <p:sp>
        <p:nvSpPr>
          <p:cNvPr id="19" name="">
            <a:extLst xmlns:a="http://schemas.openxmlformats.org/drawingml/2006/main">
              <a:ext uri="{FF2B5EF4-FFF2-40B4-BE49-F238E27FC236}">
                <a16:creationId xmlns:a16="http://schemas.microsoft.com/office/drawing/2014/main" id="{E8D4B9D2-2092-4C53-A342-767DD5E72CE5}"/>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8</a:t>
            </a:r>
          </a:p>
        </p:txBody>
      </p:sp>
    </p:spTree>
    <p:extLst>
      <p:ext uri="{BB962C8B-B14F-4D97-AF65-F5344CB8AC3E}">
        <p14:creationId xmlns:p14="http://schemas.microsoft.com/office/powerpoint/2010/main" val="2700881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FC7F81D-E241-471D-80E1-928947ADA4E3}"/>
              </a:ext>
            </a:extLst>
          </p:cNvPr>
          <p:cNvSpPr>
            <a:spLocks xmlns:a="http://schemas.openxmlformats.org/drawingml/2006/main" noGrp="1"/>
          </p:cNvSpPr>
          <p:nvPr/>
        </p:nvSpPr>
        <p:spPr>
          <a:xfrm xmlns:a="http://schemas.openxmlformats.org/drawingml/2006/main">
            <a:off x="628650" y="2857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F6E41"/>
                </a:solidFill>
                <a:latin typeface="Noto Sans"/>
                <a:ea typeface="Noto Sans"/>
                <a:cs typeface="Noto Sans"/>
              </a:defRPr>
            </a:pPr>
            <a:r>
              <a:rPr sz="975"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752F0A0E-4E3F-4CF3-8EC9-9C71C07AD504}"/>
              </a:ext>
            </a:extLst>
          </p:cNvPr>
          <p:cNvSpPr>
            <a:spLocks xmlns:a="http://schemas.openxmlformats.org/drawingml/2006/main" noGrp="1"/>
          </p:cNvSpPr>
          <p:nvPr/>
        </p:nvSpPr>
        <p:spPr>
          <a:xfrm xmlns:a="http://schemas.openxmlformats.org/drawingml/2006/main">
            <a:off x="628650" y="5524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Quy tắc số học x16</a:t>
            </a:r>
          </a:p>
        </p:txBody>
      </p:sp>
      <p:sp>
        <p:nvSpPr>
          <p:cNvPr id="3" name="">
            <a:extLst xmlns:a="http://schemas.openxmlformats.org/drawingml/2006/main">
              <a:ext uri="{FF2B5EF4-FFF2-40B4-BE49-F238E27FC236}">
                <a16:creationId xmlns:a16="http://schemas.microsoft.com/office/drawing/2014/main" id="{2F3AB483-06A4-4CCE-AA52-339E9160D610}"/>
              </a:ext>
            </a:extLst>
          </p:cNvPr>
          <p:cNvSpPr>
            <a:spLocks xmlns:a="http://schemas.openxmlformats.org/drawingml/2006/main" noGrp="1"/>
          </p:cNvSpPr>
          <p:nvPr/>
        </p:nvSpPr>
        <p:spPr>
          <a:xfrm xmlns:a="http://schemas.openxmlformats.org/drawingml/2006/main">
            <a:off x="628650" y="12192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a2fa915645cd496b"/>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48BC05-2831-4F9C-AB1D-D5DA0C0AA2D0}"/>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f3f260cad4c4978"/>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D9592E-698F-41EE-BC11-7AC5DEBA7AD4}"/>
              </a:ext>
            </a:extLst>
          </p:cNvPr>
          <p:cNvSpPr>
            <a:spLocks xmlns:a="http://schemas.openxmlformats.org/drawingml/2006/main" noGrp="1"/>
          </p:cNvSpPr>
          <p:nvPr/>
        </p:nvSpPr>
        <p:spPr>
          <a:xfrm xmlns:a="http://schemas.openxmlformats.org/drawingml/2006/main">
            <a:off x="1066800" y="16764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residual = PA - CAMS</a:t>
            </a:r>
          </a:p>
        </p:txBody>
      </p:sp>
      <p:sp>
        <p:nvSpPr>
          <p:cNvPr id="8" name="">
            <a:extLst xmlns:a="http://schemas.openxmlformats.org/drawingml/2006/main">
              <a:ext uri="{FF2B5EF4-FFF2-40B4-BE49-F238E27FC236}">
                <a16:creationId xmlns:a16="http://schemas.microsoft.com/office/drawing/2014/main" id="{77B8EB2E-CD30-4190-9869-C63BCBA0B0E4}"/>
              </a:ext>
            </a:extLst>
          </p:cNvPr>
          <p:cNvSpPr>
            <a:spLocks xmlns:a="http://schemas.openxmlformats.org/drawingml/2006/main" noGrp="1"/>
          </p:cNvSpPr>
          <p:nvPr/>
        </p:nvSpPr>
        <p:spPr>
          <a:xfrm xmlns:a="http://schemas.openxmlformats.org/drawingml/2006/main">
            <a:off x="1066800" y="23431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error = residual - bias_before</a:t>
            </a:r>
          </a:p>
        </p:txBody>
      </p:sp>
      <p:sp>
        <p:nvSpPr>
          <p:cNvPr id="9" name="">
            <a:extLst xmlns:a="http://schemas.openxmlformats.org/drawingml/2006/main">
              <a:ext uri="{FF2B5EF4-FFF2-40B4-BE49-F238E27FC236}">
                <a16:creationId xmlns:a16="http://schemas.microsoft.com/office/drawing/2014/main" id="{14D23B27-9A37-47AB-9DCB-7C81F3625BD6}"/>
              </a:ext>
            </a:extLst>
          </p:cNvPr>
          <p:cNvSpPr>
            <a:spLocks xmlns:a="http://schemas.openxmlformats.org/drawingml/2006/main" noGrp="1"/>
          </p:cNvSpPr>
          <p:nvPr/>
        </p:nvSpPr>
        <p:spPr>
          <a:xfrm xmlns:a="http://schemas.openxmlformats.org/drawingml/2006/main">
            <a:off x="1066800" y="30099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7352B"/>
                </a:solidFill>
                <a:latin typeface="DejaVu Sans Mono"/>
                <a:ea typeface="DejaVu Sans Mono"/>
                <a:cs typeface="DejaVu Sans Mono"/>
              </a:defRPr>
            </a:pPr>
            <a:r>
              <a:rPr sz="1800" b="1">
                <a:solidFill>
                  <a:srgbClr val="17352B"/>
                </a:solidFill>
                <a:latin typeface="DejaVu Sans Mono"/>
                <a:ea typeface="DejaVu Sans Mono"/>
                <a:cs typeface="DejaVu Sans Mono"/>
              </a:rPr>
              <a:t>delta = error &gt;&gt;&gt; ALPHA_SHIFT</a:t>
            </a:r>
          </a:p>
        </p:txBody>
      </p:sp>
      <p:sp>
        <p:nvSpPr>
          <p:cNvPr id="10" name="">
            <a:extLst xmlns:a="http://schemas.openxmlformats.org/drawingml/2006/main">
              <a:ext uri="{FF2B5EF4-FFF2-40B4-BE49-F238E27FC236}">
                <a16:creationId xmlns:a16="http://schemas.microsoft.com/office/drawing/2014/main" id="{514AB9E3-6395-47CE-AC9B-2DAD47775C93}"/>
              </a:ext>
            </a:extLst>
          </p:cNvPr>
          <p:cNvSpPr>
            <a:spLocks xmlns:a="http://schemas.openxmlformats.org/drawingml/2006/main" noGrp="1"/>
          </p:cNvSpPr>
          <p:nvPr/>
        </p:nvSpPr>
        <p:spPr>
          <a:xfrm xmlns:a="http://schemas.openxmlformats.org/drawingml/2006/main">
            <a:off x="1066800" y="367665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17352B"/>
                </a:solidFill>
                <a:latin typeface="DejaVu Sans Mono"/>
                <a:ea typeface="DejaVu Sans Mono"/>
                <a:cs typeface="DejaVu Sans Mono"/>
              </a:defRPr>
            </a:pPr>
            <a:r>
              <a:rPr sz="1650" b="1">
                <a:solidFill>
                  <a:srgbClr val="17352B"/>
                </a:solidFill>
                <a:latin typeface="DejaVu Sans Mono"/>
                <a:ea typeface="DejaVu Sans Mono"/>
                <a:cs typeface="DejaVu Sans Mono"/>
              </a:rPr>
              <a:t>bias_after = sat(bias_before + delta) khi sample_valid và qc_ok</a:t>
            </a:r>
          </a:p>
        </p:txBody>
      </p:sp>
      <p:sp>
        <p:nvSpPr>
          <p:cNvPr id="11" name="">
            <a:extLst xmlns:a="http://schemas.openxmlformats.org/drawingml/2006/main">
              <a:ext uri="{FF2B5EF4-FFF2-40B4-BE49-F238E27FC236}">
                <a16:creationId xmlns:a16="http://schemas.microsoft.com/office/drawing/2014/main" id="{1959140A-337F-4A76-8B36-06B4031C1168}"/>
              </a:ext>
            </a:extLst>
          </p:cNvPr>
          <p:cNvSpPr>
            <a:spLocks xmlns:a="http://schemas.openxmlformats.org/drawingml/2006/main" noGrp="1"/>
          </p:cNvSpPr>
          <p:nvPr/>
        </p:nvSpPr>
        <p:spPr>
          <a:xfrm xmlns:a="http://schemas.openxmlformats.org/drawingml/2006/main">
            <a:off x="1066800" y="43434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0F6E41"/>
                </a:solidFill>
                <a:latin typeface="DejaVu Sans Mono"/>
                <a:ea typeface="DejaVu Sans Mono"/>
                <a:cs typeface="DejaVu Sans Mono"/>
              </a:defRPr>
            </a:pPr>
            <a:r>
              <a:rPr sz="1800" b="1">
                <a:solidFill>
                  <a:srgbClr val="0F6E41"/>
                </a:solidFill>
                <a:latin typeface="DejaVu Sans Mono"/>
                <a:ea typeface="DejaVu Sans Mono"/>
                <a:cs typeface="DejaVu Sans Mono"/>
              </a:rPr>
              <a:t>fused = sat(CAMS + bias_before)</a:t>
            </a:r>
          </a:p>
        </p:txBody>
      </p:sp>
      <p:sp>
        <p:nvSpPr>
          <p:cNvPr id="12" name="">
            <a:extLst xmlns:a="http://schemas.openxmlformats.org/drawingml/2006/main">
              <a:ext uri="{FF2B5EF4-FFF2-40B4-BE49-F238E27FC236}">
                <a16:creationId xmlns:a16="http://schemas.microsoft.com/office/drawing/2014/main" id="{CC803EC8-D9CE-4D82-A31D-47110BF42006}"/>
              </a:ext>
            </a:extLst>
          </p:cNvPr>
          <p:cNvSpPr>
            <a:spLocks xmlns:a="http://schemas.openxmlformats.org/drawingml/2006/main" noGrp="1"/>
          </p:cNvSpPr>
          <p:nvPr/>
        </p:nvSpPr>
        <p:spPr>
          <a:xfrm xmlns:a="http://schemas.openxmlformats.org/drawingml/2006/main">
            <a:off x="1562100" y="5486400"/>
            <a:ext cx="906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650" b="1">
                <a:solidFill>
                  <a:srgbClr val="056839"/>
                </a:solidFill>
                <a:latin typeface="DejaVu Sans Mono"/>
                <a:ea typeface="DejaVu Sans Mono"/>
                <a:cs typeface="DejaVu Sans Mono"/>
              </a:defRPr>
            </a:pPr>
            <a:r>
              <a:rPr sz="1650" b="1">
                <a:solidFill>
                  <a:srgbClr val="056839"/>
                </a:solidFill>
                <a:latin typeface="DejaVu Sans Mono"/>
                <a:ea typeface="DejaVu Sans Mono"/>
                <a:cs typeface="DejaVu Sans Mono"/>
              </a:rPr>
              <a:t>qc_ok = 0: vẫn tạo fused, không cập nhật bias</a:t>
            </a:r>
          </a:p>
        </p:txBody>
      </p:sp>
      <p:sp>
        <p:nvSpPr>
          <p:cNvPr id="13" name="">
            <a:extLst xmlns:a="http://schemas.openxmlformats.org/drawingml/2006/main">
              <a:ext uri="{FF2B5EF4-FFF2-40B4-BE49-F238E27FC236}">
                <a16:creationId xmlns:a16="http://schemas.microsoft.com/office/drawing/2014/main" id="{8315CB7F-9995-44C0-9FCC-2FC6C2E2384C}"/>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9</a:t>
            </a:r>
          </a:p>
        </p:txBody>
      </p:sp>
    </p:spTree>
    <p:extLst>
      <p:ext uri="{BB962C8B-B14F-4D97-AF65-F5344CB8AC3E}">
        <p14:creationId xmlns:p14="http://schemas.microsoft.com/office/powerpoint/2010/main" val="7797785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4DF0CE70-DD24-4C62-981B-3DA316496A5D}"/>
              </a:ext>
            </a:extLst>
          </p:cNvPr>
          <p:cNvSpPr>
            <a:spLocks xmlns:a="http://schemas.openxmlformats.org/drawingml/2006/main" noGrp="1"/>
          </p:cNvSpPr>
          <p:nvPr/>
        </p:nvSpPr>
        <p:spPr>
          <a:xfrm xmlns:a="http://schemas.openxmlformats.org/drawingml/2006/main">
            <a:off x="628650" y="2857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F6E41"/>
                </a:solidFill>
                <a:latin typeface="Noto Sans"/>
                <a:ea typeface="Noto Sans"/>
                <a:cs typeface="Noto Sans"/>
              </a:defRPr>
            </a:pPr>
            <a:r>
              <a:rPr sz="975"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7F770998-D63D-409F-BAF9-BB214BDBD0E4}"/>
              </a:ext>
            </a:extLst>
          </p:cNvPr>
          <p:cNvSpPr>
            <a:spLocks xmlns:a="http://schemas.openxmlformats.org/drawingml/2006/main" noGrp="1"/>
          </p:cNvSpPr>
          <p:nvPr/>
        </p:nvSpPr>
        <p:spPr>
          <a:xfrm xmlns:a="http://schemas.openxmlformats.org/drawingml/2006/main">
            <a:off x="628650" y="5524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Gói tin UART</a:t>
            </a:r>
          </a:p>
        </p:txBody>
      </p:sp>
      <p:sp>
        <p:nvSpPr>
          <p:cNvPr id="3" name="">
            <a:extLst xmlns:a="http://schemas.openxmlformats.org/drawingml/2006/main">
              <a:ext uri="{FF2B5EF4-FFF2-40B4-BE49-F238E27FC236}">
                <a16:creationId xmlns:a16="http://schemas.microsoft.com/office/drawing/2014/main" id="{9E560FFC-C8F1-4712-A967-D9E8285BFEFE}"/>
              </a:ext>
            </a:extLst>
          </p:cNvPr>
          <p:cNvSpPr>
            <a:spLocks xmlns:a="http://schemas.openxmlformats.org/drawingml/2006/main" noGrp="1"/>
          </p:cNvSpPr>
          <p:nvPr/>
        </p:nvSpPr>
        <p:spPr>
          <a:xfrm xmlns:a="http://schemas.openxmlformats.org/drawingml/2006/main">
            <a:off x="628650" y="12192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486b4255c744477"/>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5A036DB-BE60-4C1C-B0A3-DC80D57B87CE}"/>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54b46ab46a840a3"/>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507E4AA-375B-417E-AA79-49620232405C}"/>
              </a:ext>
            </a:extLst>
          </p:cNvPr>
          <p:cNvSpPr>
            <a:spLocks xmlns:a="http://schemas.openxmlformats.org/drawingml/2006/main" noGrp="1"/>
          </p:cNvSpPr>
          <p:nvPr/>
        </p:nvSpPr>
        <p:spPr>
          <a:xfrm xmlns:a="http://schemas.openxmlformats.org/drawingml/2006/main">
            <a:off x="723900" y="16573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056839"/>
                </a:solidFill>
                <a:latin typeface="Noto Sans"/>
                <a:ea typeface="Noto Sans"/>
                <a:cs typeface="Noto Sans"/>
              </a:defRPr>
            </a:pPr>
            <a:r>
              <a:rPr sz="1800" b="1">
                <a:solidFill>
                  <a:srgbClr val="056839"/>
                </a:solidFill>
                <a:latin typeface="Noto Sans"/>
                <a:ea typeface="Noto Sans"/>
                <a:cs typeface="Noto Sans"/>
              </a:rPr>
              <a:t>Máy tính gửi đến FPGA</a:t>
            </a:r>
          </a:p>
        </p:txBody>
      </p:sp>
      <p:sp>
        <p:nvSpPr>
          <p:cNvPr id="8" name="">
            <a:extLst xmlns:a="http://schemas.openxmlformats.org/drawingml/2006/main">
              <a:ext uri="{FF2B5EF4-FFF2-40B4-BE49-F238E27FC236}">
                <a16:creationId xmlns:a16="http://schemas.microsoft.com/office/drawing/2014/main" id="{B765F6DC-9C7C-4B7B-AB72-CA66762BA3C8}"/>
              </a:ext>
            </a:extLst>
          </p:cNvPr>
          <p:cNvSpPr>
            <a:spLocks xmlns:a="http://schemas.openxmlformats.org/drawingml/2006/main" noGrp="1"/>
          </p:cNvSpPr>
          <p:nvPr/>
        </p:nvSpPr>
        <p:spPr>
          <a:xfrm xmlns:a="http://schemas.openxmlformats.org/drawingml/2006/main">
            <a:off x="723900" y="2209800"/>
            <a:ext cx="914400" cy="685800"/>
          </a:xfrm>
          <a:prstGeom xmlns:a="http://schemas.openxmlformats.org/drawingml/2006/main" prst="rect">
            <a:avLst/>
          </a:prstGeom>
          <a:solidFill xmlns:a="http://schemas.openxmlformats.org/drawingml/2006/main">
            <a:srgbClr val="0F6E41"/>
          </a:solidFill>
          <a:ln xmlns:a="http://schemas.openxmlformats.org/drawingml/2006/main" w="9525">
            <a:solidFill>
              <a:srgbClr val="FFFFFF"/>
            </a:solidFill>
          </a:ln>
        </p:spPr>
      </p:sp>
      <p:sp>
        <p:nvSpPr>
          <p:cNvPr id="9" name="">
            <a:extLst xmlns:a="http://schemas.openxmlformats.org/drawingml/2006/main">
              <a:ext uri="{FF2B5EF4-FFF2-40B4-BE49-F238E27FC236}">
                <a16:creationId xmlns:a16="http://schemas.microsoft.com/office/drawing/2014/main" id="{E3E08747-D982-4C90-AA7C-4D53E7802154}"/>
              </a:ext>
            </a:extLst>
          </p:cNvPr>
          <p:cNvSpPr>
            <a:spLocks xmlns:a="http://schemas.openxmlformats.org/drawingml/2006/main" noGrp="1"/>
          </p:cNvSpPr>
          <p:nvPr/>
        </p:nvSpPr>
        <p:spPr>
          <a:xfrm xmlns:a="http://schemas.openxmlformats.org/drawingml/2006/main">
            <a:off x="762000" y="2381250"/>
            <a:ext cx="83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FFFFFF"/>
                </a:solidFill>
                <a:latin typeface="DejaVu Sans Mono"/>
                <a:ea typeface="DejaVu Sans Mono"/>
                <a:cs typeface="DejaVu Sans Mono"/>
              </a:defRPr>
            </a:pPr>
            <a:r>
              <a:rPr sz="1200" b="1">
                <a:solidFill>
                  <a:srgbClr val="FFFFFF"/>
                </a:solidFill>
                <a:latin typeface="DejaVu Sans Mono"/>
                <a:ea typeface="DejaVu Sans Mono"/>
                <a:cs typeface="DejaVu Sans Mono"/>
              </a:rPr>
              <a:t>SYNC</a:t>
            </a:r>
          </a:p>
        </p:txBody>
      </p:sp>
      <p:sp>
        <p:nvSpPr>
          <p:cNvPr id="10" name="">
            <a:extLst xmlns:a="http://schemas.openxmlformats.org/drawingml/2006/main">
              <a:ext uri="{FF2B5EF4-FFF2-40B4-BE49-F238E27FC236}">
                <a16:creationId xmlns:a16="http://schemas.microsoft.com/office/drawing/2014/main" id="{D1364B3F-FCBF-4DBA-8185-4A424ABD961E}"/>
              </a:ext>
            </a:extLst>
          </p:cNvPr>
          <p:cNvSpPr>
            <a:spLocks xmlns:a="http://schemas.openxmlformats.org/drawingml/2006/main" noGrp="1"/>
          </p:cNvSpPr>
          <p:nvPr/>
        </p:nvSpPr>
        <p:spPr>
          <a:xfrm xmlns:a="http://schemas.openxmlformats.org/drawingml/2006/main">
            <a:off x="1638300" y="2209800"/>
            <a:ext cx="11049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1" name="">
            <a:extLst xmlns:a="http://schemas.openxmlformats.org/drawingml/2006/main">
              <a:ext uri="{FF2B5EF4-FFF2-40B4-BE49-F238E27FC236}">
                <a16:creationId xmlns:a16="http://schemas.microsoft.com/office/drawing/2014/main" id="{E2685BD0-3C57-40C2-B027-BC623BECA19E}"/>
              </a:ext>
            </a:extLst>
          </p:cNvPr>
          <p:cNvSpPr>
            <a:spLocks xmlns:a="http://schemas.openxmlformats.org/drawingml/2006/main" noGrp="1"/>
          </p:cNvSpPr>
          <p:nvPr/>
        </p:nvSpPr>
        <p:spPr>
          <a:xfrm xmlns:a="http://schemas.openxmlformats.org/drawingml/2006/main">
            <a:off x="1676400" y="2381250"/>
            <a:ext cx="1028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FLAGS</a:t>
            </a:r>
          </a:p>
        </p:txBody>
      </p:sp>
      <p:sp>
        <p:nvSpPr>
          <p:cNvPr id="12" name="">
            <a:extLst xmlns:a="http://schemas.openxmlformats.org/drawingml/2006/main">
              <a:ext uri="{FF2B5EF4-FFF2-40B4-BE49-F238E27FC236}">
                <a16:creationId xmlns:a16="http://schemas.microsoft.com/office/drawing/2014/main" id="{CE5B5D08-1983-4BC6-AA9D-E62A46C75321}"/>
              </a:ext>
            </a:extLst>
          </p:cNvPr>
          <p:cNvSpPr>
            <a:spLocks xmlns:a="http://schemas.openxmlformats.org/drawingml/2006/main" noGrp="1"/>
          </p:cNvSpPr>
          <p:nvPr/>
        </p:nvSpPr>
        <p:spPr>
          <a:xfrm xmlns:a="http://schemas.openxmlformats.org/drawingml/2006/main">
            <a:off x="2743200" y="2209800"/>
            <a:ext cx="10477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3" name="">
            <a:extLst xmlns:a="http://schemas.openxmlformats.org/drawingml/2006/main">
              <a:ext uri="{FF2B5EF4-FFF2-40B4-BE49-F238E27FC236}">
                <a16:creationId xmlns:a16="http://schemas.microsoft.com/office/drawing/2014/main" id="{287F8148-1636-4F4A-88B1-A9FC466372D0}"/>
              </a:ext>
            </a:extLst>
          </p:cNvPr>
          <p:cNvSpPr>
            <a:spLocks xmlns:a="http://schemas.openxmlformats.org/drawingml/2006/main" noGrp="1"/>
          </p:cNvSpPr>
          <p:nvPr/>
        </p:nvSpPr>
        <p:spPr>
          <a:xfrm xmlns:a="http://schemas.openxmlformats.org/drawingml/2006/main">
            <a:off x="2781300" y="2381250"/>
            <a:ext cx="971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HOUR</a:t>
            </a:r>
          </a:p>
        </p:txBody>
      </p:sp>
      <p:sp>
        <p:nvSpPr>
          <p:cNvPr id="14" name="">
            <a:extLst xmlns:a="http://schemas.openxmlformats.org/drawingml/2006/main">
              <a:ext uri="{FF2B5EF4-FFF2-40B4-BE49-F238E27FC236}">
                <a16:creationId xmlns:a16="http://schemas.microsoft.com/office/drawing/2014/main" id="{D7AC7ADF-05DC-49B1-AA26-C1D1820ACB9F}"/>
              </a:ext>
            </a:extLst>
          </p:cNvPr>
          <p:cNvSpPr>
            <a:spLocks xmlns:a="http://schemas.openxmlformats.org/drawingml/2006/main" noGrp="1"/>
          </p:cNvSpPr>
          <p:nvPr/>
        </p:nvSpPr>
        <p:spPr>
          <a:xfrm xmlns:a="http://schemas.openxmlformats.org/drawingml/2006/main">
            <a:off x="3790950" y="2209800"/>
            <a:ext cx="1676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5" name="">
            <a:extLst xmlns:a="http://schemas.openxmlformats.org/drawingml/2006/main">
              <a:ext uri="{FF2B5EF4-FFF2-40B4-BE49-F238E27FC236}">
                <a16:creationId xmlns:a16="http://schemas.microsoft.com/office/drawing/2014/main" id="{98E28AE4-3129-41B9-BFFE-1C3654DE7BB6}"/>
              </a:ext>
            </a:extLst>
          </p:cNvPr>
          <p:cNvSpPr>
            <a:spLocks xmlns:a="http://schemas.openxmlformats.org/drawingml/2006/main" noGrp="1"/>
          </p:cNvSpPr>
          <p:nvPr/>
        </p:nvSpPr>
        <p:spPr>
          <a:xfrm xmlns:a="http://schemas.openxmlformats.org/drawingml/2006/main">
            <a:off x="3829050" y="23812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CAMS x16</a:t>
            </a:r>
          </a:p>
        </p:txBody>
      </p:sp>
      <p:sp>
        <p:nvSpPr>
          <p:cNvPr id="16" name="">
            <a:extLst xmlns:a="http://schemas.openxmlformats.org/drawingml/2006/main">
              <a:ext uri="{FF2B5EF4-FFF2-40B4-BE49-F238E27FC236}">
                <a16:creationId xmlns:a16="http://schemas.microsoft.com/office/drawing/2014/main" id="{5F783AE6-C165-48F5-B10C-97B1B23DFC62}"/>
              </a:ext>
            </a:extLst>
          </p:cNvPr>
          <p:cNvSpPr>
            <a:spLocks xmlns:a="http://schemas.openxmlformats.org/drawingml/2006/main" noGrp="1"/>
          </p:cNvSpPr>
          <p:nvPr/>
        </p:nvSpPr>
        <p:spPr>
          <a:xfrm xmlns:a="http://schemas.openxmlformats.org/drawingml/2006/main">
            <a:off x="5467350" y="2209800"/>
            <a:ext cx="1676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7" name="">
            <a:extLst xmlns:a="http://schemas.openxmlformats.org/drawingml/2006/main">
              <a:ext uri="{FF2B5EF4-FFF2-40B4-BE49-F238E27FC236}">
                <a16:creationId xmlns:a16="http://schemas.microsoft.com/office/drawing/2014/main" id="{D308B5B2-2465-4DFD-BC8B-33B751937BF8}"/>
              </a:ext>
            </a:extLst>
          </p:cNvPr>
          <p:cNvSpPr>
            <a:spLocks xmlns:a="http://schemas.openxmlformats.org/drawingml/2006/main" noGrp="1"/>
          </p:cNvSpPr>
          <p:nvPr/>
        </p:nvSpPr>
        <p:spPr>
          <a:xfrm xmlns:a="http://schemas.openxmlformats.org/drawingml/2006/main">
            <a:off x="5505450" y="238125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PA x16</a:t>
            </a:r>
          </a:p>
        </p:txBody>
      </p:sp>
      <p:sp>
        <p:nvSpPr>
          <p:cNvPr id="18" name="">
            <a:extLst xmlns:a="http://schemas.openxmlformats.org/drawingml/2006/main">
              <a:ext uri="{FF2B5EF4-FFF2-40B4-BE49-F238E27FC236}">
                <a16:creationId xmlns:a16="http://schemas.microsoft.com/office/drawing/2014/main" id="{2DF3819A-9667-40C3-996E-364FF128C02A}"/>
              </a:ext>
            </a:extLst>
          </p:cNvPr>
          <p:cNvSpPr>
            <a:spLocks xmlns:a="http://schemas.openxmlformats.org/drawingml/2006/main" noGrp="1"/>
          </p:cNvSpPr>
          <p:nvPr/>
        </p:nvSpPr>
        <p:spPr>
          <a:xfrm xmlns:a="http://schemas.openxmlformats.org/drawingml/2006/main">
            <a:off x="7143750" y="2209800"/>
            <a:ext cx="9144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19" name="">
            <a:extLst xmlns:a="http://schemas.openxmlformats.org/drawingml/2006/main">
              <a:ext uri="{FF2B5EF4-FFF2-40B4-BE49-F238E27FC236}">
                <a16:creationId xmlns:a16="http://schemas.microsoft.com/office/drawing/2014/main" id="{B88F3BC3-5A25-4D0C-A46E-E223DB948410}"/>
              </a:ext>
            </a:extLst>
          </p:cNvPr>
          <p:cNvSpPr>
            <a:spLocks xmlns:a="http://schemas.openxmlformats.org/drawingml/2006/main" noGrp="1"/>
          </p:cNvSpPr>
          <p:nvPr/>
        </p:nvSpPr>
        <p:spPr>
          <a:xfrm xmlns:a="http://schemas.openxmlformats.org/drawingml/2006/main">
            <a:off x="7181850" y="2381250"/>
            <a:ext cx="83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200" b="1">
                <a:solidFill>
                  <a:srgbClr val="17352B"/>
                </a:solidFill>
                <a:latin typeface="DejaVu Sans Mono"/>
                <a:ea typeface="DejaVu Sans Mono"/>
                <a:cs typeface="DejaVu Sans Mono"/>
              </a:defRPr>
            </a:pPr>
            <a:r>
              <a:rPr sz="1200" b="1">
                <a:solidFill>
                  <a:srgbClr val="17352B"/>
                </a:solidFill>
                <a:latin typeface="DejaVu Sans Mono"/>
                <a:ea typeface="DejaVu Sans Mono"/>
                <a:cs typeface="DejaVu Sans Mono"/>
              </a:rPr>
              <a:t>CHK</a:t>
            </a:r>
          </a:p>
        </p:txBody>
      </p:sp>
      <p:sp>
        <p:nvSpPr>
          <p:cNvPr id="20" name="">
            <a:extLst xmlns:a="http://schemas.openxmlformats.org/drawingml/2006/main">
              <a:ext uri="{FF2B5EF4-FFF2-40B4-BE49-F238E27FC236}">
                <a16:creationId xmlns:a16="http://schemas.microsoft.com/office/drawing/2014/main" id="{4AF9268F-3AFC-42CA-A103-8F5C924EC2D1}"/>
              </a:ext>
            </a:extLst>
          </p:cNvPr>
          <p:cNvSpPr>
            <a:spLocks xmlns:a="http://schemas.openxmlformats.org/drawingml/2006/main" noGrp="1"/>
          </p:cNvSpPr>
          <p:nvPr/>
        </p:nvSpPr>
        <p:spPr>
          <a:xfrm xmlns:a="http://schemas.openxmlformats.org/drawingml/2006/main">
            <a:off x="10001250" y="237172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r">
              <a:defRPr sz="1575" b="1">
                <a:solidFill>
                  <a:srgbClr val="5D6B66"/>
                </a:solidFill>
                <a:latin typeface="Noto Sans"/>
                <a:ea typeface="Noto Sans"/>
                <a:cs typeface="Noto Sans"/>
              </a:defRPr>
            </a:pPr>
            <a:r>
              <a:rPr sz="1575" b="1">
                <a:solidFill>
                  <a:srgbClr val="5D6B66"/>
                </a:solidFill>
                <a:latin typeface="Noto Sans"/>
                <a:ea typeface="Noto Sans"/>
                <a:cs typeface="Noto Sans"/>
              </a:rPr>
              <a:t>9 byte</a:t>
            </a:r>
          </a:p>
        </p:txBody>
      </p:sp>
      <p:sp>
        <p:nvSpPr>
          <p:cNvPr id="21" name="">
            <a:extLst xmlns:a="http://schemas.openxmlformats.org/drawingml/2006/main">
              <a:ext uri="{FF2B5EF4-FFF2-40B4-BE49-F238E27FC236}">
                <a16:creationId xmlns:a16="http://schemas.microsoft.com/office/drawing/2014/main" id="{489A3246-F8C5-4171-B9F6-CD04FC564411}"/>
              </a:ext>
            </a:extLst>
          </p:cNvPr>
          <p:cNvSpPr>
            <a:spLocks xmlns:a="http://schemas.openxmlformats.org/drawingml/2006/main" noGrp="1"/>
          </p:cNvSpPr>
          <p:nvPr/>
        </p:nvSpPr>
        <p:spPr>
          <a:xfrm xmlns:a="http://schemas.openxmlformats.org/drawingml/2006/main">
            <a:off x="723900" y="30099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0">
                <a:solidFill>
                  <a:srgbClr val="5D6B66"/>
                </a:solidFill>
                <a:latin typeface="Noto Sans"/>
                <a:ea typeface="Noto Sans"/>
                <a:cs typeface="Noto Sans"/>
              </a:defRPr>
            </a:pPr>
            <a:r>
              <a:rPr sz="1350" b="0">
                <a:solidFill>
                  <a:srgbClr val="5D6B66"/>
                </a:solidFill>
                <a:latin typeface="Noto Sans"/>
                <a:ea typeface="Noto Sans"/>
                <a:cs typeface="Noto Sans"/>
              </a:rPr>
              <a:t>CHK sai: bỏ gói, không đổi trạng thái</a:t>
            </a:r>
          </a:p>
        </p:txBody>
      </p:sp>
      <p:sp>
        <p:nvSpPr>
          <p:cNvPr id="22" name="">
            <a:extLst xmlns:a="http://schemas.openxmlformats.org/drawingml/2006/main">
              <a:ext uri="{FF2B5EF4-FFF2-40B4-BE49-F238E27FC236}">
                <a16:creationId xmlns:a16="http://schemas.microsoft.com/office/drawing/2014/main" id="{146DBE69-76F7-43CF-8249-B3731A268E03}"/>
              </a:ext>
            </a:extLst>
          </p:cNvPr>
          <p:cNvSpPr>
            <a:spLocks xmlns:a="http://schemas.openxmlformats.org/drawingml/2006/main" noGrp="1"/>
          </p:cNvSpPr>
          <p:nvPr/>
        </p:nvSpPr>
        <p:spPr>
          <a:xfrm xmlns:a="http://schemas.openxmlformats.org/drawingml/2006/main">
            <a:off x="723900" y="3524250"/>
            <a:ext cx="3619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defRPr sz="1800" b="1">
                <a:solidFill>
                  <a:srgbClr val="0F6E41"/>
                </a:solidFill>
                <a:latin typeface="Noto Sans"/>
                <a:ea typeface="Noto Sans"/>
                <a:cs typeface="Noto Sans"/>
              </a:defRPr>
            </a:pPr>
            <a:r>
              <a:rPr sz="1800" b="1">
                <a:solidFill>
                  <a:srgbClr val="0F6E41"/>
                </a:solidFill>
                <a:latin typeface="Noto Sans"/>
                <a:ea typeface="Noto Sans"/>
                <a:cs typeface="Noto Sans"/>
              </a:rPr>
              <a:t>FPGA trả về máy tính</a:t>
            </a:r>
          </a:p>
        </p:txBody>
      </p:sp>
      <p:sp>
        <p:nvSpPr>
          <p:cNvPr id="23" name="">
            <a:extLst xmlns:a="http://schemas.openxmlformats.org/drawingml/2006/main">
              <a:ext uri="{FF2B5EF4-FFF2-40B4-BE49-F238E27FC236}">
                <a16:creationId xmlns:a16="http://schemas.microsoft.com/office/drawing/2014/main" id="{93461156-6DD4-40A4-A728-0E8DF0545C37}"/>
              </a:ext>
            </a:extLst>
          </p:cNvPr>
          <p:cNvSpPr>
            <a:spLocks xmlns:a="http://schemas.openxmlformats.org/drawingml/2006/main" noGrp="1"/>
          </p:cNvSpPr>
          <p:nvPr/>
        </p:nvSpPr>
        <p:spPr>
          <a:xfrm xmlns:a="http://schemas.openxmlformats.org/drawingml/2006/main">
            <a:off x="723900" y="4076700"/>
            <a:ext cx="800100" cy="685800"/>
          </a:xfrm>
          <a:prstGeom xmlns:a="http://schemas.openxmlformats.org/drawingml/2006/main" prst="rect">
            <a:avLst/>
          </a:prstGeom>
          <a:solidFill xmlns:a="http://schemas.openxmlformats.org/drawingml/2006/main">
            <a:srgbClr val="056839"/>
          </a:solidFill>
          <a:ln xmlns:a="http://schemas.openxmlformats.org/drawingml/2006/main" w="9525">
            <a:solidFill>
              <a:srgbClr val="FFFFFF"/>
            </a:solidFill>
          </a:ln>
        </p:spPr>
      </p:sp>
      <p:sp>
        <p:nvSpPr>
          <p:cNvPr id="24" name="">
            <a:extLst xmlns:a="http://schemas.openxmlformats.org/drawingml/2006/main">
              <a:ext uri="{FF2B5EF4-FFF2-40B4-BE49-F238E27FC236}">
                <a16:creationId xmlns:a16="http://schemas.microsoft.com/office/drawing/2014/main" id="{B4373FDF-4AC0-49DE-A7AD-C9AF33231F24}"/>
              </a:ext>
            </a:extLst>
          </p:cNvPr>
          <p:cNvSpPr>
            <a:spLocks xmlns:a="http://schemas.openxmlformats.org/drawingml/2006/main" noGrp="1"/>
          </p:cNvSpPr>
          <p:nvPr/>
        </p:nvSpPr>
        <p:spPr>
          <a:xfrm xmlns:a="http://schemas.openxmlformats.org/drawingml/2006/main">
            <a:off x="752475" y="424815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FFFFFF"/>
                </a:solidFill>
                <a:latin typeface="DejaVu Sans Mono"/>
                <a:ea typeface="DejaVu Sans Mono"/>
                <a:cs typeface="DejaVu Sans Mono"/>
              </a:defRPr>
            </a:pPr>
            <a:r>
              <a:rPr sz="1050" b="1">
                <a:solidFill>
                  <a:srgbClr val="FFFFFF"/>
                </a:solidFill>
                <a:latin typeface="DejaVu Sans Mono"/>
                <a:ea typeface="DejaVu Sans Mono"/>
                <a:cs typeface="DejaVu Sans Mono"/>
              </a:rPr>
              <a:t>SYNC</a:t>
            </a:r>
          </a:p>
        </p:txBody>
      </p:sp>
      <p:sp>
        <p:nvSpPr>
          <p:cNvPr id="25" name="">
            <a:extLst xmlns:a="http://schemas.openxmlformats.org/drawingml/2006/main">
              <a:ext uri="{FF2B5EF4-FFF2-40B4-BE49-F238E27FC236}">
                <a16:creationId xmlns:a16="http://schemas.microsoft.com/office/drawing/2014/main" id="{46CDA530-4310-4D61-9079-744048B14923}"/>
              </a:ext>
            </a:extLst>
          </p:cNvPr>
          <p:cNvSpPr>
            <a:spLocks xmlns:a="http://schemas.openxmlformats.org/drawingml/2006/main" noGrp="1"/>
          </p:cNvSpPr>
          <p:nvPr/>
        </p:nvSpPr>
        <p:spPr>
          <a:xfrm xmlns:a="http://schemas.openxmlformats.org/drawingml/2006/main">
            <a:off x="1524000" y="4076700"/>
            <a:ext cx="9906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6" name="">
            <a:extLst xmlns:a="http://schemas.openxmlformats.org/drawingml/2006/main">
              <a:ext uri="{FF2B5EF4-FFF2-40B4-BE49-F238E27FC236}">
                <a16:creationId xmlns:a16="http://schemas.microsoft.com/office/drawing/2014/main" id="{322853C4-2C1C-4ED2-95F9-9B498E1B5B8D}"/>
              </a:ext>
            </a:extLst>
          </p:cNvPr>
          <p:cNvSpPr>
            <a:spLocks xmlns:a="http://schemas.openxmlformats.org/drawingml/2006/main" noGrp="1"/>
          </p:cNvSpPr>
          <p:nvPr/>
        </p:nvSpPr>
        <p:spPr>
          <a:xfrm xmlns:a="http://schemas.openxmlformats.org/drawingml/2006/main">
            <a:off x="1552575" y="4248150"/>
            <a:ext cx="933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VALID</a:t>
            </a:r>
          </a:p>
        </p:txBody>
      </p:sp>
      <p:sp>
        <p:nvSpPr>
          <p:cNvPr id="27" name="">
            <a:extLst xmlns:a="http://schemas.openxmlformats.org/drawingml/2006/main">
              <a:ext uri="{FF2B5EF4-FFF2-40B4-BE49-F238E27FC236}">
                <a16:creationId xmlns:a16="http://schemas.microsoft.com/office/drawing/2014/main" id="{31AD2E1A-05C2-4673-8EFF-AB70CB12DC0E}"/>
              </a:ext>
            </a:extLst>
          </p:cNvPr>
          <p:cNvSpPr>
            <a:spLocks xmlns:a="http://schemas.openxmlformats.org/drawingml/2006/main" noGrp="1"/>
          </p:cNvSpPr>
          <p:nvPr/>
        </p:nvSpPr>
        <p:spPr>
          <a:xfrm xmlns:a="http://schemas.openxmlformats.org/drawingml/2006/main">
            <a:off x="2514600" y="4076700"/>
            <a:ext cx="11239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28" name="">
            <a:extLst xmlns:a="http://schemas.openxmlformats.org/drawingml/2006/main">
              <a:ext uri="{FF2B5EF4-FFF2-40B4-BE49-F238E27FC236}">
                <a16:creationId xmlns:a16="http://schemas.microsoft.com/office/drawing/2014/main" id="{C48B958A-D4FF-4EE9-B3DE-D47BD72B43D4}"/>
              </a:ext>
            </a:extLst>
          </p:cNvPr>
          <p:cNvSpPr>
            <a:spLocks xmlns:a="http://schemas.openxmlformats.org/drawingml/2006/main" noGrp="1"/>
          </p:cNvSpPr>
          <p:nvPr/>
        </p:nvSpPr>
        <p:spPr>
          <a:xfrm xmlns:a="http://schemas.openxmlformats.org/drawingml/2006/main">
            <a:off x="2543175" y="4248150"/>
            <a:ext cx="1066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ACCEPT</a:t>
            </a:r>
          </a:p>
        </p:txBody>
      </p:sp>
      <p:sp>
        <p:nvSpPr>
          <p:cNvPr id="29" name="">
            <a:extLst xmlns:a="http://schemas.openxmlformats.org/drawingml/2006/main">
              <a:ext uri="{FF2B5EF4-FFF2-40B4-BE49-F238E27FC236}">
                <a16:creationId xmlns:a16="http://schemas.microsoft.com/office/drawing/2014/main" id="{91110A6D-0A26-44DB-9BA8-2A0F24A4C440}"/>
              </a:ext>
            </a:extLst>
          </p:cNvPr>
          <p:cNvSpPr>
            <a:spLocks xmlns:a="http://schemas.openxmlformats.org/drawingml/2006/main" noGrp="1"/>
          </p:cNvSpPr>
          <p:nvPr/>
        </p:nvSpPr>
        <p:spPr>
          <a:xfrm xmlns:a="http://schemas.openxmlformats.org/drawingml/2006/main">
            <a:off x="3638550" y="4076700"/>
            <a:ext cx="9715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0" name="">
            <a:extLst xmlns:a="http://schemas.openxmlformats.org/drawingml/2006/main">
              <a:ext uri="{FF2B5EF4-FFF2-40B4-BE49-F238E27FC236}">
                <a16:creationId xmlns:a16="http://schemas.microsoft.com/office/drawing/2014/main" id="{10F32588-90C2-475A-82B4-0F229C1FD1C1}"/>
              </a:ext>
            </a:extLst>
          </p:cNvPr>
          <p:cNvSpPr>
            <a:spLocks xmlns:a="http://schemas.openxmlformats.org/drawingml/2006/main" noGrp="1"/>
          </p:cNvSpPr>
          <p:nvPr/>
        </p:nvSpPr>
        <p:spPr>
          <a:xfrm xmlns:a="http://schemas.openxmlformats.org/drawingml/2006/main">
            <a:off x="3667125" y="42481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LEVEL</a:t>
            </a:r>
          </a:p>
        </p:txBody>
      </p:sp>
      <p:sp>
        <p:nvSpPr>
          <p:cNvPr id="31" name="">
            <a:extLst xmlns:a="http://schemas.openxmlformats.org/drawingml/2006/main">
              <a:ext uri="{FF2B5EF4-FFF2-40B4-BE49-F238E27FC236}">
                <a16:creationId xmlns:a16="http://schemas.microsoft.com/office/drawing/2014/main" id="{48BBA2E0-F24C-4F55-A9C3-E57CE429637A}"/>
              </a:ext>
            </a:extLst>
          </p:cNvPr>
          <p:cNvSpPr>
            <a:spLocks xmlns:a="http://schemas.openxmlformats.org/drawingml/2006/main" noGrp="1"/>
          </p:cNvSpPr>
          <p:nvPr/>
        </p:nvSpPr>
        <p:spPr>
          <a:xfrm xmlns:a="http://schemas.openxmlformats.org/drawingml/2006/main">
            <a:off x="4610100" y="4076700"/>
            <a:ext cx="97155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2" name="">
            <a:extLst xmlns:a="http://schemas.openxmlformats.org/drawingml/2006/main">
              <a:ext uri="{FF2B5EF4-FFF2-40B4-BE49-F238E27FC236}">
                <a16:creationId xmlns:a16="http://schemas.microsoft.com/office/drawing/2014/main" id="{1EC22FD1-B1E2-4B5B-98D7-AA70A23D3FBC}"/>
              </a:ext>
            </a:extLst>
          </p:cNvPr>
          <p:cNvSpPr>
            <a:spLocks xmlns:a="http://schemas.openxmlformats.org/drawingml/2006/main" noGrp="1"/>
          </p:cNvSpPr>
          <p:nvPr/>
        </p:nvSpPr>
        <p:spPr>
          <a:xfrm xmlns:a="http://schemas.openxmlformats.org/drawingml/2006/main">
            <a:off x="4638675" y="42481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STATE</a:t>
            </a:r>
          </a:p>
        </p:txBody>
      </p:sp>
      <p:sp>
        <p:nvSpPr>
          <p:cNvPr id="33" name="">
            <a:extLst xmlns:a="http://schemas.openxmlformats.org/drawingml/2006/main">
              <a:ext uri="{FF2B5EF4-FFF2-40B4-BE49-F238E27FC236}">
                <a16:creationId xmlns:a16="http://schemas.microsoft.com/office/drawing/2014/main" id="{BECEDF90-FB5F-43C0-9562-9F1A29F0532D}"/>
              </a:ext>
            </a:extLst>
          </p:cNvPr>
          <p:cNvSpPr>
            <a:spLocks xmlns:a="http://schemas.openxmlformats.org/drawingml/2006/main" noGrp="1"/>
          </p:cNvSpPr>
          <p:nvPr/>
        </p:nvSpPr>
        <p:spPr>
          <a:xfrm xmlns:a="http://schemas.openxmlformats.org/drawingml/2006/main">
            <a:off x="5581650" y="4076700"/>
            <a:ext cx="13335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4" name="">
            <a:extLst xmlns:a="http://schemas.openxmlformats.org/drawingml/2006/main">
              <a:ext uri="{FF2B5EF4-FFF2-40B4-BE49-F238E27FC236}">
                <a16:creationId xmlns:a16="http://schemas.microsoft.com/office/drawing/2014/main" id="{8A9E8787-1D14-4A64-85EE-26E9F487CCC8}"/>
              </a:ext>
            </a:extLst>
          </p:cNvPr>
          <p:cNvSpPr>
            <a:spLocks xmlns:a="http://schemas.openxmlformats.org/drawingml/2006/main" noGrp="1"/>
          </p:cNvSpPr>
          <p:nvPr/>
        </p:nvSpPr>
        <p:spPr>
          <a:xfrm xmlns:a="http://schemas.openxmlformats.org/drawingml/2006/main">
            <a:off x="5610225" y="42481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FUSED</a:t>
            </a:r>
          </a:p>
        </p:txBody>
      </p:sp>
      <p:sp>
        <p:nvSpPr>
          <p:cNvPr id="35" name="">
            <a:extLst xmlns:a="http://schemas.openxmlformats.org/drawingml/2006/main">
              <a:ext uri="{FF2B5EF4-FFF2-40B4-BE49-F238E27FC236}">
                <a16:creationId xmlns:a16="http://schemas.microsoft.com/office/drawing/2014/main" id="{3B59F7C7-D974-4669-9753-5873C82C2258}"/>
              </a:ext>
            </a:extLst>
          </p:cNvPr>
          <p:cNvSpPr>
            <a:spLocks xmlns:a="http://schemas.openxmlformats.org/drawingml/2006/main" noGrp="1"/>
          </p:cNvSpPr>
          <p:nvPr/>
        </p:nvSpPr>
        <p:spPr>
          <a:xfrm xmlns:a="http://schemas.openxmlformats.org/drawingml/2006/main">
            <a:off x="6915150" y="4076700"/>
            <a:ext cx="13335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6" name="">
            <a:extLst xmlns:a="http://schemas.openxmlformats.org/drawingml/2006/main">
              <a:ext uri="{FF2B5EF4-FFF2-40B4-BE49-F238E27FC236}">
                <a16:creationId xmlns:a16="http://schemas.microsoft.com/office/drawing/2014/main" id="{B6AE4A0A-8F5C-4A4C-B660-285515048753}"/>
              </a:ext>
            </a:extLst>
          </p:cNvPr>
          <p:cNvSpPr>
            <a:spLocks xmlns:a="http://schemas.openxmlformats.org/drawingml/2006/main" noGrp="1"/>
          </p:cNvSpPr>
          <p:nvPr/>
        </p:nvSpPr>
        <p:spPr>
          <a:xfrm xmlns:a="http://schemas.openxmlformats.org/drawingml/2006/main">
            <a:off x="6943725" y="4248150"/>
            <a:ext cx="1276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BIAS</a:t>
            </a:r>
          </a:p>
        </p:txBody>
      </p:sp>
      <p:sp>
        <p:nvSpPr>
          <p:cNvPr id="37" name="">
            <a:extLst xmlns:a="http://schemas.openxmlformats.org/drawingml/2006/main">
              <a:ext uri="{FF2B5EF4-FFF2-40B4-BE49-F238E27FC236}">
                <a16:creationId xmlns:a16="http://schemas.microsoft.com/office/drawing/2014/main" id="{7F1A0CFA-2A39-45C3-93B2-C285A79EB3AD}"/>
              </a:ext>
            </a:extLst>
          </p:cNvPr>
          <p:cNvSpPr>
            <a:spLocks xmlns:a="http://schemas.openxmlformats.org/drawingml/2006/main" noGrp="1"/>
          </p:cNvSpPr>
          <p:nvPr/>
        </p:nvSpPr>
        <p:spPr>
          <a:xfrm xmlns:a="http://schemas.openxmlformats.org/drawingml/2006/main">
            <a:off x="8248650" y="4076700"/>
            <a:ext cx="800100" cy="685800"/>
          </a:xfrm>
          <a:prstGeom xmlns:a="http://schemas.openxmlformats.org/drawingml/2006/main" prst="rect">
            <a:avLst/>
          </a:prstGeom>
          <a:solidFill xmlns:a="http://schemas.openxmlformats.org/drawingml/2006/main">
            <a:srgbClr val="EAF5EF"/>
          </a:solidFill>
          <a:ln xmlns:a="http://schemas.openxmlformats.org/drawingml/2006/main" w="9525">
            <a:solidFill>
              <a:srgbClr val="FFFFFF"/>
            </a:solidFill>
          </a:ln>
        </p:spPr>
      </p:sp>
      <p:sp>
        <p:nvSpPr>
          <p:cNvPr id="38" name="">
            <a:extLst xmlns:a="http://schemas.openxmlformats.org/drawingml/2006/main">
              <a:ext uri="{FF2B5EF4-FFF2-40B4-BE49-F238E27FC236}">
                <a16:creationId xmlns:a16="http://schemas.microsoft.com/office/drawing/2014/main" id="{1E54305C-77D8-4120-BAAC-894F9CFDD7A7}"/>
              </a:ext>
            </a:extLst>
          </p:cNvPr>
          <p:cNvSpPr>
            <a:spLocks xmlns:a="http://schemas.openxmlformats.org/drawingml/2006/main" noGrp="1"/>
          </p:cNvSpPr>
          <p:nvPr/>
        </p:nvSpPr>
        <p:spPr>
          <a:xfrm xmlns:a="http://schemas.openxmlformats.org/drawingml/2006/main">
            <a:off x="8277225" y="4248150"/>
            <a:ext cx="74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050" b="1">
                <a:solidFill>
                  <a:srgbClr val="17352B"/>
                </a:solidFill>
                <a:latin typeface="DejaVu Sans Mono"/>
                <a:ea typeface="DejaVu Sans Mono"/>
                <a:cs typeface="DejaVu Sans Mono"/>
              </a:defRPr>
            </a:pPr>
            <a:r>
              <a:rPr sz="1050" b="1">
                <a:solidFill>
                  <a:srgbClr val="17352B"/>
                </a:solidFill>
                <a:latin typeface="DejaVu Sans Mono"/>
                <a:ea typeface="DejaVu Sans Mono"/>
                <a:cs typeface="DejaVu Sans Mono"/>
              </a:rPr>
              <a:t>CHK</a:t>
            </a:r>
          </a:p>
        </p:txBody>
      </p:sp>
      <p:sp>
        <p:nvSpPr>
          <p:cNvPr id="39" name="">
            <a:extLst xmlns:a="http://schemas.openxmlformats.org/drawingml/2006/main">
              <a:ext uri="{FF2B5EF4-FFF2-40B4-BE49-F238E27FC236}">
                <a16:creationId xmlns:a16="http://schemas.microsoft.com/office/drawing/2014/main" id="{BFF852DE-C366-4250-B09E-CDCAAF64B562}"/>
              </a:ext>
            </a:extLst>
          </p:cNvPr>
          <p:cNvSpPr>
            <a:spLocks xmlns:a="http://schemas.openxmlformats.org/drawingml/2006/main" noGrp="1"/>
          </p:cNvSpPr>
          <p:nvPr/>
        </p:nvSpPr>
        <p:spPr>
          <a:xfrm xmlns:a="http://schemas.openxmlformats.org/drawingml/2006/main">
            <a:off x="10001250" y="423862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889"/>
          </a:bodyPr>
          <a:lstStyle xmlns:a="http://schemas.openxmlformats.org/drawingml/2006/main"/>
          <a:p xmlns:a="http://schemas.openxmlformats.org/drawingml/2006/main">
            <a:pPr algn="r">
              <a:defRPr sz="1575" b="1">
                <a:solidFill>
                  <a:srgbClr val="5D6B66"/>
                </a:solidFill>
                <a:latin typeface="Noto Sans"/>
                <a:ea typeface="Noto Sans"/>
                <a:cs typeface="Noto Sans"/>
              </a:defRPr>
            </a:pPr>
            <a:r>
              <a:rPr sz="1575" b="1">
                <a:solidFill>
                  <a:srgbClr val="5D6B66"/>
                </a:solidFill>
                <a:latin typeface="Noto Sans"/>
                <a:ea typeface="Noto Sans"/>
                <a:cs typeface="Noto Sans"/>
              </a:rPr>
              <a:t>10 byte</a:t>
            </a:r>
          </a:p>
        </p:txBody>
      </p:sp>
      <p:sp>
        <p:nvSpPr>
          <p:cNvPr id="40" name="">
            <a:extLst xmlns:a="http://schemas.openxmlformats.org/drawingml/2006/main">
              <a:ext uri="{FF2B5EF4-FFF2-40B4-BE49-F238E27FC236}">
                <a16:creationId xmlns:a16="http://schemas.microsoft.com/office/drawing/2014/main" id="{92A74933-F174-47DA-898A-67A43F313C87}"/>
              </a:ext>
            </a:extLst>
          </p:cNvPr>
          <p:cNvSpPr>
            <a:spLocks xmlns:a="http://schemas.openxmlformats.org/drawingml/2006/main" noGrp="1"/>
          </p:cNvSpPr>
          <p:nvPr/>
        </p:nvSpPr>
        <p:spPr>
          <a:xfrm xmlns:a="http://schemas.openxmlformats.org/drawingml/2006/main">
            <a:off x="723900" y="4876800"/>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056839"/>
                </a:solidFill>
                <a:latin typeface="Noto Sans"/>
                <a:ea typeface="Noto Sans"/>
                <a:cs typeface="Noto Sans"/>
              </a:defRPr>
            </a:pPr>
            <a:r>
              <a:rPr sz="1350" b="1">
                <a:solidFill>
                  <a:srgbClr val="056839"/>
                </a:solidFill>
                <a:latin typeface="Noto Sans"/>
                <a:ea typeface="Noto Sans"/>
                <a:cs typeface="Noto Sans"/>
              </a:rPr>
              <a:t>Mỗi yêu cầu hợp lệ có một phản hồi</a:t>
            </a:r>
          </a:p>
        </p:txBody>
      </p:sp>
      <p:sp>
        <p:nvSpPr>
          <p:cNvPr id="41" name="">
            <a:extLst xmlns:a="http://schemas.openxmlformats.org/drawingml/2006/main">
              <a:ext uri="{FF2B5EF4-FFF2-40B4-BE49-F238E27FC236}">
                <a16:creationId xmlns:a16="http://schemas.microsoft.com/office/drawing/2014/main" id="{8E034554-9EE3-403E-88ED-D8BFCD891F21}"/>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10</a:t>
            </a:r>
          </a:p>
        </p:txBody>
      </p:sp>
    </p:spTree>
    <p:extLst>
      <p:ext uri="{BB962C8B-B14F-4D97-AF65-F5344CB8AC3E}">
        <p14:creationId xmlns:p14="http://schemas.microsoft.com/office/powerpoint/2010/main" val="2041219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950848-F800-4F4C-8AE9-D688AE873055}"/>
              </a:ext>
            </a:extLst>
          </p:cNvPr>
          <p:cNvSpPr>
            <a:spLocks xmlns:a="http://schemas.openxmlformats.org/drawingml/2006/main" noGrp="1"/>
          </p:cNvSpPr>
          <p:nvPr/>
        </p:nvSpPr>
        <p:spPr>
          <a:xfrm xmlns:a="http://schemas.openxmlformats.org/drawingml/2006/main">
            <a:off x="628650" y="2857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F6E41"/>
                </a:solidFill>
                <a:latin typeface="Noto Sans"/>
                <a:ea typeface="Noto Sans"/>
                <a:cs typeface="Noto Sans"/>
              </a:defRPr>
            </a:pPr>
            <a:r>
              <a:rPr sz="975"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F6C4C8C6-8E12-4F5C-9830-0219FA23FA51}"/>
              </a:ext>
            </a:extLst>
          </p:cNvPr>
          <p:cNvSpPr>
            <a:spLocks xmlns:a="http://schemas.openxmlformats.org/drawingml/2006/main" noGrp="1"/>
          </p:cNvSpPr>
          <p:nvPr/>
        </p:nvSpPr>
        <p:spPr>
          <a:xfrm xmlns:a="http://schemas.openxmlformats.org/drawingml/2006/main">
            <a:off x="628650" y="5524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Kết quả đánh giá hệ số thích nghi</a:t>
            </a:r>
          </a:p>
        </p:txBody>
      </p:sp>
      <p:sp>
        <p:nvSpPr>
          <p:cNvPr id="3" name="">
            <a:extLst xmlns:a="http://schemas.openxmlformats.org/drawingml/2006/main">
              <a:ext uri="{FF2B5EF4-FFF2-40B4-BE49-F238E27FC236}">
                <a16:creationId xmlns:a16="http://schemas.microsoft.com/office/drawing/2014/main" id="{00EB035B-F6EE-4D4C-8D8C-24E44815EBB0}"/>
              </a:ext>
            </a:extLst>
          </p:cNvPr>
          <p:cNvSpPr>
            <a:spLocks xmlns:a="http://schemas.openxmlformats.org/drawingml/2006/main" noGrp="1"/>
          </p:cNvSpPr>
          <p:nvPr/>
        </p:nvSpPr>
        <p:spPr>
          <a:xfrm xmlns:a="http://schemas.openxmlformats.org/drawingml/2006/main">
            <a:off x="628650" y="12192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ca1aa42053042d3"/>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90C010A-93D6-499F-B2C8-E48725800E7A}"/>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cd688466f9f4238"/>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B3A7AE1-A5C2-402E-A3E0-C519E2F81988}"/>
              </a:ext>
            </a:extLst>
          </p:cNvPr>
          <p:cNvSpPr>
            <a:spLocks xmlns:a="http://schemas.openxmlformats.org/drawingml/2006/main" noGrp="1"/>
          </p:cNvSpPr>
          <p:nvPr/>
        </p:nvSpPr>
        <p:spPr>
          <a:xfrm xmlns:a="http://schemas.openxmlformats.org/drawingml/2006/main">
            <a:off x="647700" y="133350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defRPr sz="1275" b="0">
                <a:solidFill>
                  <a:srgbClr val="5D6B66"/>
                </a:solidFill>
                <a:latin typeface="Noto Sans"/>
                <a:ea typeface="Noto Sans"/>
                <a:cs typeface="Noto Sans"/>
              </a:defRPr>
            </a:pPr>
            <a:r>
              <a:rPr sz="1275" b="0">
                <a:solidFill>
                  <a:srgbClr val="5D6B66"/>
                </a:solidFill>
                <a:latin typeface="Noto Sans"/>
                <a:ea typeface="Noto Sans"/>
                <a:cs typeface="Noto Sans"/>
              </a:rPr>
              <a:t>415 giờ kiểm định, 4 phần thời gian liên tiếp</a:t>
            </a:r>
          </a:p>
        </p:txBody>
      </p:sp>
      <p:graphicFrame>
        <p:nvGraphicFramePr>
          <p:cNvPr id="18" name=""/>
          <p:cNvGraphicFramePr/>
          <p:nvPr/>
        </p:nvGraphicFramePr>
        <p:xfrm>
          <a:off xmlns:a="http://schemas.openxmlformats.org/drawingml/2006/main" x="647700" y="1752600"/>
          <a:ext xmlns:a="http://schemas.openxmlformats.org/drawingml/2006/main" cx="10896600" cy="3371850"/>
        </p:xfrm>
        <a:graphic xmlns:a="http://schemas.openxmlformats.org/drawingml/2006/main">
          <a:graphicData uri="http://schemas.openxmlformats.org/drawingml/2006/table">
            <a:tbl>
              <a:tblPr/>
              <a:tblGrid>
                <a:gridCol w="742950"/>
                <a:gridCol w="1047750"/>
                <a:gridCol w="1562100"/>
                <a:gridCol w="1790700"/>
                <a:gridCol w="1790700"/>
                <a:gridCol w="2190750"/>
                <a:gridCol w="1409700"/>
              </a:tblGrid>
              <a:tr h="561975">
                <a:tc>
                  <a:txBody>
                    <a:bodyPr/>
                    <a:lstStyle/>
                    <a:p>
                      <a:pPr algn="ctr"/>
                      <a:r>
                        <a:rPr sz="1125" b="1">
                          <a:solidFill>
                            <a:srgbClr val="FFFFFF"/>
                          </a:solidFill>
                          <a:latin typeface="Noto Sans"/>
                          <a:ea typeface="Noto Sans"/>
                          <a:cs typeface="Noto Sans"/>
                        </a:rPr>
                        <a:t>S</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Alpha</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MAE CAMS</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MAE hiệu chỉnh</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RMSE hiệu chỉnh</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Độ lệch chuẩn x16</a:t>
                      </a:r>
                    </a:p>
                  </a:txBody>
                  <a:tcPr marL="57150" marR="57150" marT="57150" marB="57150">
                    <a:solidFill>
                      <a:srgbClr val="056839"/>
                    </a:solidFill>
                  </a:tcPr>
                </a:tc>
                <a:tc>
                  <a:txBody>
                    <a:bodyPr/>
                    <a:lstStyle/>
                    <a:p>
                      <a:pPr algn="ctr"/>
                      <a:r>
                        <a:rPr sz="1125" b="1">
                          <a:solidFill>
                            <a:srgbClr val="FFFFFF"/>
                          </a:solidFill>
                          <a:latin typeface="Noto Sans"/>
                          <a:ea typeface="Noto Sans"/>
                          <a:cs typeface="Noto Sans"/>
                        </a:rPr>
                        <a:t>Bão hòa</a:t>
                      </a:r>
                    </a:p>
                  </a:txBody>
                  <a:tcPr marL="57150" marR="57150" marT="57150" marB="57150">
                    <a:solidFill>
                      <a:srgbClr val="056839"/>
                    </a:solidFill>
                  </a:tcPr>
                </a:tc>
              </a:tr>
              <a:tr h="561975">
                <a:tc>
                  <a:txBody>
                    <a:bodyPr/>
                    <a:lstStyle/>
                    <a:p>
                      <a:pPr algn="ctr"/>
                      <a:r>
                        <a:rPr sz="1275">
                          <a:solidFill>
                            <a:srgbClr val="17352B"/>
                          </a:solidFill>
                          <a:latin typeface="Noto Sans"/>
                          <a:ea typeface="Noto Sans"/>
                          <a:cs typeface="Noto Sans"/>
                        </a:rPr>
                        <a:t>2</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4,2633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6,0729</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71,23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83</a:t>
                      </a:r>
                    </a:p>
                  </a:txBody>
                  <a:tcPr marL="57150" marR="57150" marT="57150" marB="57150">
                    <a:solidFill>
                      <a:srgbClr val="FFFFFF"/>
                    </a:solidFill>
                  </a:tcPr>
                </a:tc>
              </a:tr>
              <a:tr h="561975">
                <a:tc>
                  <a:txBody>
                    <a:bodyPr/>
                    <a:lstStyle/>
                    <a:p>
                      <a:pPr algn="ctr"/>
                      <a:r>
                        <a:rPr sz="1275" b="1">
                          <a:solidFill>
                            <a:srgbClr val="056839"/>
                          </a:solidFill>
                          <a:latin typeface="Noto Sans"/>
                          <a:ea typeface="Noto Sans"/>
                          <a:cs typeface="Noto Sans"/>
                        </a:rPr>
                        <a:t>3</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1/8</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15,8884</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4,7259</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6,7801</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51,75</a:t>
                      </a:r>
                    </a:p>
                  </a:txBody>
                  <a:tcPr marL="57150" marR="57150" marT="57150" marB="57150">
                    <a:solidFill>
                      <a:srgbClr val="EAF5EF"/>
                    </a:solidFill>
                  </a:tcPr>
                </a:tc>
                <a:tc>
                  <a:txBody>
                    <a:bodyPr/>
                    <a:lstStyle/>
                    <a:p>
                      <a:pPr algn="ctr"/>
                      <a:r>
                        <a:rPr sz="1275" b="1">
                          <a:solidFill>
                            <a:srgbClr val="056839"/>
                          </a:solidFill>
                          <a:latin typeface="Noto Sans"/>
                          <a:ea typeface="Noto Sans"/>
                          <a:cs typeface="Noto Sans"/>
                        </a:rPr>
                        <a:t>100</a:t>
                      </a:r>
                    </a:p>
                  </a:txBody>
                  <a:tcPr marL="57150" marR="57150" marT="57150" marB="57150">
                    <a:solidFill>
                      <a:srgbClr val="EAF5EF"/>
                    </a:solidFill>
                  </a:tcPr>
                </a:tc>
              </a:tr>
              <a:tr h="561975">
                <a:tc>
                  <a:txBody>
                    <a:bodyPr/>
                    <a:lstStyle/>
                    <a:p>
                      <a:pPr algn="ctr"/>
                      <a:r>
                        <a:rPr sz="1275">
                          <a:solidFill>
                            <a:srgbClr val="17352B"/>
                          </a:solidFill>
                          <a:latin typeface="Noto Sans"/>
                          <a:ea typeface="Noto Sans"/>
                          <a:cs typeface="Noto Sans"/>
                        </a:rPr>
                        <a:t>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1/16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4,9440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7,1817</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36,46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110</a:t>
                      </a:r>
                    </a:p>
                  </a:txBody>
                  <a:tcPr marL="57150" marR="57150" marT="57150" marB="57150">
                    <a:solidFill>
                      <a:srgbClr val="FFFFFF"/>
                    </a:solidFill>
                  </a:tcPr>
                </a:tc>
              </a:tr>
              <a:tr h="561975">
                <a:tc>
                  <a:txBody>
                    <a:bodyPr/>
                    <a:lstStyle/>
                    <a:p>
                      <a:pPr algn="ctr"/>
                      <a:r>
                        <a:rPr sz="1275">
                          <a:solidFill>
                            <a:srgbClr val="17352B"/>
                          </a:solidFill>
                          <a:latin typeface="Noto Sans"/>
                          <a:ea typeface="Noto Sans"/>
                          <a:cs typeface="Noto Sans"/>
                        </a:rPr>
                        <a:t>5</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1/32</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5,3190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7,4608</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26,64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129</a:t>
                      </a:r>
                    </a:p>
                  </a:txBody>
                  <a:tcPr marL="57150" marR="57150" marT="57150" marB="57150">
                    <a:solidFill>
                      <a:srgbClr val="FFFFFF"/>
                    </a:solidFill>
                  </a:tcPr>
                </a:tc>
              </a:tr>
              <a:tr h="561975">
                <a:tc>
                  <a:txBody>
                    <a:bodyPr/>
                    <a:lstStyle/>
                    <a:p>
                      <a:pPr algn="ctr"/>
                      <a:r>
                        <a:rPr sz="1275">
                          <a:solidFill>
                            <a:srgbClr val="17352B"/>
                          </a:solidFill>
                          <a:latin typeface="Noto Sans"/>
                          <a:ea typeface="Noto Sans"/>
                          <a:cs typeface="Noto Sans"/>
                        </a:rPr>
                        <a:t>6</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1/64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15,8884</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6,0211</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7,9180</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18,63</a:t>
                      </a:r>
                    </a:p>
                  </a:txBody>
                  <a:tcPr marL="57150" marR="57150" marT="57150" marB="57150">
                    <a:solidFill>
                      <a:srgbClr val="FFFFFF"/>
                    </a:solidFill>
                  </a:tcPr>
                </a:tc>
                <a:tc>
                  <a:txBody>
                    <a:bodyPr/>
                    <a:lstStyle/>
                    <a:p>
                      <a:pPr algn="ctr"/>
                      <a:r>
                        <a:rPr sz="1275">
                          <a:solidFill>
                            <a:srgbClr val="17352B"/>
                          </a:solidFill>
                          <a:latin typeface="Noto Sans"/>
                          <a:ea typeface="Noto Sans"/>
                          <a:cs typeface="Noto Sans"/>
                        </a:rPr>
                        <a:t>215</a:t>
                      </a:r>
                    </a:p>
                  </a:txBody>
                  <a:tcPr marL="57150" marR="57150" marT="57150" marB="57150">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0051FD1E-0255-488B-BEB2-582CCB10B57B}"/>
              </a:ext>
            </a:extLst>
          </p:cNvPr>
          <p:cNvSpPr>
            <a:spLocks xmlns:a="http://schemas.openxmlformats.org/drawingml/2006/main" noGrp="1"/>
          </p:cNvSpPr>
          <p:nvPr/>
        </p:nvSpPr>
        <p:spPr>
          <a:xfrm xmlns:a="http://schemas.openxmlformats.org/drawingml/2006/main">
            <a:off x="1428750" y="544830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b="1">
                <a:solidFill>
                  <a:srgbClr val="D79B2D"/>
                </a:solidFill>
                <a:latin typeface="Noto Sans"/>
                <a:ea typeface="Noto Sans"/>
                <a:cs typeface="Noto Sans"/>
              </a:defRPr>
            </a:pPr>
            <a:r>
              <a:rPr sz="1575" b="1">
                <a:solidFill>
                  <a:srgbClr val="D79B2D"/>
                </a:solidFill>
                <a:latin typeface="Noto Sans"/>
                <a:ea typeface="Noto Sans"/>
                <a:cs typeface="Noto Sans"/>
              </a:rPr>
              <a:t>S = 3 đang triển khai. S = 2 là ứng viên chưa kiểm chứng lại trên phần cứng</a:t>
            </a:r>
          </a:p>
        </p:txBody>
      </p:sp>
      <p:sp>
        <p:nvSpPr>
          <p:cNvPr id="10" name="">
            <a:extLst xmlns:a="http://schemas.openxmlformats.org/drawingml/2006/main">
              <a:ext uri="{FF2B5EF4-FFF2-40B4-BE49-F238E27FC236}">
                <a16:creationId xmlns:a16="http://schemas.microsoft.com/office/drawing/2014/main" id="{9422C22C-5901-4754-ADE7-601F70907F01}"/>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11</a:t>
            </a:r>
          </a:p>
        </p:txBody>
      </p:sp>
    </p:spTree>
    <p:extLst>
      <p:ext uri="{BB962C8B-B14F-4D97-AF65-F5344CB8AC3E}">
        <p14:creationId xmlns:p14="http://schemas.microsoft.com/office/powerpoint/2010/main" val="50200537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E17758C-B79A-4D2F-BB32-3479F3199D9B}"/>
              </a:ext>
            </a:extLst>
          </p:cNvPr>
          <p:cNvSpPr>
            <a:spLocks xmlns:a="http://schemas.openxmlformats.org/drawingml/2006/main" noGrp="1"/>
          </p:cNvSpPr>
          <p:nvPr/>
        </p:nvSpPr>
        <p:spPr>
          <a:xfrm xmlns:a="http://schemas.openxmlformats.org/drawingml/2006/main">
            <a:off x="628650" y="2857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1">
                <a:solidFill>
                  <a:srgbClr val="0F6E41"/>
                </a:solidFill>
                <a:latin typeface="Noto Sans"/>
                <a:ea typeface="Noto Sans"/>
                <a:cs typeface="Noto Sans"/>
              </a:defRPr>
            </a:pPr>
            <a:r>
              <a:rPr sz="975" b="1">
                <a:solidFill>
                  <a:srgbClr val="0F6E41"/>
                </a:solidFill>
                <a:latin typeface="Noto Sans"/>
                <a:ea typeface="Noto Sans"/>
                <a:cs typeface="Noto Sans"/>
              </a:rPr>
              <a:t>PHỤ LỤC HỎI ĐÁP</a:t>
            </a:r>
          </a:p>
        </p:txBody>
      </p:sp>
      <p:sp>
        <p:nvSpPr>
          <p:cNvPr id="2" name="">
            <a:extLst xmlns:a="http://schemas.openxmlformats.org/drawingml/2006/main">
              <a:ext uri="{FF2B5EF4-FFF2-40B4-BE49-F238E27FC236}">
                <a16:creationId xmlns:a16="http://schemas.microsoft.com/office/drawing/2014/main" id="{3A79449B-AC31-4F3A-AD00-8B0DF3A693F2}"/>
              </a:ext>
            </a:extLst>
          </p:cNvPr>
          <p:cNvSpPr>
            <a:spLocks xmlns:a="http://schemas.openxmlformats.org/drawingml/2006/main" noGrp="1"/>
          </p:cNvSpPr>
          <p:nvPr/>
        </p:nvSpPr>
        <p:spPr>
          <a:xfrm xmlns:a="http://schemas.openxmlformats.org/drawingml/2006/main">
            <a:off x="628650" y="5524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625" b="1">
                <a:solidFill>
                  <a:srgbClr val="17352B"/>
                </a:solidFill>
                <a:latin typeface="Noto Sans"/>
                <a:ea typeface="Noto Sans"/>
                <a:cs typeface="Noto Sans"/>
              </a:defRPr>
            </a:pPr>
            <a:r>
              <a:rPr sz="2625" b="1">
                <a:solidFill>
                  <a:srgbClr val="17352B"/>
                </a:solidFill>
                <a:latin typeface="Noto Sans"/>
                <a:ea typeface="Noto Sans"/>
                <a:cs typeface="Noto Sans"/>
              </a:rPr>
              <a:t>Bằng chứng và giới hạn</a:t>
            </a:r>
          </a:p>
        </p:txBody>
      </p:sp>
      <p:sp>
        <p:nvSpPr>
          <p:cNvPr id="3" name="">
            <a:extLst xmlns:a="http://schemas.openxmlformats.org/drawingml/2006/main">
              <a:ext uri="{FF2B5EF4-FFF2-40B4-BE49-F238E27FC236}">
                <a16:creationId xmlns:a16="http://schemas.microsoft.com/office/drawing/2014/main" id="{E3CE8E17-3AB3-4555-9B95-DA4D90380C57}"/>
              </a:ext>
            </a:extLst>
          </p:cNvPr>
          <p:cNvSpPr>
            <a:spLocks xmlns:a="http://schemas.openxmlformats.org/drawingml/2006/main" noGrp="1"/>
          </p:cNvSpPr>
          <p:nvPr/>
        </p:nvSpPr>
        <p:spPr>
          <a:xfrm xmlns:a="http://schemas.openxmlformats.org/drawingml/2006/main">
            <a:off x="628650" y="1219200"/>
            <a:ext cx="876300" cy="0"/>
          </a:xfrm>
          <a:prstGeom xmlns:a="http://schemas.openxmlformats.org/drawingml/2006/main" prst="line">
            <a:avLst/>
          </a:prstGeom>
          <a:noFill xmlns:a="http://schemas.openxmlformats.org/drawingml/2006/main"/>
          <a:ln xmlns:a="http://schemas.openxmlformats.org/drawingml/2006/main" w="47625">
            <a:solidFill>
              <a:srgbClr val="0F6E41"/>
            </a:solidFill>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523d6fa55dc426f"/>
          <a:stretch xmlns:a="http://schemas.openxmlformats.org/drawingml/2006/main"/>
        </p:blipFill>
        <p:spPr>
          <a:xfrm xmlns:a="http://schemas.openxmlformats.org/drawingml/2006/main">
            <a:off x="10024188" y="219075"/>
            <a:ext cx="430374" cy="514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3783E37-1C60-4036-833E-E7B55726939E}"/>
              </a:ext>
            </a:extLst>
          </p:cNvPr>
          <p:cNvSpPr>
            <a:spLocks xmlns:a="http://schemas.openxmlformats.org/drawingml/2006/main" noGrp="1"/>
          </p:cNvSpPr>
          <p:nvPr/>
        </p:nvSpPr>
        <p:spPr>
          <a:xfrm xmlns:a="http://schemas.openxmlformats.org/drawingml/2006/main">
            <a:off x="10591800" y="276225"/>
            <a:ext cx="0" cy="400050"/>
          </a:xfrm>
          <a:prstGeom xmlns:a="http://schemas.openxmlformats.org/drawingml/2006/main" prst="line">
            <a:avLst/>
          </a:prstGeom>
          <a:noFill xmlns:a="http://schemas.openxmlformats.org/drawingml/2006/main"/>
          <a:ln xmlns:a="http://schemas.openxmlformats.org/drawingml/2006/main" w="9525">
            <a:solidFill>
              <a:srgbClr val="DDE8E2"/>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babe622840f4854"/>
          <a:stretch xmlns:a="http://schemas.openxmlformats.org/drawingml/2006/main"/>
        </p:blipFill>
        <p:spPr>
          <a:xfrm xmlns:a="http://schemas.openxmlformats.org/drawingml/2006/main">
            <a:off x="10687050" y="298596"/>
            <a:ext cx="990600" cy="3553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AAB06E2-D994-4C4F-9593-160199EF1A8E}"/>
              </a:ext>
            </a:extLst>
          </p:cNvPr>
          <p:cNvSpPr>
            <a:spLocks xmlns:a="http://schemas.openxmlformats.org/drawingml/2006/main" noGrp="1"/>
          </p:cNvSpPr>
          <p:nvPr/>
        </p:nvSpPr>
        <p:spPr>
          <a:xfrm xmlns:a="http://schemas.openxmlformats.org/drawingml/2006/main">
            <a:off x="876300" y="16764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0F6E41"/>
                </a:solidFill>
                <a:latin typeface="Noto Sans"/>
                <a:ea typeface="Noto Sans"/>
                <a:cs typeface="Noto Sans"/>
              </a:defRPr>
            </a:pPr>
            <a:r>
              <a:rPr sz="2100" b="1">
                <a:solidFill>
                  <a:srgbClr val="0F6E41"/>
                </a:solidFill>
                <a:latin typeface="Noto Sans"/>
                <a:ea typeface="Noto Sans"/>
                <a:cs typeface="Noto Sans"/>
              </a:rPr>
              <a:t>Đã xác nhận</a:t>
            </a:r>
          </a:p>
        </p:txBody>
      </p:sp>
      <p:sp>
        <p:nvSpPr>
          <p:cNvPr id="8" name="">
            <a:extLst xmlns:a="http://schemas.openxmlformats.org/drawingml/2006/main">
              <a:ext uri="{FF2B5EF4-FFF2-40B4-BE49-F238E27FC236}">
                <a16:creationId xmlns:a16="http://schemas.microsoft.com/office/drawing/2014/main" id="{DD296CE4-4823-42EF-9BAF-27EA579D67FD}"/>
              </a:ext>
            </a:extLst>
          </p:cNvPr>
          <p:cNvSpPr>
            <a:spLocks xmlns:a="http://schemas.openxmlformats.org/drawingml/2006/main" noGrp="1"/>
          </p:cNvSpPr>
          <p:nvPr/>
        </p:nvSpPr>
        <p:spPr>
          <a:xfrm xmlns:a="http://schemas.openxmlformats.org/drawingml/2006/main">
            <a:off x="876300" y="2266950"/>
            <a:ext cx="45910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Mô hình tham chiếu và RTL khớp từng bit</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Định tuyến đạt yêu cầu tại 27 MHz</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Có bằng chứng tạo bitstream và nạp SRAM</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140 phản hồi UART khớp trên Tang Nano 9K</a:t>
            </a:r>
          </a:p>
        </p:txBody>
      </p:sp>
      <p:sp>
        <p:nvSpPr>
          <p:cNvPr id="9" name="">
            <a:extLst xmlns:a="http://schemas.openxmlformats.org/drawingml/2006/main">
              <a:ext uri="{FF2B5EF4-FFF2-40B4-BE49-F238E27FC236}">
                <a16:creationId xmlns:a16="http://schemas.microsoft.com/office/drawing/2014/main" id="{6A497CD2-A7E1-4EA1-88DF-DD5C11C623CC}"/>
              </a:ext>
            </a:extLst>
          </p:cNvPr>
          <p:cNvSpPr>
            <a:spLocks xmlns:a="http://schemas.openxmlformats.org/drawingml/2006/main" noGrp="1"/>
          </p:cNvSpPr>
          <p:nvPr/>
        </p:nvSpPr>
        <p:spPr>
          <a:xfrm xmlns:a="http://schemas.openxmlformats.org/drawingml/2006/main">
            <a:off x="6096000" y="1619250"/>
            <a:ext cx="0" cy="3143250"/>
          </a:xfrm>
          <a:prstGeom xmlns:a="http://schemas.openxmlformats.org/drawingml/2006/main" prst="line">
            <a:avLst/>
          </a:prstGeom>
          <a:noFill xmlns:a="http://schemas.openxmlformats.org/drawingml/2006/main"/>
          <a:ln xmlns:a="http://schemas.openxmlformats.org/drawingml/2006/main" w="19050">
            <a:solidFill>
              <a:srgbClr val="C8D8CF"/>
            </a:solidFill>
          </a:ln>
        </p:spPr>
      </p:sp>
      <p:sp>
        <p:nvSpPr>
          <p:cNvPr id="10" name="">
            <a:extLst xmlns:a="http://schemas.openxmlformats.org/drawingml/2006/main">
              <a:ext uri="{FF2B5EF4-FFF2-40B4-BE49-F238E27FC236}">
                <a16:creationId xmlns:a16="http://schemas.microsoft.com/office/drawing/2014/main" id="{03C481B4-A484-4FDA-A9A2-AE1B405DBF81}"/>
              </a:ext>
            </a:extLst>
          </p:cNvPr>
          <p:cNvSpPr>
            <a:spLocks xmlns:a="http://schemas.openxmlformats.org/drawingml/2006/main" noGrp="1"/>
          </p:cNvSpPr>
          <p:nvPr/>
        </p:nvSpPr>
        <p:spPr>
          <a:xfrm xmlns:a="http://schemas.openxmlformats.org/drawingml/2006/main">
            <a:off x="6705600" y="167640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b="1">
                <a:solidFill>
                  <a:srgbClr val="D79B2D"/>
                </a:solidFill>
                <a:latin typeface="Noto Sans"/>
                <a:ea typeface="Noto Sans"/>
                <a:cs typeface="Noto Sans"/>
              </a:defRPr>
            </a:pPr>
            <a:r>
              <a:rPr sz="2100" b="1">
                <a:solidFill>
                  <a:srgbClr val="D79B2D"/>
                </a:solidFill>
                <a:latin typeface="Noto Sans"/>
                <a:ea typeface="Noto Sans"/>
                <a:cs typeface="Noto Sans"/>
              </a:rPr>
              <a:t>Giới hạn công bố</a:t>
            </a:r>
          </a:p>
        </p:txBody>
      </p:sp>
      <p:sp>
        <p:nvSpPr>
          <p:cNvPr id="11" name="">
            <a:extLst xmlns:a="http://schemas.openxmlformats.org/drawingml/2006/main">
              <a:ext uri="{FF2B5EF4-FFF2-40B4-BE49-F238E27FC236}">
                <a16:creationId xmlns:a16="http://schemas.microsoft.com/office/drawing/2014/main" id="{05340CE1-B706-491B-8D1D-33C07F595FB6}"/>
              </a:ext>
            </a:extLst>
          </p:cNvPr>
          <p:cNvSpPr>
            <a:spLocks xmlns:a="http://schemas.openxmlformats.org/drawingml/2006/main" noGrp="1"/>
          </p:cNvSpPr>
          <p:nvPr/>
        </p:nvSpPr>
        <p:spPr>
          <a:xfrm xmlns:a="http://schemas.openxmlformats.org/drawingml/2006/main">
            <a:off x="6705600" y="2266950"/>
            <a:ext cx="46101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Chưa có kiểm chứng hình thức hoặc bao phủ toàn bộ</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PurpleAir không phải thiết bị đo chuẩn quy định</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Dữ liệu 10 phút bao phủ khoảng sáu tuần</a:t>
            </a:r>
          </a:p>
          <a:p xmlns:a="http://schemas.openxmlformats.org/drawingml/2006/main">
            <a:pPr>
              <a:defRPr sz="1500" b="0">
                <a:solidFill>
                  <a:srgbClr val="17352B"/>
                </a:solidFill>
                <a:latin typeface="Noto Sans"/>
                <a:ea typeface="Noto Sans"/>
                <a:cs typeface="Noto Sans"/>
              </a:defRPr>
            </a:pPr>
            <a:r>
              <a:rPr sz="1500" b="0">
                <a:solidFill>
                  <a:srgbClr val="17352B"/>
                </a:solidFill>
                <a:latin typeface="Noto Sans"/>
                <a:ea typeface="Noto Sans"/>
                <a:cs typeface="Noto Sans"/>
              </a:rPr>
              <a:t>• CAMS thiếu tổng cộng 1.056 giờ</a:t>
            </a:r>
          </a:p>
        </p:txBody>
      </p:sp>
      <p:sp>
        <p:nvSpPr>
          <p:cNvPr id="12" name="">
            <a:extLst xmlns:a="http://schemas.openxmlformats.org/drawingml/2006/main">
              <a:ext uri="{FF2B5EF4-FFF2-40B4-BE49-F238E27FC236}">
                <a16:creationId xmlns:a16="http://schemas.microsoft.com/office/drawing/2014/main" id="{BC82DDE1-410E-4DEE-B99A-4786D0A89F5B}"/>
              </a:ext>
            </a:extLst>
          </p:cNvPr>
          <p:cNvSpPr>
            <a:spLocks xmlns:a="http://schemas.openxmlformats.org/drawingml/2006/main" noGrp="1"/>
          </p:cNvSpPr>
          <p:nvPr/>
        </p:nvSpPr>
        <p:spPr>
          <a:xfrm xmlns:a="http://schemas.openxmlformats.org/drawingml/2006/main">
            <a:off x="11068050" y="645795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r">
              <a:defRPr sz="975" b="1">
                <a:solidFill>
                  <a:srgbClr val="5D6B66"/>
                </a:solidFill>
                <a:latin typeface="Noto Sans"/>
                <a:ea typeface="Noto Sans"/>
                <a:cs typeface="Noto Sans"/>
              </a:defRPr>
            </a:pPr>
            <a:r>
              <a:rPr sz="975" b="1">
                <a:solidFill>
                  <a:srgbClr val="5D6B66"/>
                </a:solidFill>
                <a:latin typeface="Noto Sans"/>
                <a:ea typeface="Noto Sans"/>
                <a:cs typeface="Noto Sans"/>
              </a:rPr>
              <a:t>12</a:t>
            </a:r>
          </a:p>
        </p:txBody>
      </p:sp>
    </p:spTree>
    <p:extLst>
      <p:ext uri="{BB962C8B-B14F-4D97-AF65-F5344CB8AC3E}">
        <p14:creationId xmlns:p14="http://schemas.microsoft.com/office/powerpoint/2010/main" val="1297397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2026-09-07T17:01:15.6730000Z</dcterms:created>
  <dcterms:modified xsi:type="dcterms:W3CDTF">2026-09-07T17:01:15.6740000Z</dcterms:modified>
</coreProperties>
</file>