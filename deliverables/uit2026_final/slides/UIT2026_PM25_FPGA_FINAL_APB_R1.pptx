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c92fe900a814fff" /><Relationship Type="http://schemas.openxmlformats.org/officeDocument/2006/relationships/extended-properties" Target="/docProps/app.xml" Id="R8db28706b80748d8" /><Relationship Type="http://schemas.openxmlformats.org/officeDocument/2006/relationships/officeDocument" Target="/ppt/presentation.xml" Id="R8ce768ba66dc4cfa" /></Relationships>
</file>

<file path=ppt/presentation.xml><?xml version="1.0" encoding="utf-8"?>
<p:presentation xmlns:p="http://schemas.openxmlformats.org/presentationml/2006/main">
  <p:sldMasterIdLst>
    <p:sldMasterId xmlns:r="http://schemas.openxmlformats.org/officeDocument/2006/relationships" id="2147483648" r:id="R8561109c0e3742f9"/>
  </p:sldMasterIdLst>
  <p:notesMasterIdLst>
    <p:notesMasterId xmlns:r="http://schemas.openxmlformats.org/officeDocument/2006/relationships" r:id="Reea91e00141f4961"/>
  </p:notesMasterIdLst>
  <p:sldIdLst>
    <p:sldId xmlns:r="http://schemas.openxmlformats.org/officeDocument/2006/relationships" id="256" r:id="Rb82802daa7f44d54"/>
    <p:sldId xmlns:r="http://schemas.openxmlformats.org/officeDocument/2006/relationships" id="257" r:id="Rbe556c1ccdbf4130"/>
    <p:sldId xmlns:r="http://schemas.openxmlformats.org/officeDocument/2006/relationships" id="258" r:id="Radca2c92d6424f7b"/>
    <p:sldId xmlns:r="http://schemas.openxmlformats.org/officeDocument/2006/relationships" id="259" r:id="R4de894203c0b4f0a"/>
    <p:sldId xmlns:r="http://schemas.openxmlformats.org/officeDocument/2006/relationships" id="260" r:id="R019413850d5d4bd4"/>
    <p:sldId xmlns:r="http://schemas.openxmlformats.org/officeDocument/2006/relationships" id="261" r:id="R3faeaa50d86c4e4b"/>
    <p:sldId xmlns:r="http://schemas.openxmlformats.org/officeDocument/2006/relationships" id="262" r:id="Rd3aa87be9e6c4bd5"/>
    <p:sldId xmlns:r="http://schemas.openxmlformats.org/officeDocument/2006/relationships" id="263" r:id="Rc27fb93c10884b7c"/>
    <p:sldId xmlns:r="http://schemas.openxmlformats.org/officeDocument/2006/relationships" id="264" r:id="R06dd3a66636d4427"/>
    <p:sldId xmlns:r="http://schemas.openxmlformats.org/officeDocument/2006/relationships" id="265" r:id="Rd4bf29ed8b4d46eb"/>
    <p:sldId xmlns:r="http://schemas.openxmlformats.org/officeDocument/2006/relationships" id="266" r:id="R02571362dd654362"/>
    <p:sldId xmlns:r="http://schemas.openxmlformats.org/officeDocument/2006/relationships" id="267" r:id="R61525a5c7d7d471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631ae0bfe734ead" /><Relationship Type="http://schemas.openxmlformats.org/officeDocument/2006/relationships/slideMaster" Target="/ppt/slideMasters/slideMaster1.xml" Id="R8561109c0e3742f9" /><Relationship Type="http://schemas.openxmlformats.org/officeDocument/2006/relationships/notesMaster" Target="/ppt/notesMasters/notesMaster1.xml" Id="Reea91e00141f4961" /><Relationship Type="http://schemas.openxmlformats.org/officeDocument/2006/relationships/presProps" Target="/ppt/presProps.xml" Id="Ra238e078696b4a1c" /><Relationship Type="http://schemas.openxmlformats.org/officeDocument/2006/relationships/tableStyles" Target="/ppt/tableStyles.xml" Id="R257ae06776424b3d" /><Relationship Type="http://schemas.openxmlformats.org/officeDocument/2006/relationships/slide" Target="/ppt/slides/slide1.xml" Id="Rb82802daa7f44d54" /><Relationship Type="http://schemas.openxmlformats.org/officeDocument/2006/relationships/slide" Target="/ppt/slides/slide2.xml" Id="Rbe556c1ccdbf4130" /><Relationship Type="http://schemas.openxmlformats.org/officeDocument/2006/relationships/slide" Target="/ppt/slides/slide3.xml" Id="Radca2c92d6424f7b" /><Relationship Type="http://schemas.openxmlformats.org/officeDocument/2006/relationships/slide" Target="/ppt/slides/slide4.xml" Id="R4de894203c0b4f0a" /><Relationship Type="http://schemas.openxmlformats.org/officeDocument/2006/relationships/slide" Target="/ppt/slides/slide5.xml" Id="R019413850d5d4bd4" /><Relationship Type="http://schemas.openxmlformats.org/officeDocument/2006/relationships/slide" Target="/ppt/slides/slide6.xml" Id="R3faeaa50d86c4e4b" /><Relationship Type="http://schemas.openxmlformats.org/officeDocument/2006/relationships/slide" Target="/ppt/slides/slide7.xml" Id="Rd3aa87be9e6c4bd5" /><Relationship Type="http://schemas.openxmlformats.org/officeDocument/2006/relationships/slide" Target="/ppt/slides/slide8.xml" Id="Rc27fb93c10884b7c" /><Relationship Type="http://schemas.openxmlformats.org/officeDocument/2006/relationships/slide" Target="/ppt/slides/slide9.xml" Id="R06dd3a66636d4427" /><Relationship Type="http://schemas.openxmlformats.org/officeDocument/2006/relationships/slide" Target="/ppt/slides/slide10.xml" Id="Rd4bf29ed8b4d46eb" /><Relationship Type="http://schemas.openxmlformats.org/officeDocument/2006/relationships/slide" Target="/ppt/slides/slide11.xml" Id="R02571362dd654362" /><Relationship Type="http://schemas.openxmlformats.org/officeDocument/2006/relationships/slide" Target="/ppt/slides/slide12.xml" Id="R61525a5c7d7d471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4f8424c6601424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c28926e1ea04d52" /><Relationship Type="http://schemas.openxmlformats.org/officeDocument/2006/relationships/notesMaster" Target="/ppt/notesMasters/notesMaster1.xml" Id="Rdba9ea1e594b4a9f" /></Relationships>
</file>

<file path=ppt/notesSlides/_rels/notesSlide2.xml.rels>&#65279;<?xml version="1.0" encoding="utf-8"?><Relationships xmlns="http://schemas.openxmlformats.org/package/2006/relationships"><Relationship Type="http://schemas.openxmlformats.org/officeDocument/2006/relationships/slide" Target="/ppt/slides/slide2.xml" Id="R07c30efc957c48dc" /><Relationship Type="http://schemas.openxmlformats.org/officeDocument/2006/relationships/notesMaster" Target="/ppt/notesMasters/notesMaster1.xml" Id="R21f5ed6d26af403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ea73c1d65084f10" /><Relationship Type="http://schemas.openxmlformats.org/officeDocument/2006/relationships/notesMaster" Target="/ppt/notesMasters/notesMaster1.xml" Id="R5c6baf0dde624b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f389704a52de428e" /><Relationship Type="http://schemas.openxmlformats.org/officeDocument/2006/relationships/notesMaster" Target="/ppt/notesMasters/notesMaster1.xml" Id="Rd14cff3cbe624a63" /></Relationships>
</file>

<file path=ppt/notesSlides/_rels/notesSlide5.xml.rels>&#65279;<?xml version="1.0" encoding="utf-8"?><Relationships xmlns="http://schemas.openxmlformats.org/package/2006/relationships"><Relationship Type="http://schemas.openxmlformats.org/officeDocument/2006/relationships/slide" Target="/ppt/slides/slide5.xml" Id="R7407393bdbb5452d" /><Relationship Type="http://schemas.openxmlformats.org/officeDocument/2006/relationships/notesMaster" Target="/ppt/notesMasters/notesMaster1.xml" Id="Ra1a308a83c644315" /></Relationships>
</file>

<file path=ppt/notesSlides/_rels/notesSlide6.xml.rels>&#65279;<?xml version="1.0" encoding="utf-8"?><Relationships xmlns="http://schemas.openxmlformats.org/package/2006/relationships"><Relationship Type="http://schemas.openxmlformats.org/officeDocument/2006/relationships/slide" Target="/ppt/slides/slide6.xml" Id="R8d12c9132c374576" /><Relationship Type="http://schemas.openxmlformats.org/officeDocument/2006/relationships/notesMaster" Target="/ppt/notesMasters/notesMaster1.xml" Id="Rfa5b2d90ee6842be" /></Relationships>
</file>

<file path=ppt/notesSlides/_rels/notesSlide7.xml.rels>&#65279;<?xml version="1.0" encoding="utf-8"?><Relationships xmlns="http://schemas.openxmlformats.org/package/2006/relationships"><Relationship Type="http://schemas.openxmlformats.org/officeDocument/2006/relationships/slide" Target="/ppt/slides/slide7.xml" Id="Rde662e07e66141e1" /><Relationship Type="http://schemas.openxmlformats.org/officeDocument/2006/relationships/notesMaster" Target="/ppt/notesMasters/notesMaster1.xml" Id="R3b1f9958f2694d49" /></Relationships>
</file>

<file path=ppt/notesSlides/_rels/notesSlide8.xml.rels>&#65279;<?xml version="1.0" encoding="utf-8"?><Relationships xmlns="http://schemas.openxmlformats.org/package/2006/relationships"><Relationship Type="http://schemas.openxmlformats.org/officeDocument/2006/relationships/slide" Target="/ppt/slides/slide8.xml" Id="R34a2e731e35f436f" /><Relationship Type="http://schemas.openxmlformats.org/officeDocument/2006/relationships/notesMaster" Target="/ppt/notesMasters/notesMaster1.xml" Id="R9869d0238e404f7f" /></Relationships>
</file>

<file path=ppt/notesSlides/_rels/notesSlide9.xml.rels>&#65279;<?xml version="1.0" encoding="utf-8"?><Relationships xmlns="http://schemas.openxmlformats.org/package/2006/relationships"><Relationship Type="http://schemas.openxmlformats.org/officeDocument/2006/relationships/slide" Target="/ppt/slides/slide9.xml" Id="R8c6d543a66ed4c7d" /><Relationship Type="http://schemas.openxmlformats.org/officeDocument/2006/relationships/notesMaster" Target="/ppt/notesMasters/notesMaster1.xml" Id="R53e72db2fcef42b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fed226b035a42fd" /><Relationship Type="http://schemas.openxmlformats.org/officeDocument/2006/relationships/notesMaster" Target="/ppt/notesMasters/notesMaster1.xml" Id="Ra879082ce3824ec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e50c7c93d564f65" /><Relationship Type="http://schemas.openxmlformats.org/officeDocument/2006/relationships/notesMaster" Target="/ppt/notesMasters/notesMaster1.xml" Id="R655dda531bc64d9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af26948f42e4699" /><Relationship Type="http://schemas.openxmlformats.org/officeDocument/2006/relationships/notesMaster" Target="/ppt/notesMasters/notesMaster1.xml" Id="R16472d3f779747b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0:00-0:20. Kính thưa Hội đồng, nhóm trình bày đề tài Thiết kế IP xử lý và cảnh báo bụi mịn PM2.5 trên FPGA. Sản phẩm trung tâm là lõi RTL dùng số học x16. Lõi có giao diện APB3 để tích hợp SoC và giao diện UART riêng để kiểm chứng trên Tang Nano 9K.</a:t>
            </a:r>
          </a:p>
          <a:p xmlns:a="http://schemas.openxmlformats.org/drawingml/2006/main">
            <a:r>
              <a:t/>
            </a:r>
          </a:p>
          <a:p xmlns:a="http://schemas.openxmlformats.org/drawingml/2006/main">
            <a:r>
              <a:t>Nguồn:</a:t>
            </a:r>
          </a:p>
          <a:p xmlns:a="http://schemas.openxmlformats.org/drawingml/2006/main">
            <a:r>
              <a:t>- UIT2026_PM25_FPGA_FINAL_REPORT.pdf, Tóm tắt và mục 1.2</a:t>
            </a:r>
          </a:p>
          <a:p xmlns:a="http://schemas.openxmlformats.org/drawingml/2006/main">
            <a:r>
              <a:t>- PM25_SOC_IP_FINALIZATION_SPEC.md</a:t>
            </a:r>
          </a:p>
          <a:p xmlns:a="http://schemas.openxmlformats.org/drawingml/2006/main">
            <a:r>
              <a:t>- Logo UIT và FCE kế thừa từ UIT2026_PM25_FPGA_FINAL_CE_REFINED.pptx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0:20-1:00. CAMS cung cấp nền theo vùng và theo giờ, nhưng có thể chưa phản ánh sát một vị trí cụ thể. PurpleAir quan sát cục bộ mỗi 10 phút, song dữ liệu chỉ được dùng để cập nhật độ lệch khi vượt qua QC. Khi PurpleAir thiếu hoặc không đạt QC, CAMS và trạng thái hiện có vẫn tạo được đầu ra.</a:t>
            </a:r>
          </a:p>
          <a:p xmlns:a="http://schemas.openxmlformats.org/drawingml/2006/main">
            <a:r>
              <a:t/>
            </a:r>
          </a:p>
          <a:p xmlns:a="http://schemas.openxmlformats.org/drawingml/2006/main">
            <a:r>
              <a:t>Nguồn:</a:t>
            </a:r>
          </a:p>
          <a:p xmlns:a="http://schemas.openxmlformats.org/drawingml/2006/main">
            <a:r>
              <a:t>- UIT2026_PM25_FPGA_FINAL_REPORT.pdf, mục 1.1, 2.1 và 2.2</a:t>
            </a:r>
          </a:p>
          <a:p xmlns:a="http://schemas.openxmlformats.org/drawingml/2006/main">
            <a:r>
              <a:t>- https://open-meteo.com/en/docs/air-quality-api</a:t>
            </a:r>
          </a:p>
          <a:p xmlns:a="http://schemas.openxmlformats.org/drawingml/2006/main">
            <a:r>
              <a:t>- https://api.purpleair.com/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1:00-1:50. Lõi pm25_alert_core không phụ thuộc bus. Khi tích hợp SoC, bộ xử lý truy cập lõi qua pm25_apb_wrapper. Khi kiểm chứng bo mạch, máy tính dùng pm25_uart_demo_top. Hai frontend độc lập và cùng tái sử dụng một lõi. APB không đi xuyên qua UART. Thiết bị chủ vẫn chịu trách nhiệm thu thập, QC và chuẩn bị dữ liệu x16.</a:t>
            </a:r>
          </a:p>
          <a:p xmlns:a="http://schemas.openxmlformats.org/drawingml/2006/main">
            <a:r>
              <a:t/>
            </a:r>
          </a:p>
          <a:p xmlns:a="http://schemas.openxmlformats.org/drawingml/2006/main">
            <a:r>
              <a:t>Nguồn:</a:t>
            </a:r>
          </a:p>
          <a:p xmlns:a="http://schemas.openxmlformats.org/drawingml/2006/main">
            <a:r>
              <a:t>- UIT2026_PM25_FPGA_FINAL_REPORT.pdf, mục 3.1</a:t>
            </a:r>
          </a:p>
          <a:p xmlns:a="http://schemas.openxmlformats.org/drawingml/2006/main">
            <a:r>
              <a:t>- PM25_SOC_IP_FINALIZATION_SPEC.md</a:t>
            </a:r>
          </a:p>
          <a:p xmlns:a="http://schemas.openxmlformats.org/drawingml/2006/main">
            <a:r>
              <a:t>- docs/ip/ARCHITECTURE.md</a:t>
            </a:r>
          </a:p>
          <a:p xmlns:a="http://schemas.openxmlformats.org/drawingml/2006/main">
            <a:r>
              <a:t>- docs/ip/VERIFICATION.md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1:50-2:40. Lõi tính residual bằng PurpleAir trừ CAMS, sau đó so với bias hiện tại. Với S bằng 3, phép chia cho tám trở thành dịch phải số học ba bit. Đầu ra của mẫu hiện tại dùng bias_before, còn bias_after chỉ ảnh hưởng từ mẫu sau. Khi qc_ok bằng không, lõi vẫn tạo fused nhưng giữ nguyên bias.</a:t>
            </a:r>
          </a:p>
          <a:p xmlns:a="http://schemas.openxmlformats.org/drawingml/2006/main">
            <a:r>
              <a:t/>
            </a:r>
          </a:p>
          <a:p xmlns:a="http://schemas.openxmlformats.org/drawingml/2006/main">
            <a:r>
              <a:t>Nguồn:</a:t>
            </a:r>
          </a:p>
          <a:p xmlns:a="http://schemas.openxmlformats.org/drawingml/2006/main">
            <a:r>
              <a:t>- UIT2026_PM25_FPGA_FINAL_REPORT.pdf, mục 2.3, 2.4 và 3.2</a:t>
            </a:r>
          </a:p>
          <a:p xmlns:a="http://schemas.openxmlformats.org/drawingml/2006/main">
            <a:r>
              <a:t>- rtl/core/pm25_alert_core.v</a:t>
            </a:r>
          </a:p>
          <a:p xmlns:a="http://schemas.openxmlformats.org/drawingml/2006/main">
            <a:r>
              <a:t>- rtl/core/bias_update.v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2:40-3:30. APB3 dùng bus dữ liệu 32 bit, hoàn tất mỗi truy cập mà không chèn chu kỳ đợi và hoạt động trong một miền PCLK. Phần mềm ghi payload, phát lệnh PROCESS, theo dõi BUSY và DONE rồi đọc kết quả. Khi chấp nhận lệnh, wrapper chốt nguyên tử toàn bộ payload. Các truy cập sai và PROCESS trong lúc bận trả về PSLVERR. Testbench APB3 đạt 89 giao dịch và 325 phép kiểm.</a:t>
            </a:r>
          </a:p>
          <a:p xmlns:a="http://schemas.openxmlformats.org/drawingml/2006/main">
            <a:r>
              <a:t/>
            </a:r>
          </a:p>
          <a:p xmlns:a="http://schemas.openxmlformats.org/drawingml/2006/main">
            <a:r>
              <a:t>Nguồn:</a:t>
            </a:r>
          </a:p>
          <a:p xmlns:a="http://schemas.openxmlformats.org/drawingml/2006/main">
            <a:r>
              <a:t>- UIT2026_PM25_FPGA_FINAL_REPORT.pdf, mục 3.3 và Bảng 4.1</a:t>
            </a:r>
          </a:p>
          <a:p xmlns:a="http://schemas.openxmlformats.org/drawingml/2006/main">
            <a:r>
              <a:t>- PM25_SOC_IP_FINALIZATION_SPEC.md</a:t>
            </a:r>
          </a:p>
          <a:p xmlns:a="http://schemas.openxmlformats.org/drawingml/2006/main">
            <a:r>
              <a:t>- docs/ip/APB3_INTERFACE.md</a:t>
            </a:r>
          </a:p>
          <a:p xmlns:a="http://schemas.openxmlformats.org/drawingml/2006/main">
            <a:r>
              <a:t>- docs/ip/REGISTER_MAP.md</a:t>
            </a:r>
          </a:p>
          <a:p xmlns:a="http://schemas.openxmlformats.org/drawingml/2006/main">
            <a:r>
              <a:t>- docs/ip/VERIFICATION.md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3:30-4:10. Tập dữ liệu chốt có 4.137 mẫu PurpleAir 10 phút. Sau tổng hợp có 1.309 giờ chứa bản ghi nguồn, 1.226 giờ tạo được giá trị đại diện và 553 giờ đạt QC nghiêm ngặt. CAMS giữ 13.704 bản ghi giờ. Trong 12.395 giờ thiếu bản ghi PurpleAir, lõi vẫn tạo đầu ra bằng CAMS cộng trạng thái độ lệch hiện tại.</a:t>
            </a:r>
          </a:p>
          <a:p xmlns:a="http://schemas.openxmlformats.org/drawingml/2006/main">
            <a:r>
              <a:t/>
            </a:r>
          </a:p>
          <a:p xmlns:a="http://schemas.openxmlformats.org/drawingml/2006/main">
            <a:r>
              <a:t>Nguồn:</a:t>
            </a:r>
          </a:p>
          <a:p xmlns:a="http://schemas.openxmlformats.org/drawingml/2006/main">
            <a:r>
              <a:t>- UIT2026_PM25_FPGA_FINAL_REPORT.pdf, mục 2.1, 2.2 và Bảng 2.1</a:t>
            </a:r>
          </a:p>
          <a:p xmlns:a="http://schemas.openxmlformats.org/drawingml/2006/main">
            <a:r>
              <a:t>- deliverables/uit2026_final/evidence_snapshot/pm25_data_migration_qc.json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4:10-5:05. Trên 415 giờ kiểm định, CAMS có MAE 15,8884. Phiên bản IP v1 dùng S bằng 3, tương ứng alpha một phần tám, với MAE sau hiệu chỉnh 4,7259 và độ lệch chuẩn trạng thái 51,75 theo x16. S bằng 2 giảm MAE xuống 4,2633 nhưng độ biến động trạng thái tăng lên 71,23 x16. Bảng đầy đủ nằm trong slide kỹ thuật 11.</a:t>
            </a:r>
          </a:p>
          <a:p xmlns:a="http://schemas.openxmlformats.org/drawingml/2006/main">
            <a:r>
              <a:t/>
            </a:r>
          </a:p>
          <a:p xmlns:a="http://schemas.openxmlformats.org/drawingml/2006/main">
            <a:r>
              <a:t>Nguồn:</a:t>
            </a:r>
          </a:p>
          <a:p xmlns:a="http://schemas.openxmlformats.org/drawingml/2006/main">
            <a:r>
              <a:t>- UIT2026_PM25_FPGA_FINAL_REPORT.pdf, mục 4.2 và Bảng 4.2</a:t>
            </a:r>
          </a:p>
          <a:p xmlns:a="http://schemas.openxmlformats.org/drawingml/2006/main">
            <a:r>
              <a:t>- reports/stage3_report_metrics.json</a:t>
            </a:r>
          </a:p>
          <a:p xmlns:a="http://schemas.openxmlformats.org/drawingml/2006/main">
            <a:r>
              <a:t>- data/test_vectors/alpha_shift/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5:05-6:30. Cấu hình UART trên Tang Nano 9K dùng 490 trên 8.640 phần tử logic và 283 trên 6.693 thanh ghi. Tần số cực đại sau định tuyến là 58,705 MHz so với mục tiêu 27 MHz, không có điểm cuối vi phạm thiết lập hoặc giữ. Cả 140 giao dịch UART vật lý đều khớp mô hình tham chiếu. Giao diện APB3 đã đạt 89 giao dịch và 325 phép kiểm trong mô phỏng RTL. Hai kết quả này cùng củng cố khả năng tái sử dụng của lõi, nhưng thuộc hai mức kiểm chứng khác nhau. Xin mời Hội đồng theo dõi phần demo trực tiếp.</a:t>
            </a:r>
          </a:p>
          <a:p xmlns:a="http://schemas.openxmlformats.org/drawingml/2006/main">
            <a:r>
              <a:t/>
            </a:r>
          </a:p>
          <a:p xmlns:a="http://schemas.openxmlformats.org/drawingml/2006/main">
            <a:r>
              <a:t>Nguồn:</a:t>
            </a:r>
          </a:p>
          <a:p xmlns:a="http://schemas.openxmlformats.org/drawingml/2006/main">
            <a:r>
              <a:t>- UIT2026_PM25_FPGA_FINAL_REPORT.pdf, mục 4.1, 4.3, Bảng 4.3 và 4.4</a:t>
            </a:r>
          </a:p>
          <a:p xmlns:a="http://schemas.openxmlformats.org/drawingml/2006/main">
            <a:r>
              <a:t>- reports/fpga/gowin_implementation_summary.json</a:t>
            </a:r>
          </a:p>
          <a:p xmlns:a="http://schemas.openxmlformats.org/drawingml/2006/main">
            <a:r>
              <a:t>- reports/fpga/hardware_validation.json</a:t>
            </a:r>
          </a:p>
          <a:p xmlns:a="http://schemas.openxmlformats.org/drawingml/2006/main">
            <a:r>
              <a:t>- reports/engineering_freeze_v2/PM25_SOC_IP_FREEZE_V2_VERIFICATION.md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kỹ thuật dùng khi Hội đồng hỏi về tích hợp phần mềm. Bản đồ gồm đúng 10 thanh ghi công khai từ 0x00 đến 0x24. Các giá trị CAMS, PurpleAir, kết quả và bias là số nguyên có dấu 32 bit theo hệ số x16.</a:t>
            </a:r>
          </a:p>
          <a:p xmlns:a="http://schemas.openxmlformats.org/drawingml/2006/main">
            <a:r>
              <a:t/>
            </a:r>
          </a:p>
          <a:p xmlns:a="http://schemas.openxmlformats.org/drawingml/2006/main">
            <a:r>
              <a:t>Nguồn:</a:t>
            </a:r>
          </a:p>
          <a:p xmlns:a="http://schemas.openxmlformats.org/drawingml/2006/main">
            <a:r>
              <a:t>- UIT2026_PM25_FPGA_FINAL_REPORT.pdf, Bảng 3.1</a:t>
            </a:r>
          </a:p>
          <a:p xmlns:a="http://schemas.openxmlformats.org/drawingml/2006/main">
            <a:r>
              <a:t>- PM25_SOC_IP_FINALIZATION_SPEC.md</a:t>
            </a:r>
          </a:p>
          <a:p xmlns:a="http://schemas.openxmlformats.org/drawingml/2006/main">
            <a:r>
              <a:t>- docs/ip/REGISTER_MAP.md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kỹ thuật dùng khi Hội đồng hỏi về demo hoặc giao thức UART. Gói vào dài 9 byte và gói ra dài 10 byte. Các trường 16 bit truyền byte cao trước. Tổng kiểm là tám bit thấp của tổng các byte trước nó. Gói sai tổng kiểm bị loại trước khi tới lõi.</a:t>
            </a:r>
          </a:p>
          <a:p xmlns:a="http://schemas.openxmlformats.org/drawingml/2006/main">
            <a:r>
              <a:t/>
            </a:r>
          </a:p>
          <a:p xmlns:a="http://schemas.openxmlformats.org/drawingml/2006/main">
            <a:r>
              <a:t>Nguồn:</a:t>
            </a:r>
          </a:p>
          <a:p xmlns:a="http://schemas.openxmlformats.org/drawingml/2006/main">
            <a:r>
              <a:t>- UIT2026_PM25_FPGA_FINAL_REPORT.pdf, mục 3.4 và Bảng 3.2</a:t>
            </a:r>
          </a:p>
          <a:p xmlns:a="http://schemas.openxmlformats.org/drawingml/2006/main">
            <a:r>
              <a:t>- demo/uart/pm25_uart_feeder.py</a:t>
            </a:r>
          </a:p>
          <a:p xmlns:a="http://schemas.openxmlformats.org/drawingml/2006/main">
            <a:r>
              <a:t>- docs/design_notes/ip/13_uart_laptop_demo_protocol.md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kỹ thuật dùng khi Hội đồng hỏi sâu về lựa chọn hệ số. Bảng giữ nguyên đầy đủ các số liệu trong báo cáo. Phiên bản v1 dùng S bằng 3. Trên tập kiểm định này, S bằng 2 có MAE thấp hơn và độ lệch chuẩn trạng thái lớn hơn.</a:t>
            </a:r>
          </a:p>
          <a:p xmlns:a="http://schemas.openxmlformats.org/drawingml/2006/main">
            <a:r>
              <a:t/>
            </a:r>
          </a:p>
          <a:p xmlns:a="http://schemas.openxmlformats.org/drawingml/2006/main">
            <a:r>
              <a:t>Nguồn:</a:t>
            </a:r>
          </a:p>
          <a:p xmlns:a="http://schemas.openxmlformats.org/drawingml/2006/main">
            <a:r>
              <a:t>- UIT2026_PM25_FPGA_FINAL_REPORT.pdf, Bảng 4.2</a:t>
            </a:r>
          </a:p>
          <a:p xmlns:a="http://schemas.openxmlformats.org/drawingml/2006/main">
            <a:r>
              <a:t>- reports/stage3_report_metrics.json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kỹ thuật dùng khi Hội đồng hỏi về mức độ tin cậy. Cần phân biệt mô phỏng RTL của APB3 với bằng chứng Gowin và kiểm chứng bo mạch của cấu hình UART. Các kết quả dữ liệu cũng chỉ áp dụng cho tập dữ liệu và khoảng thời gian được công bố.</a:t>
            </a:r>
          </a:p>
          <a:p xmlns:a="http://schemas.openxmlformats.org/drawingml/2006/main">
            <a:r>
              <a:t/>
            </a:r>
          </a:p>
          <a:p xmlns:a="http://schemas.openxmlformats.org/drawingml/2006/main">
            <a:r>
              <a:t>Nguồn:</a:t>
            </a:r>
          </a:p>
          <a:p xmlns:a="http://schemas.openxmlformats.org/drawingml/2006/main">
            <a:r>
              <a:t>- UIT2026_PM25_FPGA_FINAL_REPORT.pdf, mục 4.1, 4.3 và 5.2</a:t>
            </a:r>
          </a:p>
          <a:p xmlns:a="http://schemas.openxmlformats.org/drawingml/2006/main">
            <a:r>
              <a:t>- reports/engineering_freeze_v2/PM25_SOC_IP_FREEZE_V2_VERIFICATION.md</a:t>
            </a:r>
          </a:p>
          <a:p xmlns:a="http://schemas.openxmlformats.org/drawingml/2006/main">
            <a:r>
              <a:t>- reports/fpga/gowin_implementation_summary.md</a:t>
            </a:r>
          </a:p>
          <a:p xmlns:a="http://schemas.openxmlformats.org/drawingml/2006/main">
            <a:r>
              <a:t>- reports/fpga/hardware_validation.md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7bb99dff7e048a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e7a12b6eaad4332" /><Relationship Type="http://schemas.openxmlformats.org/officeDocument/2006/relationships/slideLayout" Target="/ppt/slideLayouts/slideLayout1.xml" Id="R3ff5f49bf8e541d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ff5f49bf8e541d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0f7d7c4a446407d" /><Relationship Type="http://schemas.openxmlformats.org/officeDocument/2006/relationships/image" Target="/ppt/media/image.png" Id="R830ffe254e854ffa" /><Relationship Type="http://schemas.openxmlformats.org/officeDocument/2006/relationships/image" Target="/ppt/media/image2.png" Id="R443afa4afcbe4dac" /><Relationship Type="http://schemas.openxmlformats.org/officeDocument/2006/relationships/notesSlide" Target="/ppt/notesSlides/notesSlide1.xml" Id="R685b56a8ab4a420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72498d7e4244153" /><Relationship Type="http://schemas.openxmlformats.org/officeDocument/2006/relationships/image" Target="/ppt/media/image3.png" Id="R8a1eb59f0a0f4510" /><Relationship Type="http://schemas.openxmlformats.org/officeDocument/2006/relationships/image" Target="/ppt/media/image4.png" Id="Rc2b3816ad3034554" /><Relationship Type="http://schemas.openxmlformats.org/officeDocument/2006/relationships/notesSlide" Target="/ppt/notesSlides/notesSlide2.xml" Id="Rb818de9857a44eb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dd93453f16848d7" /><Relationship Type="http://schemas.openxmlformats.org/officeDocument/2006/relationships/image" Target="/ppt/media/image5.png" Id="Rf3fa4f9019eb464f" /><Relationship Type="http://schemas.openxmlformats.org/officeDocument/2006/relationships/image" Target="/ppt/media/image6.png" Id="R71565b9401604b3e" /><Relationship Type="http://schemas.openxmlformats.org/officeDocument/2006/relationships/notesSlide" Target="/ppt/notesSlides/notesSlide3.xml" Id="R34739296a9a141c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5d81b6749d549da" /><Relationship Type="http://schemas.openxmlformats.org/officeDocument/2006/relationships/image" Target="/ppt/media/image7.png" Id="R7729aa2873e34d0a" /><Relationship Type="http://schemas.openxmlformats.org/officeDocument/2006/relationships/image" Target="/ppt/media/image8.png" Id="R66d637d9d9ff4a02" /><Relationship Type="http://schemas.openxmlformats.org/officeDocument/2006/relationships/notesSlide" Target="/ppt/notesSlides/notesSlide4.xml" Id="Rfec819a403614e2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baa5baf5b1f447d" /><Relationship Type="http://schemas.openxmlformats.org/officeDocument/2006/relationships/image" Target="/ppt/media/image9.png" Id="Rd908ca41666a4f8b" /><Relationship Type="http://schemas.openxmlformats.org/officeDocument/2006/relationships/image" Target="/ppt/media/image10.png" Id="R09028b86ca004eea" /><Relationship Type="http://schemas.openxmlformats.org/officeDocument/2006/relationships/notesSlide" Target="/ppt/notesSlides/notesSlide5.xml" Id="R144db40fa0514ac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0c0ef61bbd24c8a" /><Relationship Type="http://schemas.openxmlformats.org/officeDocument/2006/relationships/image" Target="/ppt/media/image11.png" Id="R9fd473616d6440d4" /><Relationship Type="http://schemas.openxmlformats.org/officeDocument/2006/relationships/image" Target="/ppt/media/image12.png" Id="Rb09b624005be44be" /><Relationship Type="http://schemas.openxmlformats.org/officeDocument/2006/relationships/notesSlide" Target="/ppt/notesSlides/notesSlide6.xml" Id="R94bacd8fe6b8408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9c9aa78da564bf7" /><Relationship Type="http://schemas.openxmlformats.org/officeDocument/2006/relationships/image" Target="/ppt/media/image13.png" Id="R84c803928ff54022" /><Relationship Type="http://schemas.openxmlformats.org/officeDocument/2006/relationships/image" Target="/ppt/media/image14.png" Id="Rf8cf06a4aa5b40ef" /><Relationship Type="http://schemas.openxmlformats.org/officeDocument/2006/relationships/chart" Target="/ppt/slides/charts/chart1.xml" Id="R39880cb04a6d42d0" /><Relationship Type="http://schemas.openxmlformats.org/officeDocument/2006/relationships/notesSlide" Target="/ppt/notesSlides/notesSlide7.xml" Id="R97f0fcbb02b247c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f7e719c10a74fe1" /><Relationship Type="http://schemas.openxmlformats.org/officeDocument/2006/relationships/image" Target="/ppt/media/image15.png" Id="R51c53b55414041b4" /><Relationship Type="http://schemas.openxmlformats.org/officeDocument/2006/relationships/image" Target="/ppt/media/image16.png" Id="Rbb2dbc46b7644b36" /><Relationship Type="http://schemas.openxmlformats.org/officeDocument/2006/relationships/notesSlide" Target="/ppt/notesSlides/notesSlide8.xml" Id="R359f57bc0732421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5290cd03f7348fa" /><Relationship Type="http://schemas.openxmlformats.org/officeDocument/2006/relationships/image" Target="/ppt/media/image17.png" Id="Ra888d0e254984724" /><Relationship Type="http://schemas.openxmlformats.org/officeDocument/2006/relationships/image" Target="/ppt/media/image18.png" Id="Ra7a38fcca9a64e1a" /><Relationship Type="http://schemas.openxmlformats.org/officeDocument/2006/relationships/notesSlide" Target="/ppt/notesSlides/notesSlide9.xml" Id="R850757b89b81408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871381e7ead43d6" /><Relationship Type="http://schemas.openxmlformats.org/officeDocument/2006/relationships/image" Target="/ppt/media/image19.png" Id="R19e3561a62cd45cf" /><Relationship Type="http://schemas.openxmlformats.org/officeDocument/2006/relationships/image" Target="/ppt/media/image20.png" Id="Rc218f2aec4154f98" /><Relationship Type="http://schemas.openxmlformats.org/officeDocument/2006/relationships/notesSlide" Target="/ppt/notesSlides/notesSlide10.xml" Id="Rce05493a23f54d4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023a872885f4576" /><Relationship Type="http://schemas.openxmlformats.org/officeDocument/2006/relationships/image" Target="/ppt/media/image21.png" Id="R96dde3fb01ef44e6" /><Relationship Type="http://schemas.openxmlformats.org/officeDocument/2006/relationships/image" Target="/ppt/media/image22.png" Id="R0065902cf84247dd" /><Relationship Type="http://schemas.openxmlformats.org/officeDocument/2006/relationships/notesSlide" Target="/ppt/notesSlides/notesSlide11.xml" Id="Rb9e56260c102412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3b5c6b7cbf14fef" /><Relationship Type="http://schemas.openxmlformats.org/officeDocument/2006/relationships/image" Target="/ppt/media/image23.png" Id="Red15d9f963bd44ba" /><Relationship Type="http://schemas.openxmlformats.org/officeDocument/2006/relationships/image" Target="/ppt/media/image24.png" Id="Rc8663e1e597b4faa" /><Relationship Type="http://schemas.openxmlformats.org/officeDocument/2006/relationships/notesSlide" Target="/ppt/notesSlides/notesSlide12.xml" Id="R155d95644c3245a4" /></Relationships>
</file>

<file path=ppt/slides/charts/chart1.xml><?xml version="1.0" encoding="utf-8"?>
<c:chartSpace xmlns:c="http://schemas.openxmlformats.org/drawingml/2006/chart">
  <c:lang val="en-US"/>
  <c:chart>
    <c:plotArea>
      <c:barChart>
        <c:barDir val="col"/>
        <c:grouping val="clustered"/>
        <c:varyColors val="0"/>
        <c:ser>
          <c:idx val="0"/>
          <c:order val="0"/>
          <c:tx>
            <c:v>MAE CAMS</c:v>
          </c:tx>
          <c:spPr>
            <a:solidFill xmlns:a="http://schemas.openxmlformats.org/drawingml/2006/main">
              <a:srgbClr val="B9DDCA"/>
            </a:solidFill>
          </c:spPr>
          <c:dLbls>
            <c:dLbl>
              <c:idx val="0"/>
              <c:tx>
                <c:rich>
                  <a:bodyPr xmlns:a="http://schemas.openxmlformats.org/drawingml/2006/main"/>
                  <a:lstStyle xmlns:a="http://schemas.openxmlformats.org/drawingml/2006/main"/>
                  <a:p xmlns:a="http://schemas.openxmlformats.org/drawingml/2006/main">
                    <a:r>
                      <a:rPr sz="900">
                        <a:solidFill>
                          <a:srgbClr val="17352B"/>
                        </a:solidFill>
                        <a:latin typeface="Noto Sans"/>
                        <a:ea typeface="Noto Sans"/>
                        <a:cs typeface="Noto Sans"/>
                      </a:rPr>
                      <a:t>15,8884</a:t>
                    </a:r>
                  </a:p>
                </c:rich>
              </c:tx>
              <c:txPr>
                <a:bodyPr xmlns:a="http://schemas.openxmlformats.org/drawingml/2006/main" anchorCtr="1"/>
                <a:lstStyle xmlns:a="http://schemas.openxmlformats.org/drawingml/2006/main"/>
                <a:p xmlns:a="http://schemas.openxmlformats.org/drawingml/2006/main">
                  <a:pPr>
                    <a:defRPr sz="900">
                      <a:solidFill>
                        <a:srgbClr val="17352B"/>
                      </a:solidFill>
                      <a:latin typeface="Noto Sans"/>
                      <a:ea typeface="Noto Sans"/>
                      <a:cs typeface="Noto Sans"/>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900">
                        <a:solidFill>
                          <a:srgbClr val="17352B"/>
                        </a:solidFill>
                        <a:latin typeface="Noto Sans"/>
                        <a:ea typeface="Noto Sans"/>
                        <a:cs typeface="Noto Sans"/>
                      </a:rPr>
                      <a:t>15,8884</a:t>
                    </a:r>
                  </a:p>
                </c:rich>
              </c:tx>
              <c:txPr>
                <a:bodyPr xmlns:a="http://schemas.openxmlformats.org/drawingml/2006/main" anchorCtr="1"/>
                <a:lstStyle xmlns:a="http://schemas.openxmlformats.org/drawingml/2006/main"/>
                <a:p xmlns:a="http://schemas.openxmlformats.org/drawingml/2006/main">
                  <a:pPr>
                    <a:defRPr sz="900">
                      <a:solidFill>
                        <a:srgbClr val="17352B"/>
                      </a:solidFill>
                      <a:latin typeface="Noto Sans"/>
                      <a:ea typeface="Noto Sans"/>
                      <a:cs typeface="Noto Sans"/>
                    </a:defRPr>
                  </a:pPr>
                </a:p>
              </c:txPr>
              <c:dLblPos val="out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900">
                        <a:solidFill>
                          <a:srgbClr val="17352B"/>
                        </a:solidFill>
                        <a:latin typeface="Noto Sans"/>
                        <a:ea typeface="Noto Sans"/>
                        <a:cs typeface="Noto Sans"/>
                      </a:rPr>
                      <a:t>15,8884</a:t>
                    </a:r>
                  </a:p>
                </c:rich>
              </c:tx>
              <c:txPr>
                <a:bodyPr xmlns:a="http://schemas.openxmlformats.org/drawingml/2006/main" anchorCtr="1"/>
                <a:lstStyle xmlns:a="http://schemas.openxmlformats.org/drawingml/2006/main"/>
                <a:p xmlns:a="http://schemas.openxmlformats.org/drawingml/2006/main">
                  <a:pPr>
                    <a:defRPr sz="900">
                      <a:solidFill>
                        <a:srgbClr val="17352B"/>
                      </a:solidFill>
                      <a:latin typeface="Noto Sans"/>
                      <a:ea typeface="Noto Sans"/>
                      <a:cs typeface="Noto Sans"/>
                    </a:defRPr>
                  </a:pPr>
                </a:p>
              </c:txPr>
              <c:dLblPos val="outEnd"/>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900">
                        <a:solidFill>
                          <a:srgbClr val="17352B"/>
                        </a:solidFill>
                        <a:latin typeface="Noto Sans"/>
                        <a:ea typeface="Noto Sans"/>
                        <a:cs typeface="Noto Sans"/>
                      </a:rPr>
                      <a:t>15,8884</a:t>
                    </a:r>
                  </a:p>
                </c:rich>
              </c:tx>
              <c:txPr>
                <a:bodyPr xmlns:a="http://schemas.openxmlformats.org/drawingml/2006/main" anchorCtr="1"/>
                <a:lstStyle xmlns:a="http://schemas.openxmlformats.org/drawingml/2006/main"/>
                <a:p xmlns:a="http://schemas.openxmlformats.org/drawingml/2006/main">
                  <a:pPr>
                    <a:defRPr sz="900">
                      <a:solidFill>
                        <a:srgbClr val="17352B"/>
                      </a:solidFill>
                      <a:latin typeface="Noto Sans"/>
                      <a:ea typeface="Noto Sans"/>
                      <a:cs typeface="Noto Sans"/>
                    </a:defRPr>
                  </a:pPr>
                </a:p>
              </c:txPr>
              <c:dLblPos val="outEnd"/>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900">
                        <a:solidFill>
                          <a:srgbClr val="17352B"/>
                        </a:solidFill>
                        <a:latin typeface="Noto Sans"/>
                        <a:ea typeface="Noto Sans"/>
                        <a:cs typeface="Noto Sans"/>
                      </a:rPr>
                      <a:t>15,8884</a:t>
                    </a:r>
                  </a:p>
                </c:rich>
              </c:tx>
              <c:txPr>
                <a:bodyPr xmlns:a="http://schemas.openxmlformats.org/drawingml/2006/main" anchorCtr="1"/>
                <a:lstStyle xmlns:a="http://schemas.openxmlformats.org/drawingml/2006/main"/>
                <a:p xmlns:a="http://schemas.openxmlformats.org/drawingml/2006/main">
                  <a:pPr>
                    <a:defRPr sz="900">
                      <a:solidFill>
                        <a:srgbClr val="17352B"/>
                      </a:solidFill>
                      <a:latin typeface="Noto Sans"/>
                      <a:ea typeface="Noto Sans"/>
                      <a:cs typeface="Noto Sans"/>
                    </a:defRPr>
                  </a:pPr>
                </a:p>
              </c:txPr>
              <c:dLblPos val="outEnd"/>
              <c:showLegendKey val="0"/>
              <c:showVal val="0"/>
              <c:showCatName val="0"/>
              <c:showSerName val="0"/>
              <c:showPercent val="0"/>
              <c:showBubbleSize val="0"/>
            </c:dLbl>
          </c:dLbls>
          <c:cat>
            <c:numLit>
              <c:formatCode>General</c:formatCode>
              <c:ptCount val="5"/>
              <c:pt idx="0">
                <c:v>2</c:v>
              </c:pt>
              <c:pt idx="1">
                <c:v>3</c:v>
              </c:pt>
              <c:pt idx="2">
                <c:v>4</c:v>
              </c:pt>
              <c:pt idx="3">
                <c:v>5</c:v>
              </c:pt>
              <c:pt idx="4">
                <c:v>6</c:v>
              </c:pt>
            </c:numLit>
          </c:cat>
          <c:val>
            <c:numLit>
              <c:formatCode>0</c:formatCode>
              <c:ptCount val="5"/>
              <c:pt idx="0">
                <c:v>15.8884</c:v>
              </c:pt>
              <c:pt idx="1">
                <c:v>15.8884</c:v>
              </c:pt>
              <c:pt idx="2">
                <c:v>15.8884</c:v>
              </c:pt>
              <c:pt idx="3">
                <c:v>15.8884</c:v>
              </c:pt>
              <c:pt idx="4">
                <c:v>15.8884</c:v>
              </c:pt>
            </c:numLit>
          </c:val>
        </c:ser>
        <c:ser>
          <c:idx val="1"/>
          <c:order val="1"/>
          <c:tx>
            <c:v>MAE sau hiệu chỉnh</c:v>
          </c:tx>
          <c:spPr>
            <a:solidFill xmlns:a="http://schemas.openxmlformats.org/drawingml/2006/main">
              <a:srgbClr val="4E896D"/>
            </a:solidFill>
          </c:spPr>
          <c:dPt>
            <c:idx val="1"/>
            <c:invertIfNegative val="0"/>
            <c:spPr>
              <a:solidFill xmlns:a="http://schemas.openxmlformats.org/drawingml/2006/main">
                <a:srgbClr val="0F6E41"/>
              </a:solidFill>
            </c:spPr>
          </c:dPt>
          <c:dLbls>
            <c:dLbl>
              <c:idx val="0"/>
              <c:tx>
                <c:rich>
                  <a:bodyPr xmlns:a="http://schemas.openxmlformats.org/drawingml/2006/main"/>
                  <a:lstStyle xmlns:a="http://schemas.openxmlformats.org/drawingml/2006/main"/>
                  <a:p xmlns:a="http://schemas.openxmlformats.org/drawingml/2006/main">
                    <a:r>
                      <a:rPr sz="900" b="0">
                        <a:solidFill>
                          <a:srgbClr val="17352B"/>
                        </a:solidFill>
                        <a:latin typeface="Noto Sans"/>
                        <a:ea typeface="Noto Sans"/>
                        <a:cs typeface="Noto Sans"/>
                      </a:rPr>
                      <a:t>4,2633</a:t>
                    </a:r>
                  </a:p>
                </c:rich>
              </c:tx>
              <c:txPr>
                <a:bodyPr xmlns:a="http://schemas.openxmlformats.org/drawingml/2006/main" anchorCtr="1"/>
                <a:lstStyle xmlns:a="http://schemas.openxmlformats.org/drawingml/2006/main"/>
                <a:p xmlns:a="http://schemas.openxmlformats.org/drawingml/2006/main">
                  <a:pPr>
                    <a:defRPr sz="900" b="0">
                      <a:solidFill>
                        <a:srgbClr val="17352B"/>
                      </a:solidFill>
                      <a:latin typeface="Noto Sans"/>
                      <a:ea typeface="Noto Sans"/>
                      <a:cs typeface="Noto Sans"/>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900" b="1">
                        <a:solidFill>
                          <a:srgbClr val="17352B"/>
                        </a:solidFill>
                        <a:latin typeface="Noto Sans"/>
                        <a:ea typeface="Noto Sans"/>
                        <a:cs typeface="Noto Sans"/>
                      </a:rPr>
                      <a:t>4,7259</a:t>
                    </a:r>
                  </a:p>
                </c:rich>
              </c:tx>
              <c:txPr>
                <a:bodyPr xmlns:a="http://schemas.openxmlformats.org/drawingml/2006/main" anchorCtr="1"/>
                <a:lstStyle xmlns:a="http://schemas.openxmlformats.org/drawingml/2006/main"/>
                <a:p xmlns:a="http://schemas.openxmlformats.org/drawingml/2006/main">
                  <a:pPr>
                    <a:defRPr sz="900" b="1">
                      <a:solidFill>
                        <a:srgbClr val="17352B"/>
                      </a:solidFill>
                      <a:latin typeface="Noto Sans"/>
                      <a:ea typeface="Noto Sans"/>
                      <a:cs typeface="Noto Sans"/>
                    </a:defRPr>
                  </a:pPr>
                </a:p>
              </c:txPr>
              <c:dLblPos val="out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900" b="0">
                        <a:solidFill>
                          <a:srgbClr val="17352B"/>
                        </a:solidFill>
                        <a:latin typeface="Noto Sans"/>
                        <a:ea typeface="Noto Sans"/>
                        <a:cs typeface="Noto Sans"/>
                      </a:rPr>
                      <a:t>4,9440</a:t>
                    </a:r>
                  </a:p>
                </c:rich>
              </c:tx>
              <c:txPr>
                <a:bodyPr xmlns:a="http://schemas.openxmlformats.org/drawingml/2006/main" anchorCtr="1"/>
                <a:lstStyle xmlns:a="http://schemas.openxmlformats.org/drawingml/2006/main"/>
                <a:p xmlns:a="http://schemas.openxmlformats.org/drawingml/2006/main">
                  <a:pPr>
                    <a:defRPr sz="900" b="0">
                      <a:solidFill>
                        <a:srgbClr val="17352B"/>
                      </a:solidFill>
                      <a:latin typeface="Noto Sans"/>
                      <a:ea typeface="Noto Sans"/>
                      <a:cs typeface="Noto Sans"/>
                    </a:defRPr>
                  </a:pPr>
                </a:p>
              </c:txPr>
              <c:dLblPos val="outEnd"/>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900" b="0">
                        <a:solidFill>
                          <a:srgbClr val="17352B"/>
                        </a:solidFill>
                        <a:latin typeface="Noto Sans"/>
                        <a:ea typeface="Noto Sans"/>
                        <a:cs typeface="Noto Sans"/>
                      </a:rPr>
                      <a:t>5,3190</a:t>
                    </a:r>
                  </a:p>
                </c:rich>
              </c:tx>
              <c:txPr>
                <a:bodyPr xmlns:a="http://schemas.openxmlformats.org/drawingml/2006/main" anchorCtr="1"/>
                <a:lstStyle xmlns:a="http://schemas.openxmlformats.org/drawingml/2006/main"/>
                <a:p xmlns:a="http://schemas.openxmlformats.org/drawingml/2006/main">
                  <a:pPr>
                    <a:defRPr sz="900" b="0">
                      <a:solidFill>
                        <a:srgbClr val="17352B"/>
                      </a:solidFill>
                      <a:latin typeface="Noto Sans"/>
                      <a:ea typeface="Noto Sans"/>
                      <a:cs typeface="Noto Sans"/>
                    </a:defRPr>
                  </a:pPr>
                </a:p>
              </c:txPr>
              <c:dLblPos val="outEnd"/>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900" b="0">
                        <a:solidFill>
                          <a:srgbClr val="17352B"/>
                        </a:solidFill>
                        <a:latin typeface="Noto Sans"/>
                        <a:ea typeface="Noto Sans"/>
                        <a:cs typeface="Noto Sans"/>
                      </a:rPr>
                      <a:t>6,0211</a:t>
                    </a:r>
                  </a:p>
                </c:rich>
              </c:tx>
              <c:txPr>
                <a:bodyPr xmlns:a="http://schemas.openxmlformats.org/drawingml/2006/main" anchorCtr="1"/>
                <a:lstStyle xmlns:a="http://schemas.openxmlformats.org/drawingml/2006/main"/>
                <a:p xmlns:a="http://schemas.openxmlformats.org/drawingml/2006/main">
                  <a:pPr>
                    <a:defRPr sz="900" b="0">
                      <a:solidFill>
                        <a:srgbClr val="17352B"/>
                      </a:solidFill>
                      <a:latin typeface="Noto Sans"/>
                      <a:ea typeface="Noto Sans"/>
                      <a:cs typeface="Noto Sans"/>
                    </a:defRPr>
                  </a:pPr>
                </a:p>
              </c:txPr>
              <c:dLblPos val="outEnd"/>
              <c:showLegendKey val="0"/>
              <c:showVal val="0"/>
              <c:showCatName val="0"/>
              <c:showSerName val="0"/>
              <c:showPercent val="0"/>
              <c:showBubbleSize val="0"/>
            </c:dLbl>
          </c:dLbls>
          <c:cat>
            <c:numLit>
              <c:formatCode>General</c:formatCode>
              <c:ptCount val="5"/>
              <c:pt idx="0">
                <c:v>2</c:v>
              </c:pt>
              <c:pt idx="1">
                <c:v>3</c:v>
              </c:pt>
              <c:pt idx="2">
                <c:v>4</c:v>
              </c:pt>
              <c:pt idx="3">
                <c:v>5</c:v>
              </c:pt>
              <c:pt idx="4">
                <c:v>6</c:v>
              </c:pt>
            </c:numLit>
          </c:cat>
          <c:val>
            <c:numLit>
              <c:formatCode>0</c:formatCode>
              <c:ptCount val="5"/>
              <c:pt idx="0">
                <c:v>4.2633</c:v>
              </c:pt>
              <c:pt idx="1">
                <c:v>4.7259</c:v>
              </c:pt>
              <c:pt idx="2">
                <c:v>4.944</c:v>
              </c:pt>
              <c:pt idx="3">
                <c:v>5.319</c:v>
              </c:pt>
              <c:pt idx="4">
                <c:v>6.0211</c:v>
              </c:pt>
            </c:numLit>
          </c:val>
        </c:ser>
        <c:dLbls>
          <c:txPr>
            <a:bodyPr xmlns:a="http://schemas.openxmlformats.org/drawingml/2006/main" anchorCtr="1"/>
            <a:lstStyle xmlns:a="http://schemas.openxmlformats.org/drawingml/2006/main"/>
            <a:p xmlns:a="http://schemas.openxmlformats.org/drawingml/2006/main">
              <a:pPr>
                <a:defRPr sz="900">
                  <a:solidFill>
                    <a:srgbClr val="17352B"/>
                  </a:solidFill>
                  <a:latin typeface="Noto Sans"/>
                  <a:ea typeface="Noto Sans"/>
                  <a:cs typeface="Noto Sans"/>
                </a:defRPr>
              </a:pPr>
            </a:p>
          </c:txPr>
          <c:dLblPos val="outEnd"/>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75">
                    <a:solidFill>
                      <a:srgbClr val="17352B"/>
                    </a:solidFill>
                    <a:latin typeface="Noto Sans"/>
                    <a:ea typeface="Noto Sans"/>
                    <a:cs typeface="Noto Sans"/>
                  </a:rPr>
                  <a:t>Giá trị S</a:t>
                </a:r>
              </a:p>
            </c:rich>
          </c:tx>
          <c:overlay val="0"/>
          <c:txPr>
            <a:bodyPr xmlns:a="http://schemas.openxmlformats.org/drawingml/2006/main" anchorCtr="1"/>
            <a:lstStyle xmlns:a="http://schemas.openxmlformats.org/drawingml/2006/main"/>
            <a:p xmlns:a="http://schemas.openxmlformats.org/drawingml/2006/main">
              <a:pPr>
                <a:defRPr sz="975">
                  <a:solidFill>
                    <a:srgbClr val="17352B"/>
                  </a:solidFill>
                  <a:latin typeface="Noto Sans"/>
                  <a:ea typeface="Noto Sans"/>
                  <a:cs typeface="Noto Sans"/>
                </a:defRPr>
              </a:pPr>
            </a:p>
          </c:txPr>
        </c:title>
        <c:numFmt formatCode="General"/>
        <c:majorTickMark val="none"/>
        <c:minorTickMark val="none"/>
        <c:spPr>
          <a:ln xmlns:a="http://schemas.openxmlformats.org/drawingml/2006/main" w="9525">
            <a:solidFill>
              <a:srgbClr val="C8D8CF"/>
            </a:solidFill>
            <a:prstDash val="solid"/>
          </a:ln>
        </c:spPr>
        <c:txPr>
          <a:bodyPr xmlns:a="http://schemas.openxmlformats.org/drawingml/2006/main" anchorCtr="1"/>
          <a:lstStyle xmlns:a="http://schemas.openxmlformats.org/drawingml/2006/main"/>
          <a:p xmlns:a="http://schemas.openxmlformats.org/drawingml/2006/main">
            <a:pPr>
              <a:defRPr sz="975">
                <a:solidFill>
                  <a:srgbClr val="17352B"/>
                </a:solidFill>
                <a:latin typeface="Noto Sans"/>
                <a:ea typeface="Noto Sans"/>
                <a:cs typeface="Noto Sans"/>
              </a:defRPr>
            </a:pPr>
          </a:p>
        </c:txPr>
        <c:crossAx val="48672768"/>
      </c:catAx>
      <c:valAx>
        <c:axId val="48672768"/>
        <c:scaling>
          <c:orientation val="minMax"/>
          <c:max val="18"/>
          <c:min val="0"/>
        </c:scaling>
        <c:delete val="0"/>
        <c:axPos val="l"/>
        <c:majorGridlines>
          <c:spPr>
            <a:ln xmlns:a="http://schemas.openxmlformats.org/drawingml/2006/main" w="7144">
              <a:solidFill>
                <a:srgbClr val="C8D8CF"/>
              </a:solidFill>
              <a:prstDash val="solid"/>
            </a:ln>
          </c:spPr>
        </c:majorGridlines>
        <c:title>
          <c:tx>
            <c:rich>
              <a:bodyPr xmlns:a="http://schemas.openxmlformats.org/drawingml/2006/main"/>
              <a:lstStyle xmlns:a="http://schemas.openxmlformats.org/drawingml/2006/main"/>
              <a:p xmlns:a="http://schemas.openxmlformats.org/drawingml/2006/main">
                <a:r>
                  <a:rPr sz="975">
                    <a:solidFill>
                      <a:srgbClr val="17352B"/>
                    </a:solidFill>
                    <a:latin typeface="Noto Sans"/>
                    <a:ea typeface="Noto Sans"/>
                    <a:cs typeface="Noto Sans"/>
                  </a:rPr>
                  <a:t>MAE (µg/m³)</a:t>
                </a:r>
              </a:p>
            </c:rich>
          </c:tx>
          <c:overlay val="0"/>
          <c:txPr>
            <a:bodyPr xmlns:a="http://schemas.openxmlformats.org/drawingml/2006/main" anchorCtr="1"/>
            <a:lstStyle xmlns:a="http://schemas.openxmlformats.org/drawingml/2006/main"/>
            <a:p xmlns:a="http://schemas.openxmlformats.org/drawingml/2006/main">
              <a:pPr>
                <a:defRPr sz="975">
                  <a:solidFill>
                    <a:srgbClr val="17352B"/>
                  </a:solidFill>
                  <a:latin typeface="Noto Sans"/>
                  <a:ea typeface="Noto Sans"/>
                  <a:cs typeface="Noto Sans"/>
                </a:defRPr>
              </a:pPr>
            </a:p>
          </c:txPr>
        </c:title>
        <c:numFmt formatCode="0"/>
        <c:majorTickMark val="none"/>
        <c:minorTickMark val="none"/>
        <c:spPr>
          <a:ln xmlns:a="http://schemas.openxmlformats.org/drawingml/2006/main" w="9525">
            <a:solidFill>
              <a:srgbClr val="C8D8CF"/>
            </a:solidFill>
            <a:prstDash val="solid"/>
          </a:ln>
        </c:spPr>
        <c:txPr>
          <a:bodyPr xmlns:a="http://schemas.openxmlformats.org/drawingml/2006/main" anchorCtr="1"/>
          <a:lstStyle xmlns:a="http://schemas.openxmlformats.org/drawingml/2006/main"/>
          <a:p xmlns:a="http://schemas.openxmlformats.org/drawingml/2006/main">
            <a:pPr>
              <a:defRPr sz="900">
                <a:solidFill>
                  <a:srgbClr val="17352B"/>
                </a:solidFill>
                <a:latin typeface="Noto Sans"/>
                <a:ea typeface="Noto Sans"/>
                <a:cs typeface="Noto Sans"/>
              </a:defRPr>
            </a:pPr>
          </a:p>
        </c:txPr>
        <c:crossAx val="48650112"/>
        <c:crossBetween val="between"/>
        <c:majorUnit val="3"/>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17352B"/>
              </a:solidFill>
              <a:latin typeface="Noto Sans"/>
              <a:ea typeface="Noto Sans"/>
              <a:cs typeface="Noto Sans"/>
            </a:defRPr>
          </a:pPr>
        </a:p>
      </c:txPr>
    </c:legend>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F3AEE72-BBFB-4E27-A4FA-B3CCFF65269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F6E41"/>
          </a:solidFill>
          <a:ln xmlns:a="http://schemas.openxmlformats.org/drawingml/2006/main" w="0">
            <a:noFill/>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830ffe254e854ffa"/>
          <a:stretch xmlns:a="http://schemas.openxmlformats.org/drawingml/2006/main"/>
        </p:blipFill>
        <p:spPr>
          <a:xfrm xmlns:a="http://schemas.openxmlformats.org/drawingml/2006/main">
            <a:off x="10020300" y="220120"/>
            <a:ext cx="428625" cy="512259"/>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43afa4afcbe4dac"/>
          <a:stretch xmlns:a="http://schemas.openxmlformats.org/drawingml/2006/main"/>
        </p:blipFill>
        <p:spPr>
          <a:xfrm xmlns:a="http://schemas.openxmlformats.org/drawingml/2006/main">
            <a:off x="10687050" y="298596"/>
            <a:ext cx="990600" cy="355308"/>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3288CDB-83C4-4734-917C-0DDC9BED03A1}"/>
              </a:ext>
            </a:extLst>
          </p:cNvPr>
          <p:cNvSpPr>
            <a:spLocks xmlns:a="http://schemas.openxmlformats.org/drawingml/2006/main" noGrp="1"/>
          </p:cNvSpPr>
          <p:nvPr/>
        </p:nvSpPr>
        <p:spPr>
          <a:xfrm xmlns:a="http://schemas.openxmlformats.org/drawingml/2006/main">
            <a:off x="838200" y="81915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0F6E41"/>
                </a:solidFill>
                <a:latin typeface="Noto Sans"/>
                <a:ea typeface="Noto Sans"/>
                <a:cs typeface="Noto Sans"/>
              </a:defRPr>
            </a:pPr>
            <a:r>
              <a:rPr sz="1350" b="1">
                <a:solidFill>
                  <a:srgbClr val="0F6E41"/>
                </a:solidFill>
                <a:latin typeface="Noto Sans"/>
                <a:ea typeface="Noto Sans"/>
                <a:cs typeface="Noto Sans"/>
              </a:rPr>
              <a:t>CUỘC THI THIẾT KẾ VI MẠCH UIT LẦN THỨ III, NĂM 2026</a:t>
            </a:r>
          </a:p>
        </p:txBody>
      </p:sp>
      <p:sp>
        <p:nvSpPr>
          <p:cNvPr id="5" name="">
            <a:extLst xmlns:a="http://schemas.openxmlformats.org/drawingml/2006/main">
              <a:ext uri="{FF2B5EF4-FFF2-40B4-BE49-F238E27FC236}">
                <a16:creationId xmlns:a16="http://schemas.microsoft.com/office/drawing/2014/main" id="{E46C751B-2837-4B07-805A-25F73C340BE8}"/>
              </a:ext>
            </a:extLst>
          </p:cNvPr>
          <p:cNvSpPr>
            <a:spLocks xmlns:a="http://schemas.openxmlformats.org/drawingml/2006/main" noGrp="1"/>
          </p:cNvSpPr>
          <p:nvPr/>
        </p:nvSpPr>
        <p:spPr>
          <a:xfrm xmlns:a="http://schemas.openxmlformats.org/drawingml/2006/main">
            <a:off x="838200" y="1733550"/>
            <a:ext cx="990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975" b="1">
                <a:solidFill>
                  <a:srgbClr val="17352B"/>
                </a:solidFill>
                <a:latin typeface="Noto Sans"/>
                <a:ea typeface="Noto Sans"/>
                <a:cs typeface="Noto Sans"/>
              </a:defRPr>
            </a:pPr>
            <a:r>
              <a:rPr sz="3975" b="1">
                <a:solidFill>
                  <a:srgbClr val="17352B"/>
                </a:solidFill>
                <a:latin typeface="Noto Sans"/>
                <a:ea typeface="Noto Sans"/>
                <a:cs typeface="Noto Sans"/>
              </a:rPr>
              <a:t>Thiết kế IP xử lý và cảnh báo</a:t>
            </a:r>
          </a:p>
          <a:p xmlns:a="http://schemas.openxmlformats.org/drawingml/2006/main">
            <a:pPr algn="l">
              <a:lnSpc>
                <a:spcPct val="95000"/>
              </a:lnSpc>
              <a:buNone/>
              <a:defRPr sz="3975" b="1">
                <a:solidFill>
                  <a:srgbClr val="17352B"/>
                </a:solidFill>
                <a:latin typeface="Noto Sans"/>
                <a:ea typeface="Noto Sans"/>
                <a:cs typeface="Noto Sans"/>
              </a:defRPr>
            </a:pPr>
            <a:r>
              <a:rPr sz="3975" b="1">
                <a:solidFill>
                  <a:srgbClr val="17352B"/>
                </a:solidFill>
                <a:latin typeface="Noto Sans"/>
                <a:ea typeface="Noto Sans"/>
                <a:cs typeface="Noto Sans"/>
              </a:rPr>
              <a:t>bụi mịn PM2.5 trên FPGA</a:t>
            </a:r>
          </a:p>
        </p:txBody>
      </p:sp>
      <p:sp>
        <p:nvSpPr>
          <p:cNvPr id="6" name="">
            <a:extLst xmlns:a="http://schemas.openxmlformats.org/drawingml/2006/main">
              <a:ext uri="{FF2B5EF4-FFF2-40B4-BE49-F238E27FC236}">
                <a16:creationId xmlns:a16="http://schemas.microsoft.com/office/drawing/2014/main" id="{23491EFA-EF28-4BA4-AD6B-0622029479DB}"/>
              </a:ext>
            </a:extLst>
          </p:cNvPr>
          <p:cNvSpPr>
            <a:spLocks xmlns:a="http://schemas.openxmlformats.org/drawingml/2006/main" noGrp="1"/>
          </p:cNvSpPr>
          <p:nvPr/>
        </p:nvSpPr>
        <p:spPr>
          <a:xfrm xmlns:a="http://schemas.openxmlformats.org/drawingml/2006/main">
            <a:off x="742950" y="3695700"/>
            <a:ext cx="9715500" cy="0"/>
          </a:xfrm>
          <a:prstGeom xmlns:a="http://schemas.openxmlformats.org/drawingml/2006/main" prst="line">
            <a:avLst/>
          </a:prstGeom>
          <a:noFill xmlns:a="http://schemas.openxmlformats.org/drawingml/2006/main"/>
          <a:ln xmlns:a="http://schemas.openxmlformats.org/drawingml/2006/main" w="14288">
            <a:solidFill>
              <a:srgbClr val="C8D8CF"/>
            </a:solidFill>
            <a:prstDash val="solid"/>
          </a:ln>
        </p:spPr>
      </p:sp>
      <p:sp>
        <p:nvSpPr>
          <p:cNvPr id="7" name="">
            <a:extLst xmlns:a="http://schemas.openxmlformats.org/drawingml/2006/main">
              <a:ext uri="{FF2B5EF4-FFF2-40B4-BE49-F238E27FC236}">
                <a16:creationId xmlns:a16="http://schemas.microsoft.com/office/drawing/2014/main" id="{4C3F018A-C852-4980-9280-497823C390FE}"/>
              </a:ext>
            </a:extLst>
          </p:cNvPr>
          <p:cNvSpPr>
            <a:spLocks xmlns:a="http://schemas.openxmlformats.org/drawingml/2006/main" noGrp="1"/>
          </p:cNvSpPr>
          <p:nvPr/>
        </p:nvSpPr>
        <p:spPr>
          <a:xfrm xmlns:a="http://schemas.openxmlformats.org/drawingml/2006/main">
            <a:off x="838200" y="45148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0F6E41"/>
                </a:solidFill>
                <a:latin typeface="Noto Sans"/>
                <a:ea typeface="Noto Sans"/>
                <a:cs typeface="Noto Sans"/>
              </a:defRPr>
            </a:pPr>
            <a:r>
              <a:rPr sz="1275" b="1">
                <a:solidFill>
                  <a:srgbClr val="0F6E41"/>
                </a:solidFill>
                <a:latin typeface="Noto Sans"/>
                <a:ea typeface="Noto Sans"/>
                <a:cs typeface="Noto Sans"/>
              </a:rPr>
              <a:t>SINH VIÊN THỰC HIỆN</a:t>
            </a:r>
          </a:p>
        </p:txBody>
      </p:sp>
      <p:sp>
        <p:nvSpPr>
          <p:cNvPr id="8" name="">
            <a:extLst xmlns:a="http://schemas.openxmlformats.org/drawingml/2006/main">
              <a:ext uri="{FF2B5EF4-FFF2-40B4-BE49-F238E27FC236}">
                <a16:creationId xmlns:a16="http://schemas.microsoft.com/office/drawing/2014/main" id="{F42F268B-EEB9-4C72-861E-6AEA72B3AB64}"/>
              </a:ext>
            </a:extLst>
          </p:cNvPr>
          <p:cNvSpPr>
            <a:spLocks xmlns:a="http://schemas.openxmlformats.org/drawingml/2006/main" noGrp="1"/>
          </p:cNvSpPr>
          <p:nvPr/>
        </p:nvSpPr>
        <p:spPr>
          <a:xfrm xmlns:a="http://schemas.openxmlformats.org/drawingml/2006/main">
            <a:off x="838200" y="4953000"/>
            <a:ext cx="4476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7352B"/>
                </a:solidFill>
                <a:latin typeface="Noto Sans"/>
                <a:ea typeface="Noto Sans"/>
                <a:cs typeface="Noto Sans"/>
              </a:defRPr>
            </a:pPr>
            <a:r>
              <a:rPr sz="1800" b="1">
                <a:solidFill>
                  <a:srgbClr val="17352B"/>
                </a:solidFill>
                <a:latin typeface="Noto Sans"/>
                <a:ea typeface="Noto Sans"/>
                <a:cs typeface="Noto Sans"/>
              </a:rPr>
              <a:t>Lê Nguyễn Thành Danh - 23520241</a:t>
            </a:r>
          </a:p>
          <a:p xmlns:a="http://schemas.openxmlformats.org/drawingml/2006/main">
            <a:pPr algn="l">
              <a:defRPr sz="1800" b="1">
                <a:solidFill>
                  <a:srgbClr val="17352B"/>
                </a:solidFill>
                <a:latin typeface="Noto Sans"/>
                <a:ea typeface="Noto Sans"/>
                <a:cs typeface="Noto Sans"/>
              </a:defRPr>
            </a:pPr>
            <a:r>
              <a:rPr sz="1800" b="1">
                <a:solidFill>
                  <a:srgbClr val="17352B"/>
                </a:solidFill>
                <a:latin typeface="Noto Sans"/>
                <a:ea typeface="Noto Sans"/>
                <a:cs typeface="Noto Sans"/>
              </a:rPr>
              <a:t>Trần Minh Nhật - 23521100</a:t>
            </a:r>
          </a:p>
        </p:txBody>
      </p:sp>
      <p:sp>
        <p:nvSpPr>
          <p:cNvPr id="9" name="">
            <a:extLst xmlns:a="http://schemas.openxmlformats.org/drawingml/2006/main">
              <a:ext uri="{FF2B5EF4-FFF2-40B4-BE49-F238E27FC236}">
                <a16:creationId xmlns:a16="http://schemas.microsoft.com/office/drawing/2014/main" id="{3799DF1F-BE75-49AB-8E42-674A356BA2F6}"/>
              </a:ext>
            </a:extLst>
          </p:cNvPr>
          <p:cNvSpPr>
            <a:spLocks xmlns:a="http://schemas.openxmlformats.org/drawingml/2006/main" noGrp="1"/>
          </p:cNvSpPr>
          <p:nvPr/>
        </p:nvSpPr>
        <p:spPr>
          <a:xfrm xmlns:a="http://schemas.openxmlformats.org/drawingml/2006/main">
            <a:off x="6667500" y="4514850"/>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0F6E41"/>
                </a:solidFill>
                <a:latin typeface="Noto Sans"/>
                <a:ea typeface="Noto Sans"/>
                <a:cs typeface="Noto Sans"/>
              </a:defRPr>
            </a:pPr>
            <a:r>
              <a:rPr sz="1275" b="1">
                <a:solidFill>
                  <a:srgbClr val="0F6E41"/>
                </a:solidFill>
                <a:latin typeface="Noto Sans"/>
                <a:ea typeface="Noto Sans"/>
                <a:cs typeface="Noto Sans"/>
              </a:rPr>
              <a:t>GIẢNG VIÊN HƯỚNG DẪN</a:t>
            </a:r>
          </a:p>
        </p:txBody>
      </p:sp>
      <p:sp>
        <p:nvSpPr>
          <p:cNvPr id="10" name="">
            <a:extLst xmlns:a="http://schemas.openxmlformats.org/drawingml/2006/main">
              <a:ext uri="{FF2B5EF4-FFF2-40B4-BE49-F238E27FC236}">
                <a16:creationId xmlns:a16="http://schemas.microsoft.com/office/drawing/2014/main" id="{5CA4E048-AB41-4906-A824-497F227DDE0E}"/>
              </a:ext>
            </a:extLst>
          </p:cNvPr>
          <p:cNvSpPr>
            <a:spLocks xmlns:a="http://schemas.openxmlformats.org/drawingml/2006/main" noGrp="1"/>
          </p:cNvSpPr>
          <p:nvPr/>
        </p:nvSpPr>
        <p:spPr>
          <a:xfrm xmlns:a="http://schemas.openxmlformats.org/drawingml/2006/main">
            <a:off x="6667500" y="49530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7352B"/>
                </a:solidFill>
                <a:latin typeface="Noto Sans"/>
                <a:ea typeface="Noto Sans"/>
                <a:cs typeface="Noto Sans"/>
              </a:defRPr>
            </a:pPr>
            <a:r>
              <a:rPr sz="1800" b="1">
                <a:solidFill>
                  <a:srgbClr val="17352B"/>
                </a:solidFill>
                <a:latin typeface="Noto Sans"/>
                <a:ea typeface="Noto Sans"/>
                <a:cs typeface="Noto Sans"/>
              </a:rPr>
              <a:t>TS. Đoàn Duy</a:t>
            </a:r>
          </a:p>
        </p:txBody>
      </p:sp>
      <p:sp>
        <p:nvSpPr>
          <p:cNvPr id="11" name="">
            <a:extLst xmlns:a="http://schemas.openxmlformats.org/drawingml/2006/main">
              <a:ext uri="{FF2B5EF4-FFF2-40B4-BE49-F238E27FC236}">
                <a16:creationId xmlns:a16="http://schemas.microsoft.com/office/drawing/2014/main" id="{4F7B9217-CE89-4E74-A34E-33A67C82662B}"/>
              </a:ext>
            </a:extLst>
          </p:cNvPr>
          <p:cNvSpPr>
            <a:spLocks xmlns:a="http://schemas.openxmlformats.org/drawingml/2006/main" noGrp="1"/>
          </p:cNvSpPr>
          <p:nvPr/>
        </p:nvSpPr>
        <p:spPr>
          <a:xfrm xmlns:a="http://schemas.openxmlformats.org/drawingml/2006/main">
            <a:off x="11372850" y="6486525"/>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1">
                <a:solidFill>
                  <a:srgbClr val="17352B"/>
                </a:solidFill>
                <a:latin typeface="Noto Sans"/>
                <a:ea typeface="Noto Sans"/>
                <a:cs typeface="Noto Sans"/>
              </a:defRPr>
            </a:pPr>
            <a:r>
              <a:rPr sz="1050" b="1">
                <a:solidFill>
                  <a:srgbClr val="17352B"/>
                </a:solidFill>
                <a:latin typeface="Noto Sans"/>
                <a:ea typeface="Noto Sans"/>
                <a:cs typeface="Noto Sans"/>
              </a:rPr>
              <a:t>1</a:t>
            </a:r>
          </a:p>
        </p:txBody>
      </p:sp>
    </p:spTree>
    <p:extLst>
      <p:ext uri="{BB962C8B-B14F-4D97-AF65-F5344CB8AC3E}">
        <p14:creationId xmlns:p14="http://schemas.microsoft.com/office/powerpoint/2010/main" val="47885916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BE71C63-5868-4163-96C1-947C4CE83403}"/>
              </a:ext>
            </a:extLst>
          </p:cNvPr>
          <p:cNvSpPr>
            <a:spLocks xmlns:a="http://schemas.openxmlformats.org/drawingml/2006/main" noGrp="1"/>
          </p:cNvSpPr>
          <p:nvPr/>
        </p:nvSpPr>
        <p:spPr>
          <a:xfrm xmlns:a="http://schemas.openxmlformats.org/drawingml/2006/main">
            <a:off x="723900" y="314325"/>
            <a:ext cx="857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352B"/>
                </a:solidFill>
                <a:latin typeface="Noto Sans"/>
                <a:ea typeface="Noto Sans"/>
                <a:cs typeface="Noto Sans"/>
              </a:defRPr>
            </a:pPr>
            <a:r>
              <a:rPr sz="3150" b="1">
                <a:solidFill>
                  <a:srgbClr val="17352B"/>
                </a:solidFill>
                <a:latin typeface="Noto Sans"/>
                <a:ea typeface="Noto Sans"/>
                <a:cs typeface="Noto Sans"/>
              </a:rPr>
              <a:t>Bài toán và lựa chọn dữ liệu</a:t>
            </a:r>
          </a:p>
        </p:txBody>
      </p:sp>
      <p:sp>
        <p:nvSpPr>
          <p:cNvPr id="2" name="">
            <a:extLst xmlns:a="http://schemas.openxmlformats.org/drawingml/2006/main">
              <a:ext uri="{FF2B5EF4-FFF2-40B4-BE49-F238E27FC236}">
                <a16:creationId xmlns:a16="http://schemas.microsoft.com/office/drawing/2014/main" id="{47E157C1-628F-44EA-AFDE-628F1E259A92}"/>
              </a:ext>
            </a:extLst>
          </p:cNvPr>
          <p:cNvSpPr>
            <a:spLocks xmlns:a="http://schemas.openxmlformats.org/drawingml/2006/main" noGrp="1"/>
          </p:cNvSpPr>
          <p:nvPr/>
        </p:nvSpPr>
        <p:spPr>
          <a:xfrm xmlns:a="http://schemas.openxmlformats.org/drawingml/2006/main">
            <a:off x="628650" y="1123950"/>
            <a:ext cx="876300" cy="0"/>
          </a:xfrm>
          <a:prstGeom xmlns:a="http://schemas.openxmlformats.org/drawingml/2006/main" prst="line">
            <a:avLst/>
          </a:prstGeom>
          <a:noFill xmlns:a="http://schemas.openxmlformats.org/drawingml/2006/main"/>
          <a:ln xmlns:a="http://schemas.openxmlformats.org/drawingml/2006/main" w="38100">
            <a:solidFill>
              <a:srgbClr val="0F6E41"/>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8a1eb59f0a0f4510"/>
          <a:stretch xmlns:a="http://schemas.openxmlformats.org/drawingml/2006/main"/>
        </p:blipFill>
        <p:spPr>
          <a:xfrm xmlns:a="http://schemas.openxmlformats.org/drawingml/2006/main">
            <a:off x="10020300" y="220120"/>
            <a:ext cx="428625" cy="512259"/>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c2b3816ad3034554"/>
          <a:stretch xmlns:a="http://schemas.openxmlformats.org/drawingml/2006/main"/>
        </p:blipFill>
        <p:spPr>
          <a:xfrm xmlns:a="http://schemas.openxmlformats.org/drawingml/2006/main">
            <a:off x="10687050" y="298596"/>
            <a:ext cx="990600" cy="35530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B7B4E52-7EC2-42F2-A208-C0BEC7FB22AD}"/>
              </a:ext>
            </a:extLst>
          </p:cNvPr>
          <p:cNvSpPr>
            <a:spLocks xmlns:a="http://schemas.openxmlformats.org/drawingml/2006/main" noGrp="1"/>
          </p:cNvSpPr>
          <p:nvPr/>
        </p:nvSpPr>
        <p:spPr>
          <a:xfrm xmlns:a="http://schemas.openxmlformats.org/drawingml/2006/main">
            <a:off x="11372850" y="6486525"/>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1">
                <a:solidFill>
                  <a:srgbClr val="17352B"/>
                </a:solidFill>
                <a:latin typeface="Noto Sans"/>
                <a:ea typeface="Noto Sans"/>
                <a:cs typeface="Noto Sans"/>
              </a:defRPr>
            </a:pPr>
            <a:r>
              <a:rPr sz="1050" b="1">
                <a:solidFill>
                  <a:srgbClr val="17352B"/>
                </a:solidFill>
                <a:latin typeface="Noto Sans"/>
                <a:ea typeface="Noto Sans"/>
                <a:cs typeface="Noto Sans"/>
              </a:rPr>
              <a:t>2</a:t>
            </a:r>
          </a:p>
        </p:txBody>
      </p:sp>
      <p:sp>
        <p:nvSpPr>
          <p:cNvPr id="6" name="">
            <a:extLst xmlns:a="http://schemas.openxmlformats.org/drawingml/2006/main">
              <a:ext uri="{FF2B5EF4-FFF2-40B4-BE49-F238E27FC236}">
                <a16:creationId xmlns:a16="http://schemas.microsoft.com/office/drawing/2014/main" id="{E0EF35D4-A957-4B97-8073-DE4299E3C485}"/>
              </a:ext>
            </a:extLst>
          </p:cNvPr>
          <p:cNvSpPr>
            <a:spLocks xmlns:a="http://schemas.openxmlformats.org/drawingml/2006/main" noGrp="1"/>
          </p:cNvSpPr>
          <p:nvPr/>
        </p:nvSpPr>
        <p:spPr>
          <a:xfrm xmlns:a="http://schemas.openxmlformats.org/drawingml/2006/main">
            <a:off x="857250" y="1562100"/>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F6E41"/>
                </a:solidFill>
                <a:latin typeface="Noto Sans"/>
                <a:ea typeface="Noto Sans"/>
                <a:cs typeface="Noto Sans"/>
              </a:defRPr>
            </a:pPr>
            <a:r>
              <a:rPr sz="2100" b="1">
                <a:solidFill>
                  <a:srgbClr val="0F6E41"/>
                </a:solidFill>
                <a:latin typeface="Noto Sans"/>
                <a:ea typeface="Noto Sans"/>
                <a:cs typeface="Noto Sans"/>
              </a:rPr>
              <a:t>CAMS qua Open-Meteo</a:t>
            </a:r>
          </a:p>
        </p:txBody>
      </p:sp>
      <p:sp>
        <p:nvSpPr>
          <p:cNvPr id="7" name="">
            <a:extLst xmlns:a="http://schemas.openxmlformats.org/drawingml/2006/main">
              <a:ext uri="{FF2B5EF4-FFF2-40B4-BE49-F238E27FC236}">
                <a16:creationId xmlns:a16="http://schemas.microsoft.com/office/drawing/2014/main" id="{5B93AE27-38BF-4DD3-9419-3C15CEF4D805}"/>
              </a:ext>
            </a:extLst>
          </p:cNvPr>
          <p:cNvSpPr>
            <a:spLocks xmlns:a="http://schemas.openxmlformats.org/drawingml/2006/main" noGrp="1"/>
          </p:cNvSpPr>
          <p:nvPr/>
        </p:nvSpPr>
        <p:spPr>
          <a:xfrm xmlns:a="http://schemas.openxmlformats.org/drawingml/2006/main">
            <a:off x="876300" y="2114550"/>
            <a:ext cx="4095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725" b="0">
                <a:solidFill>
                  <a:srgbClr val="17352B"/>
                </a:solidFill>
                <a:latin typeface="Noto Sans"/>
                <a:ea typeface="Noto Sans"/>
                <a:cs typeface="Noto Sans"/>
              </a:defRPr>
            </a:pPr>
            <a:r>
              <a:rPr sz="1725" b="0">
                <a:solidFill>
                  <a:srgbClr val="17352B"/>
                </a:solidFill>
                <a:latin typeface="Noto Sans"/>
                <a:ea typeface="Noto Sans"/>
                <a:cs typeface="Noto Sans"/>
              </a:rPr>
              <a:t>Tín hiệu nền theo giờ</a:t>
            </a:r>
          </a:p>
          <a:p xmlns:a="http://schemas.openxmlformats.org/drawingml/2006/main">
            <a:pPr algn="l">
              <a:lnSpc>
                <a:spcPct val="115000"/>
              </a:lnSpc>
              <a:buNone/>
              <a:defRPr sz="1725" b="0">
                <a:solidFill>
                  <a:srgbClr val="17352B"/>
                </a:solidFill>
                <a:latin typeface="Noto Sans"/>
                <a:ea typeface="Noto Sans"/>
                <a:cs typeface="Noto Sans"/>
              </a:defRPr>
            </a:pPr>
            <a:r>
              <a:rPr sz="1725" b="0">
                <a:solidFill>
                  <a:srgbClr val="17352B"/>
                </a:solidFill>
                <a:latin typeface="Noto Sans"/>
                <a:ea typeface="Noto Sans"/>
                <a:cs typeface="Noto Sans"/>
              </a:rPr>
              <a:t>Bao phủ khoảng thời gian dài</a:t>
            </a:r>
          </a:p>
          <a:p xmlns:a="http://schemas.openxmlformats.org/drawingml/2006/main">
            <a:pPr algn="l">
              <a:lnSpc>
                <a:spcPct val="115000"/>
              </a:lnSpc>
              <a:buNone/>
              <a:defRPr sz="1725" b="0">
                <a:solidFill>
                  <a:srgbClr val="17352B"/>
                </a:solidFill>
                <a:latin typeface="Noto Sans"/>
                <a:ea typeface="Noto Sans"/>
                <a:cs typeface="Noto Sans"/>
              </a:defRPr>
            </a:pPr>
            <a:r>
              <a:rPr sz="1725" b="0">
                <a:solidFill>
                  <a:srgbClr val="17352B"/>
                </a:solidFill>
                <a:latin typeface="Noto Sans"/>
                <a:ea typeface="Noto Sans"/>
                <a:cs typeface="Noto Sans"/>
              </a:rPr>
              <a:t>Có thể lệch so với điều kiện tại vị trí đo</a:t>
            </a:r>
          </a:p>
        </p:txBody>
      </p:sp>
      <p:sp>
        <p:nvSpPr>
          <p:cNvPr id="8" name="">
            <a:extLst xmlns:a="http://schemas.openxmlformats.org/drawingml/2006/main">
              <a:ext uri="{FF2B5EF4-FFF2-40B4-BE49-F238E27FC236}">
                <a16:creationId xmlns:a16="http://schemas.microsoft.com/office/drawing/2014/main" id="{F0EB46C3-A996-43E6-81EA-5F6144079293}"/>
              </a:ext>
            </a:extLst>
          </p:cNvPr>
          <p:cNvSpPr>
            <a:spLocks xmlns:a="http://schemas.openxmlformats.org/drawingml/2006/main" noGrp="1"/>
          </p:cNvSpPr>
          <p:nvPr/>
        </p:nvSpPr>
        <p:spPr>
          <a:xfrm xmlns:a="http://schemas.openxmlformats.org/drawingml/2006/main">
            <a:off x="7239000" y="1562100"/>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F6E41"/>
                </a:solidFill>
                <a:latin typeface="Noto Sans"/>
                <a:ea typeface="Noto Sans"/>
                <a:cs typeface="Noto Sans"/>
              </a:defRPr>
            </a:pPr>
            <a:r>
              <a:rPr sz="2100" b="1">
                <a:solidFill>
                  <a:srgbClr val="0F6E41"/>
                </a:solidFill>
                <a:latin typeface="Noto Sans"/>
                <a:ea typeface="Noto Sans"/>
                <a:cs typeface="Noto Sans"/>
              </a:rPr>
              <a:t>PurpleAir tại VNU-HCM</a:t>
            </a:r>
          </a:p>
        </p:txBody>
      </p:sp>
      <p:sp>
        <p:nvSpPr>
          <p:cNvPr id="9" name="">
            <a:extLst xmlns:a="http://schemas.openxmlformats.org/drawingml/2006/main">
              <a:ext uri="{FF2B5EF4-FFF2-40B4-BE49-F238E27FC236}">
                <a16:creationId xmlns:a16="http://schemas.microsoft.com/office/drawing/2014/main" id="{526CDB0C-8855-4145-ADC8-E2A78D02CB59}"/>
              </a:ext>
            </a:extLst>
          </p:cNvPr>
          <p:cNvSpPr>
            <a:spLocks xmlns:a="http://schemas.openxmlformats.org/drawingml/2006/main" noGrp="1"/>
          </p:cNvSpPr>
          <p:nvPr/>
        </p:nvSpPr>
        <p:spPr>
          <a:xfrm xmlns:a="http://schemas.openxmlformats.org/drawingml/2006/main">
            <a:off x="7258050" y="2114550"/>
            <a:ext cx="4095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725" b="0">
                <a:solidFill>
                  <a:srgbClr val="17352B"/>
                </a:solidFill>
                <a:latin typeface="Noto Sans"/>
                <a:ea typeface="Noto Sans"/>
                <a:cs typeface="Noto Sans"/>
              </a:defRPr>
            </a:pPr>
            <a:r>
              <a:rPr sz="1725" b="0">
                <a:solidFill>
                  <a:srgbClr val="17352B"/>
                </a:solidFill>
                <a:latin typeface="Noto Sans"/>
                <a:ea typeface="Noto Sans"/>
                <a:cs typeface="Noto Sans"/>
              </a:rPr>
              <a:t>Quan sát cục bộ mỗi 10 phút</a:t>
            </a:r>
          </a:p>
          <a:p xmlns:a="http://schemas.openxmlformats.org/drawingml/2006/main">
            <a:pPr algn="l">
              <a:lnSpc>
                <a:spcPct val="115000"/>
              </a:lnSpc>
              <a:buNone/>
              <a:defRPr sz="1725" b="0">
                <a:solidFill>
                  <a:srgbClr val="17352B"/>
                </a:solidFill>
                <a:latin typeface="Noto Sans"/>
                <a:ea typeface="Noto Sans"/>
                <a:cs typeface="Noto Sans"/>
              </a:defRPr>
            </a:pPr>
            <a:r>
              <a:rPr sz="1725" b="0">
                <a:solidFill>
                  <a:srgbClr val="17352B"/>
                </a:solidFill>
                <a:latin typeface="Noto Sans"/>
                <a:ea typeface="Noto Sans"/>
                <a:cs typeface="Noto Sans"/>
              </a:rPr>
              <a:t>Phản ánh nhanh tại vị trí cảm biến</a:t>
            </a:r>
          </a:p>
          <a:p xmlns:a="http://schemas.openxmlformats.org/drawingml/2006/main">
            <a:pPr algn="l">
              <a:lnSpc>
                <a:spcPct val="115000"/>
              </a:lnSpc>
              <a:buNone/>
              <a:defRPr sz="1725" b="0">
                <a:solidFill>
                  <a:srgbClr val="17352B"/>
                </a:solidFill>
                <a:latin typeface="Noto Sans"/>
                <a:ea typeface="Noto Sans"/>
                <a:cs typeface="Noto Sans"/>
              </a:defRPr>
            </a:pPr>
            <a:r>
              <a:rPr sz="1725" b="0">
                <a:solidFill>
                  <a:srgbClr val="17352B"/>
                </a:solidFill>
                <a:latin typeface="Noto Sans"/>
                <a:ea typeface="Noto Sans"/>
                <a:cs typeface="Noto Sans"/>
              </a:rPr>
              <a:t>Hai kênh A/B cần vượt qua kiểm tra QC</a:t>
            </a:r>
          </a:p>
        </p:txBody>
      </p:sp>
      <p:sp>
        <p:nvSpPr>
          <p:cNvPr id="10" name="">
            <a:extLst xmlns:a="http://schemas.openxmlformats.org/drawingml/2006/main">
              <a:ext uri="{FF2B5EF4-FFF2-40B4-BE49-F238E27FC236}">
                <a16:creationId xmlns:a16="http://schemas.microsoft.com/office/drawing/2014/main" id="{8B5C426A-F33B-406C-B816-0F417A1733BA}"/>
              </a:ext>
            </a:extLst>
          </p:cNvPr>
          <p:cNvSpPr>
            <a:spLocks xmlns:a="http://schemas.openxmlformats.org/drawingml/2006/main" noGrp="1"/>
          </p:cNvSpPr>
          <p:nvPr/>
        </p:nvSpPr>
        <p:spPr>
          <a:xfrm xmlns:a="http://schemas.openxmlformats.org/drawingml/2006/main">
            <a:off x="6096000" y="1524000"/>
            <a:ext cx="0" cy="1952625"/>
          </a:xfrm>
          <a:prstGeom xmlns:a="http://schemas.openxmlformats.org/drawingml/2006/main" prst="line">
            <a:avLst/>
          </a:prstGeom>
          <a:noFill xmlns:a="http://schemas.openxmlformats.org/drawingml/2006/main"/>
          <a:ln xmlns:a="http://schemas.openxmlformats.org/drawingml/2006/main" w="14288">
            <a:solidFill>
              <a:srgbClr val="C8D8CF"/>
            </a:solidFill>
            <a:prstDash val="solid"/>
          </a:ln>
        </p:spPr>
      </p:sp>
      <p:sp>
        <p:nvSpPr>
          <p:cNvPr id="11" name="">
            <a:extLst xmlns:a="http://schemas.openxmlformats.org/drawingml/2006/main">
              <a:ext uri="{FF2B5EF4-FFF2-40B4-BE49-F238E27FC236}">
                <a16:creationId xmlns:a16="http://schemas.microsoft.com/office/drawing/2014/main" id="{34785B0D-3DE8-4ACB-9683-6B3D9793B95F}"/>
              </a:ext>
            </a:extLst>
          </p:cNvPr>
          <p:cNvSpPr>
            <a:spLocks xmlns:a="http://schemas.openxmlformats.org/drawingml/2006/main" noGrp="1"/>
          </p:cNvSpPr>
          <p:nvPr/>
        </p:nvSpPr>
        <p:spPr>
          <a:xfrm xmlns:a="http://schemas.openxmlformats.org/drawingml/2006/main">
            <a:off x="1047750" y="4191000"/>
            <a:ext cx="2381250" cy="895350"/>
          </a:xfrm>
          <a:prstGeom xmlns:a="http://schemas.openxmlformats.org/drawingml/2006/main" prst="roundRect">
            <a:avLst>
              <a:gd name="adj" fmla="val 14894"/>
            </a:avLst>
          </a:prstGeom>
          <a:solidFill xmlns:a="http://schemas.openxmlformats.org/drawingml/2006/main">
            <a:srgbClr val="EAF5EF"/>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725" b="1">
                <a:solidFill>
                  <a:srgbClr val="17352B"/>
                </a:solidFill>
                <a:latin typeface="Noto Sans"/>
                <a:ea typeface="Noto Sans"/>
                <a:cs typeface="Noto Sans"/>
              </a:defRPr>
            </a:pPr>
            <a:r>
              <a:rPr sz="1725" b="1">
                <a:solidFill>
                  <a:srgbClr val="17352B"/>
                </a:solidFill>
                <a:latin typeface="Noto Sans"/>
                <a:ea typeface="Noto Sans"/>
                <a:cs typeface="Noto Sans"/>
              </a:rPr>
              <a:t>CAMS</a:t>
            </a:r>
          </a:p>
          <a:p xmlns:a="http://schemas.openxmlformats.org/drawingml/2006/main">
            <a:pPr algn="ctr">
              <a:defRPr sz="1725" b="1">
                <a:solidFill>
                  <a:srgbClr val="17352B"/>
                </a:solidFill>
                <a:latin typeface="Noto Sans"/>
                <a:ea typeface="Noto Sans"/>
                <a:cs typeface="Noto Sans"/>
              </a:defRPr>
            </a:pPr>
            <a:r>
              <a:rPr sz="1725" b="1">
                <a:solidFill>
                  <a:srgbClr val="17352B"/>
                </a:solidFill>
                <a:latin typeface="Noto Sans"/>
                <a:ea typeface="Noto Sans"/>
                <a:cs typeface="Noto Sans"/>
              </a:rPr>
              <a:t>tín hiệu nền</a:t>
            </a:r>
          </a:p>
        </p:txBody>
      </p:sp>
      <p:sp>
        <p:nvSpPr>
          <p:cNvPr id="12" name="">
            <a:extLst xmlns:a="http://schemas.openxmlformats.org/drawingml/2006/main">
              <a:ext uri="{FF2B5EF4-FFF2-40B4-BE49-F238E27FC236}">
                <a16:creationId xmlns:a16="http://schemas.microsoft.com/office/drawing/2014/main" id="{CCD2EADF-F738-4FA2-959C-C74462807249}"/>
              </a:ext>
            </a:extLst>
          </p:cNvPr>
          <p:cNvSpPr>
            <a:spLocks xmlns:a="http://schemas.openxmlformats.org/drawingml/2006/main" noGrp="1"/>
          </p:cNvSpPr>
          <p:nvPr/>
        </p:nvSpPr>
        <p:spPr>
          <a:xfrm xmlns:a="http://schemas.openxmlformats.org/drawingml/2006/main">
            <a:off x="4762500" y="4038600"/>
            <a:ext cx="2667000" cy="1200150"/>
          </a:xfrm>
          <a:prstGeom xmlns:a="http://schemas.openxmlformats.org/drawingml/2006/main" prst="roundRect">
            <a:avLst>
              <a:gd name="adj" fmla="val 11111"/>
            </a:avLst>
          </a:prstGeom>
          <a:solidFill xmlns:a="http://schemas.openxmlformats.org/drawingml/2006/main">
            <a:srgbClr val="0F6E41"/>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875" b="1">
                <a:solidFill>
                  <a:srgbClr val="FFFFFF"/>
                </a:solidFill>
                <a:latin typeface="Noto Sans"/>
                <a:ea typeface="Noto Sans"/>
                <a:cs typeface="Noto Sans"/>
              </a:defRPr>
            </a:pPr>
            <a:r>
              <a:rPr sz="1875" b="1">
                <a:solidFill>
                  <a:srgbClr val="FFFFFF"/>
                </a:solidFill>
                <a:latin typeface="Noto Sans"/>
                <a:ea typeface="Noto Sans"/>
                <a:cs typeface="Noto Sans"/>
              </a:rPr>
              <a:t>Hiệu chỉnh độ lệch</a:t>
            </a:r>
          </a:p>
          <a:p xmlns:a="http://schemas.openxmlformats.org/drawingml/2006/main">
            <a:pPr algn="ctr">
              <a:defRPr sz="1875" b="1">
                <a:solidFill>
                  <a:srgbClr val="FFFFFF"/>
                </a:solidFill>
                <a:latin typeface="Noto Sans"/>
                <a:ea typeface="Noto Sans"/>
                <a:cs typeface="Noto Sans"/>
              </a:defRPr>
            </a:pPr>
            <a:r>
              <a:rPr sz="1875" b="1">
                <a:solidFill>
                  <a:srgbClr val="FFFFFF"/>
                </a:solidFill>
                <a:latin typeface="Noto Sans"/>
                <a:ea typeface="Noto Sans"/>
                <a:cs typeface="Noto Sans"/>
              </a:rPr>
              <a:t>thích nghi</a:t>
            </a:r>
          </a:p>
        </p:txBody>
      </p:sp>
      <p:sp>
        <p:nvSpPr>
          <p:cNvPr id="13" name="">
            <a:extLst xmlns:a="http://schemas.openxmlformats.org/drawingml/2006/main">
              <a:ext uri="{FF2B5EF4-FFF2-40B4-BE49-F238E27FC236}">
                <a16:creationId xmlns:a16="http://schemas.microsoft.com/office/drawing/2014/main" id="{7125649F-363E-4ACD-BBEE-1AC009925241}"/>
              </a:ext>
            </a:extLst>
          </p:cNvPr>
          <p:cNvSpPr>
            <a:spLocks xmlns:a="http://schemas.openxmlformats.org/drawingml/2006/main" noGrp="1"/>
          </p:cNvSpPr>
          <p:nvPr/>
        </p:nvSpPr>
        <p:spPr>
          <a:xfrm xmlns:a="http://schemas.openxmlformats.org/drawingml/2006/main">
            <a:off x="8763000" y="4191000"/>
            <a:ext cx="2571750" cy="895350"/>
          </a:xfrm>
          <a:prstGeom xmlns:a="http://schemas.openxmlformats.org/drawingml/2006/main" prst="roundRect">
            <a:avLst>
              <a:gd name="adj" fmla="val 14894"/>
            </a:avLst>
          </a:prstGeom>
          <a:solidFill xmlns:a="http://schemas.openxmlformats.org/drawingml/2006/main">
            <a:srgbClr val="EAF5EF"/>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650" b="1">
                <a:solidFill>
                  <a:srgbClr val="17352B"/>
                </a:solidFill>
                <a:latin typeface="Noto Sans"/>
                <a:ea typeface="Noto Sans"/>
                <a:cs typeface="Noto Sans"/>
              </a:defRPr>
            </a:pPr>
            <a:r>
              <a:rPr sz="1650" b="1">
                <a:solidFill>
                  <a:srgbClr val="17352B"/>
                </a:solidFill>
                <a:latin typeface="Noto Sans"/>
                <a:ea typeface="Noto Sans"/>
                <a:cs typeface="Noto Sans"/>
              </a:rPr>
              <a:t>PurpleAir đạt QC</a:t>
            </a:r>
          </a:p>
          <a:p xmlns:a="http://schemas.openxmlformats.org/drawingml/2006/main">
            <a:pPr algn="ctr">
              <a:defRPr sz="1650" b="1">
                <a:solidFill>
                  <a:srgbClr val="17352B"/>
                </a:solidFill>
                <a:latin typeface="Noto Sans"/>
                <a:ea typeface="Noto Sans"/>
                <a:cs typeface="Noto Sans"/>
              </a:defRPr>
            </a:pPr>
            <a:r>
              <a:rPr sz="1650" b="1">
                <a:solidFill>
                  <a:srgbClr val="17352B"/>
                </a:solidFill>
                <a:latin typeface="Noto Sans"/>
                <a:ea typeface="Noto Sans"/>
                <a:cs typeface="Noto Sans"/>
              </a:rPr>
              <a:t>mới cập nhật trạng thái</a:t>
            </a:r>
          </a:p>
        </p:txBody>
      </p:sp>
      <p:cxnSp>
        <p:nvCxnSpPr>
          <p:cNvPr id="30" name=""/>
          <p:cNvCxnSpPr>
            <a:stCxn xmlns:a="http://schemas.openxmlformats.org/drawingml/2006/main" id="11" idx="3"/>
            <a:endCxn xmlns:a="http://schemas.openxmlformats.org/drawingml/2006/main" id="12" idx="1"/>
          </p:cNvCxnSpPr>
          <p:nvPr/>
        </p:nvCxnSpPr>
        <p:spPr>
          <a:xfrm xmlns:a="http://schemas.openxmlformats.org/drawingml/2006/main">
            <a:off x="3429000" y="4638675"/>
            <a:ext cx="1333500" cy="0"/>
          </a:xfrm>
          <a:prstGeom xmlns:a="http://schemas.openxmlformats.org/drawingml/2006/main" prst="straightConnector1">
            <a:avLst/>
          </a:prstGeom>
          <a:ln xmlns:a="http://schemas.openxmlformats.org/drawingml/2006/main" w="19050">
            <a:solidFill>
              <a:srgbClr val="0F6E41"/>
            </a:solidFill>
            <a:prstDash val="solid"/>
            <a:tailEnd type="triangle" w="sm" len="sm"/>
          </a:ln>
        </p:spPr>
      </p:cxnSp>
      <p:cxnSp>
        <p:nvCxnSpPr>
          <p:cNvPr id="31" name=""/>
          <p:cNvCxnSpPr>
            <a:stCxn xmlns:a="http://schemas.openxmlformats.org/drawingml/2006/main" id="13" idx="1"/>
            <a:endCxn xmlns:a="http://schemas.openxmlformats.org/drawingml/2006/main" id="12" idx="3"/>
          </p:cNvCxnSpPr>
          <p:nvPr/>
        </p:nvCxnSpPr>
        <p:spPr>
          <a:xfrm xmlns:a="http://schemas.openxmlformats.org/drawingml/2006/main" flipH="1">
            <a:off x="7429500" y="4638675"/>
            <a:ext cx="1333500" cy="0"/>
          </a:xfrm>
          <a:prstGeom xmlns:a="http://schemas.openxmlformats.org/drawingml/2006/main" prst="straightConnector1">
            <a:avLst/>
          </a:prstGeom>
          <a:ln xmlns:a="http://schemas.openxmlformats.org/drawingml/2006/main" w="19050">
            <a:solidFill>
              <a:srgbClr val="0F6E41"/>
            </a:solidFill>
            <a:prstDash val="solid"/>
            <a:tailEnd type="triangle" w="sm" len="sm"/>
          </a:ln>
        </p:spPr>
      </p:cxnSp>
      <p:sp>
        <p:nvSpPr>
          <p:cNvPr id="16" name="">
            <a:extLst xmlns:a="http://schemas.openxmlformats.org/drawingml/2006/main">
              <a:ext uri="{FF2B5EF4-FFF2-40B4-BE49-F238E27FC236}">
                <a16:creationId xmlns:a16="http://schemas.microsoft.com/office/drawing/2014/main" id="{81DCF41A-0920-46A3-B81E-51CDB67C14D8}"/>
              </a:ext>
            </a:extLst>
          </p:cNvPr>
          <p:cNvSpPr>
            <a:spLocks xmlns:a="http://schemas.openxmlformats.org/drawingml/2006/main" noGrp="1"/>
          </p:cNvSpPr>
          <p:nvPr/>
        </p:nvSpPr>
        <p:spPr>
          <a:xfrm xmlns:a="http://schemas.openxmlformats.org/drawingml/2006/main">
            <a:off x="3048000" y="5715000"/>
            <a:ext cx="609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0F6E41"/>
                </a:solidFill>
                <a:latin typeface="Noto Sans"/>
                <a:ea typeface="Noto Sans"/>
                <a:cs typeface="Noto Sans"/>
              </a:defRPr>
            </a:pPr>
            <a:r>
              <a:rPr sz="1800" b="1">
                <a:solidFill>
                  <a:srgbClr val="0F6E41"/>
                </a:solidFill>
                <a:latin typeface="Noto Sans"/>
                <a:ea typeface="Noto Sans"/>
                <a:cs typeface="Noto Sans"/>
              </a:rPr>
              <a:t>CAMS vẫn tạo đầu ra khi PurpleAir thiếu hoặc không đạt QC</a:t>
            </a:r>
          </a:p>
        </p:txBody>
      </p:sp>
    </p:spTree>
    <p:extLst>
      <p:ext uri="{BB962C8B-B14F-4D97-AF65-F5344CB8AC3E}">
        <p14:creationId xmlns:p14="http://schemas.microsoft.com/office/powerpoint/2010/main" val="143264838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8D1EE8C-98CA-473B-B43A-16ABD1AB519E}"/>
              </a:ext>
            </a:extLst>
          </p:cNvPr>
          <p:cNvSpPr>
            <a:spLocks xmlns:a="http://schemas.openxmlformats.org/drawingml/2006/main" noGrp="1"/>
          </p:cNvSpPr>
          <p:nvPr/>
        </p:nvSpPr>
        <p:spPr>
          <a:xfrm xmlns:a="http://schemas.openxmlformats.org/drawingml/2006/main">
            <a:off x="723900" y="314325"/>
            <a:ext cx="857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352B"/>
                </a:solidFill>
                <a:latin typeface="Noto Sans"/>
                <a:ea typeface="Noto Sans"/>
                <a:cs typeface="Noto Sans"/>
              </a:defRPr>
            </a:pPr>
            <a:r>
              <a:rPr sz="3150" b="1">
                <a:solidFill>
                  <a:srgbClr val="17352B"/>
                </a:solidFill>
                <a:latin typeface="Noto Sans"/>
                <a:ea typeface="Noto Sans"/>
                <a:cs typeface="Noto Sans"/>
              </a:rPr>
              <a:t>Kiến trúc IP hoàn chỉnh</a:t>
            </a:r>
          </a:p>
        </p:txBody>
      </p:sp>
      <p:sp>
        <p:nvSpPr>
          <p:cNvPr id="2" name="">
            <a:extLst xmlns:a="http://schemas.openxmlformats.org/drawingml/2006/main">
              <a:ext uri="{FF2B5EF4-FFF2-40B4-BE49-F238E27FC236}">
                <a16:creationId xmlns:a16="http://schemas.microsoft.com/office/drawing/2014/main" id="{AB1F7F56-FE8E-4ED8-98E1-8465351B6A12}"/>
              </a:ext>
            </a:extLst>
          </p:cNvPr>
          <p:cNvSpPr>
            <a:spLocks xmlns:a="http://schemas.openxmlformats.org/drawingml/2006/main" noGrp="1"/>
          </p:cNvSpPr>
          <p:nvPr/>
        </p:nvSpPr>
        <p:spPr>
          <a:xfrm xmlns:a="http://schemas.openxmlformats.org/drawingml/2006/main">
            <a:off x="628650" y="1123950"/>
            <a:ext cx="876300" cy="0"/>
          </a:xfrm>
          <a:prstGeom xmlns:a="http://schemas.openxmlformats.org/drawingml/2006/main" prst="line">
            <a:avLst/>
          </a:prstGeom>
          <a:noFill xmlns:a="http://schemas.openxmlformats.org/drawingml/2006/main"/>
          <a:ln xmlns:a="http://schemas.openxmlformats.org/drawingml/2006/main" w="38100">
            <a:solidFill>
              <a:srgbClr val="0F6E41"/>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f3fa4f9019eb464f"/>
          <a:stretch xmlns:a="http://schemas.openxmlformats.org/drawingml/2006/main"/>
        </p:blipFill>
        <p:spPr>
          <a:xfrm xmlns:a="http://schemas.openxmlformats.org/drawingml/2006/main">
            <a:off x="10020300" y="220120"/>
            <a:ext cx="428625" cy="512259"/>
          </a:xfrm>
          <a:prstGeom xmlns:a="http://schemas.openxmlformats.org/drawingml/2006/main" prst="rect">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71565b9401604b3e"/>
          <a:stretch xmlns:a="http://schemas.openxmlformats.org/drawingml/2006/main"/>
        </p:blipFill>
        <p:spPr>
          <a:xfrm xmlns:a="http://schemas.openxmlformats.org/drawingml/2006/main">
            <a:off x="10687050" y="298596"/>
            <a:ext cx="990600" cy="35530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1E52B1B-B6E1-4BAA-B371-5BFBB33EE97C}"/>
              </a:ext>
            </a:extLst>
          </p:cNvPr>
          <p:cNvSpPr>
            <a:spLocks xmlns:a="http://schemas.openxmlformats.org/drawingml/2006/main" noGrp="1"/>
          </p:cNvSpPr>
          <p:nvPr/>
        </p:nvSpPr>
        <p:spPr>
          <a:xfrm xmlns:a="http://schemas.openxmlformats.org/drawingml/2006/main">
            <a:off x="11372850" y="6486525"/>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1">
                <a:solidFill>
                  <a:srgbClr val="17352B"/>
                </a:solidFill>
                <a:latin typeface="Noto Sans"/>
                <a:ea typeface="Noto Sans"/>
                <a:cs typeface="Noto Sans"/>
              </a:defRPr>
            </a:pPr>
            <a:r>
              <a:rPr sz="1050" b="1">
                <a:solidFill>
                  <a:srgbClr val="17352B"/>
                </a:solidFill>
                <a:latin typeface="Noto Sans"/>
                <a:ea typeface="Noto Sans"/>
                <a:cs typeface="Noto Sans"/>
              </a:rPr>
              <a:t>3</a:t>
            </a:r>
          </a:p>
        </p:txBody>
      </p:sp>
      <p:sp>
        <p:nvSpPr>
          <p:cNvPr id="6" name="">
            <a:extLst xmlns:a="http://schemas.openxmlformats.org/drawingml/2006/main">
              <a:ext uri="{FF2B5EF4-FFF2-40B4-BE49-F238E27FC236}">
                <a16:creationId xmlns:a16="http://schemas.microsoft.com/office/drawing/2014/main" id="{2D4612A1-D6A6-4227-9A69-B57FD3B7F037}"/>
              </a:ext>
            </a:extLst>
          </p:cNvPr>
          <p:cNvSpPr>
            <a:spLocks xmlns:a="http://schemas.openxmlformats.org/drawingml/2006/main" noGrp="1"/>
          </p:cNvSpPr>
          <p:nvPr/>
        </p:nvSpPr>
        <p:spPr>
          <a:xfrm xmlns:a="http://schemas.openxmlformats.org/drawingml/2006/main">
            <a:off x="876300" y="1381125"/>
            <a:ext cx="10439400" cy="552450"/>
          </a:xfrm>
          <a:prstGeom xmlns:a="http://schemas.openxmlformats.org/drawingml/2006/main" prst="roundRect">
            <a:avLst>
              <a:gd name="adj" fmla="val 24138"/>
            </a:avLst>
          </a:prstGeom>
          <a:solidFill xmlns:a="http://schemas.openxmlformats.org/drawingml/2006/main">
            <a:srgbClr val="EAF5EF"/>
          </a:solidFill>
          <a:ln xmlns:a="http://schemas.openxmlformats.org/drawingml/2006/main" w="14288">
            <a:solidFill>
              <a:srgbClr val="C8D8CF"/>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575" b="0">
                <a:solidFill>
                  <a:srgbClr val="17352B"/>
                </a:solidFill>
                <a:latin typeface="Noto Sans"/>
                <a:ea typeface="Noto Sans"/>
                <a:cs typeface="Noto Sans"/>
              </a:defRPr>
            </a:pPr>
            <a:r>
              <a:rPr sz="1575" b="0">
                <a:solidFill>
                  <a:srgbClr val="17352B"/>
                </a:solidFill>
                <a:latin typeface="Noto Sans"/>
                <a:ea typeface="Noto Sans"/>
                <a:cs typeface="Noto Sans"/>
              </a:rPr>
              <a:t>Thiết bị chủ thu thập dữ liệu, thực hiện QC và chuyển CAMS/PurpleAir sang số nguyên x16</a:t>
            </a:r>
          </a:p>
        </p:txBody>
      </p:sp>
      <p:sp>
        <p:nvSpPr>
          <p:cNvPr id="7" name="">
            <a:extLst xmlns:a="http://schemas.openxmlformats.org/drawingml/2006/main">
              <a:ext uri="{FF2B5EF4-FFF2-40B4-BE49-F238E27FC236}">
                <a16:creationId xmlns:a16="http://schemas.microsoft.com/office/drawing/2014/main" id="{6732E9AC-1FC1-4E22-BDF3-C9B008547716}"/>
              </a:ext>
            </a:extLst>
          </p:cNvPr>
          <p:cNvSpPr>
            <a:spLocks xmlns:a="http://schemas.openxmlformats.org/drawingml/2006/main" noGrp="1"/>
          </p:cNvSpPr>
          <p:nvPr/>
        </p:nvSpPr>
        <p:spPr>
          <a:xfrm xmlns:a="http://schemas.openxmlformats.org/drawingml/2006/main">
            <a:off x="742950" y="2190750"/>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0F6E41"/>
                </a:solidFill>
                <a:latin typeface="Noto Sans"/>
                <a:ea typeface="Noto Sans"/>
                <a:cs typeface="Noto Sans"/>
              </a:defRPr>
            </a:pPr>
            <a:r>
              <a:rPr sz="1350" b="1">
                <a:solidFill>
                  <a:srgbClr val="0F6E41"/>
                </a:solidFill>
                <a:latin typeface="Noto Sans"/>
                <a:ea typeface="Noto Sans"/>
                <a:cs typeface="Noto Sans"/>
              </a:rPr>
              <a:t>TÍCH HỢP SoC</a:t>
            </a:r>
          </a:p>
        </p:txBody>
      </p:sp>
      <p:sp>
        <p:nvSpPr>
          <p:cNvPr id="8" name="">
            <a:extLst xmlns:a="http://schemas.openxmlformats.org/drawingml/2006/main">
              <a:ext uri="{FF2B5EF4-FFF2-40B4-BE49-F238E27FC236}">
                <a16:creationId xmlns:a16="http://schemas.microsoft.com/office/drawing/2014/main" id="{1DF773F9-BE11-405C-B179-85C083A0BB36}"/>
              </a:ext>
            </a:extLst>
          </p:cNvPr>
          <p:cNvSpPr>
            <a:spLocks xmlns:a="http://schemas.openxmlformats.org/drawingml/2006/main" noGrp="1"/>
          </p:cNvSpPr>
          <p:nvPr/>
        </p:nvSpPr>
        <p:spPr>
          <a:xfrm xmlns:a="http://schemas.openxmlformats.org/drawingml/2006/main">
            <a:off x="742950" y="41719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0F6E41"/>
                </a:solidFill>
                <a:latin typeface="Noto Sans"/>
                <a:ea typeface="Noto Sans"/>
                <a:cs typeface="Noto Sans"/>
              </a:defRPr>
            </a:pPr>
            <a:r>
              <a:rPr sz="1350" b="1">
                <a:solidFill>
                  <a:srgbClr val="0F6E41"/>
                </a:solidFill>
                <a:latin typeface="Noto Sans"/>
                <a:ea typeface="Noto Sans"/>
                <a:cs typeface="Noto Sans"/>
              </a:rPr>
              <a:t>KIỂM CHỨNG FPGA</a:t>
            </a:r>
          </a:p>
        </p:txBody>
      </p:sp>
      <p:sp>
        <p:nvSpPr>
          <p:cNvPr id="9" name="">
            <a:extLst xmlns:a="http://schemas.openxmlformats.org/drawingml/2006/main">
              <a:ext uri="{FF2B5EF4-FFF2-40B4-BE49-F238E27FC236}">
                <a16:creationId xmlns:a16="http://schemas.microsoft.com/office/drawing/2014/main" id="{0FA310B1-A29C-4B2C-B41D-C6F93D2C5C7A}"/>
              </a:ext>
            </a:extLst>
          </p:cNvPr>
          <p:cNvSpPr>
            <a:spLocks xmlns:a="http://schemas.openxmlformats.org/drawingml/2006/main" noGrp="1"/>
          </p:cNvSpPr>
          <p:nvPr/>
        </p:nvSpPr>
        <p:spPr>
          <a:xfrm xmlns:a="http://schemas.openxmlformats.org/drawingml/2006/main">
            <a:off x="762000" y="2590800"/>
            <a:ext cx="1809750" cy="857250"/>
          </a:xfrm>
          <a:prstGeom xmlns:a="http://schemas.openxmlformats.org/drawingml/2006/main" prst="roundRect">
            <a:avLst>
              <a:gd name="adj" fmla="val 15556"/>
            </a:avLst>
          </a:prstGeom>
          <a:solidFill xmlns:a="http://schemas.openxmlformats.org/drawingml/2006/main">
            <a:srgbClr val="FFFFFF"/>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575" b="1">
                <a:solidFill>
                  <a:srgbClr val="17352B"/>
                </a:solidFill>
                <a:latin typeface="Noto Sans"/>
                <a:ea typeface="Noto Sans"/>
                <a:cs typeface="Noto Sans"/>
              </a:defRPr>
            </a:pPr>
            <a:r>
              <a:rPr sz="1575" b="1">
                <a:solidFill>
                  <a:srgbClr val="17352B"/>
                </a:solidFill>
                <a:latin typeface="Noto Sans"/>
                <a:ea typeface="Noto Sans"/>
                <a:cs typeface="Noto Sans"/>
              </a:rPr>
              <a:t>Bộ xử lý</a:t>
            </a:r>
          </a:p>
          <a:p xmlns:a="http://schemas.openxmlformats.org/drawingml/2006/main">
            <a:pPr algn="ctr">
              <a:defRPr sz="1575" b="1">
                <a:solidFill>
                  <a:srgbClr val="17352B"/>
                </a:solidFill>
                <a:latin typeface="Noto Sans"/>
                <a:ea typeface="Noto Sans"/>
                <a:cs typeface="Noto Sans"/>
              </a:defRPr>
            </a:pPr>
            <a:r>
              <a:rPr sz="1575" b="1">
                <a:solidFill>
                  <a:srgbClr val="17352B"/>
                </a:solidFill>
                <a:latin typeface="Noto Sans"/>
                <a:ea typeface="Noto Sans"/>
                <a:cs typeface="Noto Sans"/>
              </a:rPr>
              <a:t>trong hệ thống SoC</a:t>
            </a:r>
          </a:p>
        </p:txBody>
      </p:sp>
      <p:sp>
        <p:nvSpPr>
          <p:cNvPr id="10" name="">
            <a:extLst xmlns:a="http://schemas.openxmlformats.org/drawingml/2006/main">
              <a:ext uri="{FF2B5EF4-FFF2-40B4-BE49-F238E27FC236}">
                <a16:creationId xmlns:a16="http://schemas.microsoft.com/office/drawing/2014/main" id="{A2892D7B-72E5-4B75-A245-042D8C1790D3}"/>
              </a:ext>
            </a:extLst>
          </p:cNvPr>
          <p:cNvSpPr>
            <a:spLocks xmlns:a="http://schemas.openxmlformats.org/drawingml/2006/main" noGrp="1"/>
          </p:cNvSpPr>
          <p:nvPr/>
        </p:nvSpPr>
        <p:spPr>
          <a:xfrm xmlns:a="http://schemas.openxmlformats.org/drawingml/2006/main">
            <a:off x="3048000" y="2590800"/>
            <a:ext cx="2190750" cy="857250"/>
          </a:xfrm>
          <a:prstGeom xmlns:a="http://schemas.openxmlformats.org/drawingml/2006/main" prst="roundRect">
            <a:avLst>
              <a:gd name="adj" fmla="val 15556"/>
            </a:avLst>
          </a:prstGeom>
          <a:solidFill xmlns:a="http://schemas.openxmlformats.org/drawingml/2006/main">
            <a:srgbClr val="EAF5EF"/>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575" b="1">
                <a:solidFill>
                  <a:srgbClr val="17352B"/>
                </a:solidFill>
                <a:latin typeface="Noto Sans"/>
                <a:ea typeface="Noto Sans"/>
                <a:cs typeface="Noto Sans"/>
              </a:defRPr>
            </a:pPr>
            <a:r>
              <a:rPr sz="1575" b="1">
                <a:solidFill>
                  <a:srgbClr val="17352B"/>
                </a:solidFill>
                <a:latin typeface="Noto Sans"/>
                <a:ea typeface="Noto Sans"/>
                <a:cs typeface="Noto Sans"/>
              </a:rPr>
              <a:t>APB3 wrapper</a:t>
            </a:r>
          </a:p>
          <a:p xmlns:a="http://schemas.openxmlformats.org/drawingml/2006/main">
            <a:pPr algn="ctr">
              <a:defRPr sz="1575" b="1">
                <a:solidFill>
                  <a:srgbClr val="17352B"/>
                </a:solidFill>
                <a:latin typeface="Noto Sans"/>
                <a:ea typeface="Noto Sans"/>
                <a:cs typeface="Noto Sans"/>
              </a:defRPr>
            </a:pPr>
            <a:r>
              <a:rPr sz="1575" b="1">
                <a:solidFill>
                  <a:srgbClr val="17352B"/>
                </a:solidFill>
                <a:latin typeface="Noto Sans"/>
                <a:ea typeface="Noto Sans"/>
                <a:cs typeface="Noto Sans"/>
              </a:rPr>
              <a:t>32 bit</a:t>
            </a:r>
          </a:p>
        </p:txBody>
      </p:sp>
      <p:sp>
        <p:nvSpPr>
          <p:cNvPr id="11" name="">
            <a:extLst xmlns:a="http://schemas.openxmlformats.org/drawingml/2006/main">
              <a:ext uri="{FF2B5EF4-FFF2-40B4-BE49-F238E27FC236}">
                <a16:creationId xmlns:a16="http://schemas.microsoft.com/office/drawing/2014/main" id="{88C584B9-8983-4DA9-ADBB-DB0CD22CF584}"/>
              </a:ext>
            </a:extLst>
          </p:cNvPr>
          <p:cNvSpPr>
            <a:spLocks xmlns:a="http://schemas.openxmlformats.org/drawingml/2006/main" noGrp="1"/>
          </p:cNvSpPr>
          <p:nvPr/>
        </p:nvSpPr>
        <p:spPr>
          <a:xfrm xmlns:a="http://schemas.openxmlformats.org/drawingml/2006/main">
            <a:off x="762000" y="4572000"/>
            <a:ext cx="1809750" cy="857250"/>
          </a:xfrm>
          <a:prstGeom xmlns:a="http://schemas.openxmlformats.org/drawingml/2006/main" prst="roundRect">
            <a:avLst>
              <a:gd name="adj" fmla="val 15556"/>
            </a:avLst>
          </a:prstGeom>
          <a:solidFill xmlns:a="http://schemas.openxmlformats.org/drawingml/2006/main">
            <a:srgbClr val="FFFFFF"/>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575" b="1">
                <a:solidFill>
                  <a:srgbClr val="17352B"/>
                </a:solidFill>
                <a:latin typeface="Noto Sans"/>
                <a:ea typeface="Noto Sans"/>
                <a:cs typeface="Noto Sans"/>
              </a:defRPr>
            </a:pPr>
            <a:r>
              <a:rPr sz="1575" b="1">
                <a:solidFill>
                  <a:srgbClr val="17352B"/>
                </a:solidFill>
                <a:latin typeface="Noto Sans"/>
                <a:ea typeface="Noto Sans"/>
                <a:cs typeface="Noto Sans"/>
              </a:rPr>
              <a:t>Máy tính</a:t>
            </a:r>
          </a:p>
          <a:p xmlns:a="http://schemas.openxmlformats.org/drawingml/2006/main">
            <a:pPr algn="ctr">
              <a:defRPr sz="1575" b="1">
                <a:solidFill>
                  <a:srgbClr val="17352B"/>
                </a:solidFill>
                <a:latin typeface="Noto Sans"/>
                <a:ea typeface="Noto Sans"/>
                <a:cs typeface="Noto Sans"/>
              </a:defRPr>
            </a:pPr>
            <a:r>
              <a:rPr sz="1575" b="1">
                <a:solidFill>
                  <a:srgbClr val="17352B"/>
                </a:solidFill>
                <a:latin typeface="Noto Sans"/>
                <a:ea typeface="Noto Sans"/>
                <a:cs typeface="Noto Sans"/>
              </a:rPr>
              <a:t>kiểm thử</a:t>
            </a:r>
          </a:p>
        </p:txBody>
      </p:sp>
      <p:sp>
        <p:nvSpPr>
          <p:cNvPr id="12" name="">
            <a:extLst xmlns:a="http://schemas.openxmlformats.org/drawingml/2006/main">
              <a:ext uri="{FF2B5EF4-FFF2-40B4-BE49-F238E27FC236}">
                <a16:creationId xmlns:a16="http://schemas.microsoft.com/office/drawing/2014/main" id="{16CA600E-54A2-4673-ADDA-C64AEDCBAD4E}"/>
              </a:ext>
            </a:extLst>
          </p:cNvPr>
          <p:cNvSpPr>
            <a:spLocks xmlns:a="http://schemas.openxmlformats.org/drawingml/2006/main" noGrp="1"/>
          </p:cNvSpPr>
          <p:nvPr/>
        </p:nvSpPr>
        <p:spPr>
          <a:xfrm xmlns:a="http://schemas.openxmlformats.org/drawingml/2006/main">
            <a:off x="3048000" y="4572000"/>
            <a:ext cx="2190750" cy="857250"/>
          </a:xfrm>
          <a:prstGeom xmlns:a="http://schemas.openxmlformats.org/drawingml/2006/main" prst="roundRect">
            <a:avLst>
              <a:gd name="adj" fmla="val 15556"/>
            </a:avLst>
          </a:prstGeom>
          <a:solidFill xmlns:a="http://schemas.openxmlformats.org/drawingml/2006/main">
            <a:srgbClr val="EAF5EF"/>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500" b="1">
                <a:solidFill>
                  <a:srgbClr val="17352B"/>
                </a:solidFill>
                <a:latin typeface="Noto Sans"/>
                <a:ea typeface="Noto Sans"/>
                <a:cs typeface="Noto Sans"/>
              </a:defRPr>
            </a:pPr>
            <a:r>
              <a:rPr sz="1500" b="1">
                <a:solidFill>
                  <a:srgbClr val="17352B"/>
                </a:solidFill>
                <a:latin typeface="Noto Sans"/>
                <a:ea typeface="Noto Sans"/>
                <a:cs typeface="Noto Sans"/>
              </a:rPr>
              <a:t>UART demo top</a:t>
            </a:r>
          </a:p>
          <a:p xmlns:a="http://schemas.openxmlformats.org/drawingml/2006/main">
            <a:pPr algn="ctr">
              <a:defRPr sz="1500" b="1">
                <a:solidFill>
                  <a:srgbClr val="17352B"/>
                </a:solidFill>
                <a:latin typeface="Noto Sans"/>
                <a:ea typeface="Noto Sans"/>
                <a:cs typeface="Noto Sans"/>
              </a:defRPr>
            </a:pPr>
            <a:r>
              <a:rPr sz="1500" b="1">
                <a:solidFill>
                  <a:srgbClr val="17352B"/>
                </a:solidFill>
                <a:latin typeface="Noto Sans"/>
                <a:ea typeface="Noto Sans"/>
                <a:cs typeface="Noto Sans"/>
              </a:rPr>
              <a:t>115200 baud, 8N1</a:t>
            </a:r>
          </a:p>
        </p:txBody>
      </p:sp>
      <p:sp>
        <p:nvSpPr>
          <p:cNvPr id="13" name="">
            <a:extLst xmlns:a="http://schemas.openxmlformats.org/drawingml/2006/main">
              <a:ext uri="{FF2B5EF4-FFF2-40B4-BE49-F238E27FC236}">
                <a16:creationId xmlns:a16="http://schemas.microsoft.com/office/drawing/2014/main" id="{34A6213F-B8B7-4925-9B87-999C828A0FC2}"/>
              </a:ext>
            </a:extLst>
          </p:cNvPr>
          <p:cNvSpPr>
            <a:spLocks xmlns:a="http://schemas.openxmlformats.org/drawingml/2006/main" noGrp="1"/>
          </p:cNvSpPr>
          <p:nvPr/>
        </p:nvSpPr>
        <p:spPr>
          <a:xfrm xmlns:a="http://schemas.openxmlformats.org/drawingml/2006/main">
            <a:off x="6858000" y="2943225"/>
            <a:ext cx="3429000" cy="1809750"/>
          </a:xfrm>
          <a:prstGeom xmlns:a="http://schemas.openxmlformats.org/drawingml/2006/main" prst="roundRect">
            <a:avLst>
              <a:gd name="adj" fmla="val 7368"/>
            </a:avLst>
          </a:prstGeom>
          <a:solidFill xmlns:a="http://schemas.openxmlformats.org/drawingml/2006/main">
            <a:srgbClr val="0F6E41"/>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800" b="1">
                <a:solidFill>
                  <a:srgbClr val="FFFFFF"/>
                </a:solidFill>
                <a:latin typeface="Noto Sans"/>
                <a:ea typeface="Noto Sans"/>
                <a:cs typeface="Noto Sans"/>
              </a:defRPr>
            </a:pPr>
            <a:r>
              <a:rPr sz="1800" b="1">
                <a:solidFill>
                  <a:srgbClr val="FFFFFF"/>
                </a:solidFill>
                <a:latin typeface="Noto Sans"/>
                <a:ea typeface="Noto Sans"/>
                <a:cs typeface="Noto Sans"/>
              </a:rPr>
              <a:t>pm25_alert_core</a:t>
            </a:r>
          </a:p>
          <a:p xmlns:a="http://schemas.openxmlformats.org/drawingml/2006/main">
            <a:r>
              <a:t/>
            </a:r>
          </a:p>
          <a:p xmlns:a="http://schemas.openxmlformats.org/drawingml/2006/main">
            <a:pPr algn="ctr">
              <a:defRPr sz="1800" b="1">
                <a:solidFill>
                  <a:srgbClr val="FFFFFF"/>
                </a:solidFill>
                <a:latin typeface="Noto Sans"/>
                <a:ea typeface="Noto Sans"/>
                <a:cs typeface="Noto Sans"/>
              </a:defRPr>
            </a:pPr>
            <a:r>
              <a:rPr sz="1800" b="1">
                <a:solidFill>
                  <a:srgbClr val="FFFFFF"/>
                </a:solidFill>
                <a:latin typeface="Noto Sans"/>
                <a:ea typeface="Noto Sans"/>
                <a:cs typeface="Noto Sans"/>
              </a:rPr>
              <a:t>Hiệu chỉnh độ lệch x16</a:t>
            </a:r>
          </a:p>
          <a:p xmlns:a="http://schemas.openxmlformats.org/drawingml/2006/main">
            <a:pPr algn="ctr">
              <a:defRPr sz="1800" b="1">
                <a:solidFill>
                  <a:srgbClr val="FFFFFF"/>
                </a:solidFill>
                <a:latin typeface="Noto Sans"/>
                <a:ea typeface="Noto Sans"/>
                <a:cs typeface="Noto Sans"/>
              </a:defRPr>
            </a:pPr>
            <a:r>
              <a:rPr sz="1800" b="1">
                <a:solidFill>
                  <a:srgbClr val="FFFFFF"/>
                </a:solidFill>
                <a:latin typeface="Noto Sans"/>
                <a:ea typeface="Noto Sans"/>
                <a:cs typeface="Noto Sans"/>
              </a:rPr>
              <a:t>Phân mức và hysteresis</a:t>
            </a:r>
          </a:p>
        </p:txBody>
      </p:sp>
      <p:cxnSp>
        <p:nvCxnSpPr>
          <p:cNvPr id="36" name=""/>
          <p:cNvCxnSpPr>
            <a:stCxn xmlns:a="http://schemas.openxmlformats.org/drawingml/2006/main" id="9" idx="3"/>
            <a:endCxn xmlns:a="http://schemas.openxmlformats.org/drawingml/2006/main" id="10" idx="1"/>
          </p:cNvCxnSpPr>
          <p:nvPr/>
        </p:nvCxnSpPr>
        <p:spPr>
          <a:xfrm xmlns:a="http://schemas.openxmlformats.org/drawingml/2006/main">
            <a:off x="2571750" y="3019425"/>
            <a:ext cx="476250" cy="0"/>
          </a:xfrm>
          <a:prstGeom xmlns:a="http://schemas.openxmlformats.org/drawingml/2006/main" prst="straightConnector1">
            <a:avLst/>
          </a:prstGeom>
          <a:ln xmlns:a="http://schemas.openxmlformats.org/drawingml/2006/main" w="19050">
            <a:solidFill>
              <a:srgbClr val="0F6E41"/>
            </a:solidFill>
            <a:prstDash val="solid"/>
            <a:tailEnd type="triangle" w="sm" len="sm"/>
          </a:ln>
        </p:spPr>
      </p:cxnSp>
      <p:cxnSp>
        <p:nvCxnSpPr>
          <p:cNvPr id="37" name=""/>
          <p:cNvCxnSpPr>
            <a:stCxn xmlns:a="http://schemas.openxmlformats.org/drawingml/2006/main" id="11" idx="3"/>
            <a:endCxn xmlns:a="http://schemas.openxmlformats.org/drawingml/2006/main" id="12" idx="1"/>
          </p:cNvCxnSpPr>
          <p:nvPr/>
        </p:nvCxnSpPr>
        <p:spPr>
          <a:xfrm xmlns:a="http://schemas.openxmlformats.org/drawingml/2006/main">
            <a:off x="2571750" y="5000625"/>
            <a:ext cx="476250" cy="0"/>
          </a:xfrm>
          <a:prstGeom xmlns:a="http://schemas.openxmlformats.org/drawingml/2006/main" prst="straightConnector1">
            <a:avLst/>
          </a:prstGeom>
          <a:ln xmlns:a="http://schemas.openxmlformats.org/drawingml/2006/main" w="19050">
            <a:solidFill>
              <a:srgbClr val="0F6E41"/>
            </a:solidFill>
            <a:prstDash val="solid"/>
            <a:tailEnd type="triangle" w="sm" len="sm"/>
          </a:ln>
        </p:spPr>
      </p:cxnSp>
      <p:cxnSp>
        <p:nvCxnSpPr>
          <p:cNvPr id="38" name=""/>
          <p:cNvCxnSpPr>
            <a:stCxn xmlns:a="http://schemas.openxmlformats.org/drawingml/2006/main" id="10" idx="3"/>
            <a:endCxn xmlns:a="http://schemas.openxmlformats.org/drawingml/2006/main" id="13" idx="1"/>
          </p:cNvCxnSpPr>
          <p:nvPr/>
        </p:nvCxnSpPr>
        <p:spPr>
          <a:xfrm xmlns:a="http://schemas.openxmlformats.org/drawingml/2006/main">
            <a:off x="5238750" y="3019425"/>
            <a:ext cx="1619250" cy="828675"/>
          </a:xfrm>
          <a:prstGeom xmlns:a="http://schemas.openxmlformats.org/drawingml/2006/main" prst="bentConnector3">
            <a:avLst>
              <a:gd name="adj1" fmla="val 50000"/>
            </a:avLst>
          </a:prstGeom>
          <a:ln xmlns:a="http://schemas.openxmlformats.org/drawingml/2006/main" w="19050">
            <a:solidFill>
              <a:srgbClr val="0F6E41"/>
            </a:solidFill>
            <a:prstDash val="solid"/>
            <a:tailEnd type="triangle" w="sm" len="sm"/>
          </a:ln>
        </p:spPr>
      </p:cxnSp>
      <p:cxnSp>
        <p:nvCxnSpPr>
          <p:cNvPr id="39" name=""/>
          <p:cNvCxnSpPr>
            <a:stCxn xmlns:a="http://schemas.openxmlformats.org/drawingml/2006/main" id="12" idx="3"/>
            <a:endCxn xmlns:a="http://schemas.openxmlformats.org/drawingml/2006/main" id="13" idx="1"/>
          </p:cNvCxnSpPr>
          <p:nvPr/>
        </p:nvCxnSpPr>
        <p:spPr>
          <a:xfrm xmlns:a="http://schemas.openxmlformats.org/drawingml/2006/main" flipV="1">
            <a:off x="5238750" y="3848100"/>
            <a:ext cx="1619250" cy="1152525"/>
          </a:xfrm>
          <a:prstGeom xmlns:a="http://schemas.openxmlformats.org/drawingml/2006/main" prst="bentConnector3">
            <a:avLst>
              <a:gd name="adj1" fmla="val 50000"/>
            </a:avLst>
          </a:prstGeom>
          <a:ln xmlns:a="http://schemas.openxmlformats.org/drawingml/2006/main" w="19050">
            <a:solidFill>
              <a:srgbClr val="0F6E41"/>
            </a:solidFill>
            <a:prstDash val="solid"/>
            <a:tailEnd type="triangle" w="sm" len="sm"/>
          </a:ln>
        </p:spPr>
      </p:cxnSp>
      <p:sp>
        <p:nvSpPr>
          <p:cNvPr id="18" name="">
            <a:extLst xmlns:a="http://schemas.openxmlformats.org/drawingml/2006/main">
              <a:ext uri="{FF2B5EF4-FFF2-40B4-BE49-F238E27FC236}">
                <a16:creationId xmlns:a16="http://schemas.microsoft.com/office/drawing/2014/main" id="{E2DC1682-A7BF-412D-BCA2-E4056FFD9855}"/>
              </a:ext>
            </a:extLst>
          </p:cNvPr>
          <p:cNvSpPr>
            <a:spLocks xmlns:a="http://schemas.openxmlformats.org/drawingml/2006/main" noGrp="1"/>
          </p:cNvSpPr>
          <p:nvPr/>
        </p:nvSpPr>
        <p:spPr>
          <a:xfrm xmlns:a="http://schemas.openxmlformats.org/drawingml/2006/main">
            <a:off x="3067050" y="3514725"/>
            <a:ext cx="2152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1">
                <a:solidFill>
                  <a:srgbClr val="17352B"/>
                </a:solidFill>
                <a:latin typeface="DejaVu Sans Mono"/>
                <a:ea typeface="DejaVu Sans Mono"/>
                <a:cs typeface="DejaVu Sans Mono"/>
              </a:defRPr>
            </a:pPr>
            <a:r>
              <a:rPr sz="1200" b="1">
                <a:solidFill>
                  <a:srgbClr val="17352B"/>
                </a:solidFill>
                <a:latin typeface="DejaVu Sans Mono"/>
                <a:ea typeface="DejaVu Sans Mono"/>
                <a:cs typeface="DejaVu Sans Mono"/>
              </a:rPr>
              <a:t>pm25_apb_wrapper</a:t>
            </a:r>
          </a:p>
        </p:txBody>
      </p:sp>
      <p:sp>
        <p:nvSpPr>
          <p:cNvPr id="19" name="">
            <a:extLst xmlns:a="http://schemas.openxmlformats.org/drawingml/2006/main">
              <a:ext uri="{FF2B5EF4-FFF2-40B4-BE49-F238E27FC236}">
                <a16:creationId xmlns:a16="http://schemas.microsoft.com/office/drawing/2014/main" id="{57B72569-0EFB-4934-9E1C-48DBC0A0D876}"/>
              </a:ext>
            </a:extLst>
          </p:cNvPr>
          <p:cNvSpPr>
            <a:spLocks xmlns:a="http://schemas.openxmlformats.org/drawingml/2006/main" noGrp="1"/>
          </p:cNvSpPr>
          <p:nvPr/>
        </p:nvSpPr>
        <p:spPr>
          <a:xfrm xmlns:a="http://schemas.openxmlformats.org/drawingml/2006/main">
            <a:off x="3067050" y="3790950"/>
            <a:ext cx="2152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1">
                <a:solidFill>
                  <a:srgbClr val="0F6E41"/>
                </a:solidFill>
                <a:latin typeface="Noto Sans"/>
                <a:ea typeface="Noto Sans"/>
                <a:cs typeface="Noto Sans"/>
              </a:defRPr>
            </a:pPr>
            <a:r>
              <a:rPr sz="1200" b="1">
                <a:solidFill>
                  <a:srgbClr val="0F6E41"/>
                </a:solidFill>
                <a:latin typeface="Noto Sans"/>
                <a:ea typeface="Noto Sans"/>
                <a:cs typeface="Noto Sans"/>
              </a:rPr>
              <a:t>Mô phỏng RTL</a:t>
            </a:r>
          </a:p>
          <a:p xmlns:a="http://schemas.openxmlformats.org/drawingml/2006/main">
            <a:pPr algn="ctr">
              <a:defRPr sz="1200" b="1">
                <a:solidFill>
                  <a:srgbClr val="0F6E41"/>
                </a:solidFill>
                <a:latin typeface="Noto Sans"/>
                <a:ea typeface="Noto Sans"/>
                <a:cs typeface="Noto Sans"/>
              </a:defRPr>
            </a:pPr>
            <a:r>
              <a:rPr sz="1200" b="1">
                <a:solidFill>
                  <a:srgbClr val="0F6E41"/>
                </a:solidFill>
                <a:latin typeface="Noto Sans"/>
                <a:ea typeface="Noto Sans"/>
                <a:cs typeface="Noto Sans"/>
              </a:rPr>
              <a:t>89 giao dịch / 325 phép kiểm</a:t>
            </a:r>
          </a:p>
        </p:txBody>
      </p:sp>
      <p:sp>
        <p:nvSpPr>
          <p:cNvPr id="20" name="">
            <a:extLst xmlns:a="http://schemas.openxmlformats.org/drawingml/2006/main">
              <a:ext uri="{FF2B5EF4-FFF2-40B4-BE49-F238E27FC236}">
                <a16:creationId xmlns:a16="http://schemas.microsoft.com/office/drawing/2014/main" id="{20686B19-DF03-43D4-959C-020D44B1BF4F}"/>
              </a:ext>
            </a:extLst>
          </p:cNvPr>
          <p:cNvSpPr>
            <a:spLocks xmlns:a="http://schemas.openxmlformats.org/drawingml/2006/main" noGrp="1"/>
          </p:cNvSpPr>
          <p:nvPr/>
        </p:nvSpPr>
        <p:spPr>
          <a:xfrm xmlns:a="http://schemas.openxmlformats.org/drawingml/2006/main">
            <a:off x="3067050" y="5495925"/>
            <a:ext cx="2152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1">
                <a:solidFill>
                  <a:srgbClr val="17352B"/>
                </a:solidFill>
                <a:latin typeface="DejaVu Sans Mono"/>
                <a:ea typeface="DejaVu Sans Mono"/>
                <a:cs typeface="DejaVu Sans Mono"/>
              </a:defRPr>
            </a:pPr>
            <a:r>
              <a:rPr sz="1200" b="1">
                <a:solidFill>
                  <a:srgbClr val="17352B"/>
                </a:solidFill>
                <a:latin typeface="DejaVu Sans Mono"/>
                <a:ea typeface="DejaVu Sans Mono"/>
                <a:cs typeface="DejaVu Sans Mono"/>
              </a:rPr>
              <a:t>pm25_uart_demo_top</a:t>
            </a:r>
          </a:p>
        </p:txBody>
      </p:sp>
      <p:sp>
        <p:nvSpPr>
          <p:cNvPr id="21" name="">
            <a:extLst xmlns:a="http://schemas.openxmlformats.org/drawingml/2006/main">
              <a:ext uri="{FF2B5EF4-FFF2-40B4-BE49-F238E27FC236}">
                <a16:creationId xmlns:a16="http://schemas.microsoft.com/office/drawing/2014/main" id="{779A035C-C544-4D6B-AD80-BAE2654F03E5}"/>
              </a:ext>
            </a:extLst>
          </p:cNvPr>
          <p:cNvSpPr>
            <a:spLocks xmlns:a="http://schemas.openxmlformats.org/drawingml/2006/main" noGrp="1"/>
          </p:cNvSpPr>
          <p:nvPr/>
        </p:nvSpPr>
        <p:spPr>
          <a:xfrm xmlns:a="http://schemas.openxmlformats.org/drawingml/2006/main">
            <a:off x="2971800" y="5791200"/>
            <a:ext cx="2343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1">
                <a:solidFill>
                  <a:srgbClr val="0F6E41"/>
                </a:solidFill>
                <a:latin typeface="Noto Sans"/>
                <a:ea typeface="Noto Sans"/>
                <a:cs typeface="Noto Sans"/>
              </a:defRPr>
            </a:pPr>
            <a:r>
              <a:rPr sz="1200" b="1">
                <a:solidFill>
                  <a:srgbClr val="0F6E41"/>
                </a:solidFill>
                <a:latin typeface="Noto Sans"/>
                <a:ea typeface="Noto Sans"/>
                <a:cs typeface="Noto Sans"/>
              </a:rPr>
              <a:t>Kiểm chứng vật lý trên Tang Nano 9K</a:t>
            </a:r>
          </a:p>
        </p:txBody>
      </p:sp>
      <p:sp>
        <p:nvSpPr>
          <p:cNvPr id="22" name="">
            <a:extLst xmlns:a="http://schemas.openxmlformats.org/drawingml/2006/main">
              <a:ext uri="{FF2B5EF4-FFF2-40B4-BE49-F238E27FC236}">
                <a16:creationId xmlns:a16="http://schemas.microsoft.com/office/drawing/2014/main" id="{8C293413-1870-43DC-9721-84D39BA2A79D}"/>
              </a:ext>
            </a:extLst>
          </p:cNvPr>
          <p:cNvSpPr>
            <a:spLocks xmlns:a="http://schemas.openxmlformats.org/drawingml/2006/main" noGrp="1"/>
          </p:cNvSpPr>
          <p:nvPr/>
        </p:nvSpPr>
        <p:spPr>
          <a:xfrm xmlns:a="http://schemas.openxmlformats.org/drawingml/2006/main">
            <a:off x="6724650" y="5124450"/>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1">
                <a:solidFill>
                  <a:srgbClr val="0F6E41"/>
                </a:solidFill>
                <a:latin typeface="Noto Sans"/>
                <a:ea typeface="Noto Sans"/>
                <a:cs typeface="Noto Sans"/>
              </a:defRPr>
            </a:pPr>
            <a:r>
              <a:rPr sz="1650" b="1">
                <a:solidFill>
                  <a:srgbClr val="0F6E41"/>
                </a:solidFill>
                <a:latin typeface="Noto Sans"/>
                <a:ea typeface="Noto Sans"/>
                <a:cs typeface="Noto Sans"/>
              </a:rPr>
              <a:t>Hai frontend độc lập cùng tái sử dụng một lõi RTL</a:t>
            </a:r>
          </a:p>
        </p:txBody>
      </p:sp>
    </p:spTree>
    <p:extLst>
      <p:ext uri="{BB962C8B-B14F-4D97-AF65-F5344CB8AC3E}">
        <p14:creationId xmlns:p14="http://schemas.microsoft.com/office/powerpoint/2010/main" val="12289244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87120374-0E5C-4B56-ABD2-E9D2B095F3D5}"/>
              </a:ext>
            </a:extLst>
          </p:cNvPr>
          <p:cNvSpPr>
            <a:spLocks xmlns:a="http://schemas.openxmlformats.org/drawingml/2006/main" noGrp="1"/>
          </p:cNvSpPr>
          <p:nvPr/>
        </p:nvSpPr>
        <p:spPr>
          <a:xfrm xmlns:a="http://schemas.openxmlformats.org/drawingml/2006/main">
            <a:off x="723900" y="314325"/>
            <a:ext cx="857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352B"/>
                </a:solidFill>
                <a:latin typeface="Noto Sans"/>
                <a:ea typeface="Noto Sans"/>
                <a:cs typeface="Noto Sans"/>
              </a:defRPr>
            </a:pPr>
            <a:r>
              <a:rPr sz="3150" b="1">
                <a:solidFill>
                  <a:srgbClr val="17352B"/>
                </a:solidFill>
                <a:latin typeface="Noto Sans"/>
                <a:ea typeface="Noto Sans"/>
                <a:cs typeface="Noto Sans"/>
              </a:rPr>
              <a:t>Lõi xử lý PM2.5</a:t>
            </a:r>
          </a:p>
        </p:txBody>
      </p:sp>
      <p:sp>
        <p:nvSpPr>
          <p:cNvPr id="2" name="">
            <a:extLst xmlns:a="http://schemas.openxmlformats.org/drawingml/2006/main">
              <a:ext uri="{FF2B5EF4-FFF2-40B4-BE49-F238E27FC236}">
                <a16:creationId xmlns:a16="http://schemas.microsoft.com/office/drawing/2014/main" id="{B43B6131-7E55-47DC-BEEB-45CB455CAC5A}"/>
              </a:ext>
            </a:extLst>
          </p:cNvPr>
          <p:cNvSpPr>
            <a:spLocks xmlns:a="http://schemas.openxmlformats.org/drawingml/2006/main" noGrp="1"/>
          </p:cNvSpPr>
          <p:nvPr/>
        </p:nvSpPr>
        <p:spPr>
          <a:xfrm xmlns:a="http://schemas.openxmlformats.org/drawingml/2006/main">
            <a:off x="628650" y="1123950"/>
            <a:ext cx="876300" cy="0"/>
          </a:xfrm>
          <a:prstGeom xmlns:a="http://schemas.openxmlformats.org/drawingml/2006/main" prst="line">
            <a:avLst/>
          </a:prstGeom>
          <a:noFill xmlns:a="http://schemas.openxmlformats.org/drawingml/2006/main"/>
          <a:ln xmlns:a="http://schemas.openxmlformats.org/drawingml/2006/main" w="38100">
            <a:solidFill>
              <a:srgbClr val="0F6E41"/>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7729aa2873e34d0a"/>
          <a:stretch xmlns:a="http://schemas.openxmlformats.org/drawingml/2006/main"/>
        </p:blipFill>
        <p:spPr>
          <a:xfrm xmlns:a="http://schemas.openxmlformats.org/drawingml/2006/main">
            <a:off x="10020300" y="220120"/>
            <a:ext cx="428625" cy="512259"/>
          </a:xfrm>
          <a:prstGeom xmlns:a="http://schemas.openxmlformats.org/drawingml/2006/main" prst="rect">
            <a:avLst/>
          </a:prstGeom>
        </p:spPr>
      </p:pic>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66d637d9d9ff4a02"/>
          <a:stretch xmlns:a="http://schemas.openxmlformats.org/drawingml/2006/main"/>
        </p:blipFill>
        <p:spPr>
          <a:xfrm xmlns:a="http://schemas.openxmlformats.org/drawingml/2006/main">
            <a:off x="10687050" y="298596"/>
            <a:ext cx="990600" cy="35530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3E9AF59-CF01-424B-A92F-8A9F95F709AF}"/>
              </a:ext>
            </a:extLst>
          </p:cNvPr>
          <p:cNvSpPr>
            <a:spLocks xmlns:a="http://schemas.openxmlformats.org/drawingml/2006/main" noGrp="1"/>
          </p:cNvSpPr>
          <p:nvPr/>
        </p:nvSpPr>
        <p:spPr>
          <a:xfrm xmlns:a="http://schemas.openxmlformats.org/drawingml/2006/main">
            <a:off x="11372850" y="6486525"/>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1">
                <a:solidFill>
                  <a:srgbClr val="17352B"/>
                </a:solidFill>
                <a:latin typeface="Noto Sans"/>
                <a:ea typeface="Noto Sans"/>
                <a:cs typeface="Noto Sans"/>
              </a:defRPr>
            </a:pPr>
            <a:r>
              <a:rPr sz="1050" b="1">
                <a:solidFill>
                  <a:srgbClr val="17352B"/>
                </a:solidFill>
                <a:latin typeface="Noto Sans"/>
                <a:ea typeface="Noto Sans"/>
                <a:cs typeface="Noto Sans"/>
              </a:rPr>
              <a:t>4</a:t>
            </a:r>
          </a:p>
        </p:txBody>
      </p:sp>
      <p:sp>
        <p:nvSpPr>
          <p:cNvPr id="6" name="">
            <a:extLst xmlns:a="http://schemas.openxmlformats.org/drawingml/2006/main">
              <a:ext uri="{FF2B5EF4-FFF2-40B4-BE49-F238E27FC236}">
                <a16:creationId xmlns:a16="http://schemas.microsoft.com/office/drawing/2014/main" id="{BA88A8A8-CDE1-4FF3-91CE-F181CDD812D7}"/>
              </a:ext>
            </a:extLst>
          </p:cNvPr>
          <p:cNvSpPr>
            <a:spLocks xmlns:a="http://schemas.openxmlformats.org/drawingml/2006/main" noGrp="1"/>
          </p:cNvSpPr>
          <p:nvPr/>
        </p:nvSpPr>
        <p:spPr>
          <a:xfrm xmlns:a="http://schemas.openxmlformats.org/drawingml/2006/main">
            <a:off x="781050" y="14287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0F6E41"/>
                </a:solidFill>
                <a:latin typeface="Noto Sans"/>
                <a:ea typeface="Noto Sans"/>
                <a:cs typeface="Noto Sans"/>
              </a:defRPr>
            </a:pPr>
            <a:r>
              <a:rPr sz="1650" b="1">
                <a:solidFill>
                  <a:srgbClr val="0F6E41"/>
                </a:solidFill>
                <a:latin typeface="Noto Sans"/>
                <a:ea typeface="Noto Sans"/>
                <a:cs typeface="Noto Sans"/>
              </a:rPr>
              <a:t>Cập nhật trạng thái độ lệch</a:t>
            </a:r>
          </a:p>
        </p:txBody>
      </p:sp>
      <p:sp>
        <p:nvSpPr>
          <p:cNvPr id="7" name="">
            <a:extLst xmlns:a="http://schemas.openxmlformats.org/drawingml/2006/main">
              <a:ext uri="{FF2B5EF4-FFF2-40B4-BE49-F238E27FC236}">
                <a16:creationId xmlns:a16="http://schemas.microsoft.com/office/drawing/2014/main" id="{FDB2AEC6-29E8-4788-8E6F-B63C9B51C188}"/>
              </a:ext>
            </a:extLst>
          </p:cNvPr>
          <p:cNvSpPr>
            <a:spLocks xmlns:a="http://schemas.openxmlformats.org/drawingml/2006/main" noGrp="1"/>
          </p:cNvSpPr>
          <p:nvPr/>
        </p:nvSpPr>
        <p:spPr>
          <a:xfrm xmlns:a="http://schemas.openxmlformats.org/drawingml/2006/main">
            <a:off x="762000" y="1924050"/>
            <a:ext cx="2333625" cy="742950"/>
          </a:xfrm>
          <a:prstGeom xmlns:a="http://schemas.openxmlformats.org/drawingml/2006/main" prst="roundRect">
            <a:avLst>
              <a:gd name="adj" fmla="val 17949"/>
            </a:avLst>
          </a:prstGeom>
          <a:solidFill xmlns:a="http://schemas.openxmlformats.org/drawingml/2006/main">
            <a:srgbClr val="EAF5EF"/>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425" b="1">
                <a:solidFill>
                  <a:srgbClr val="17352B"/>
                </a:solidFill>
                <a:latin typeface="DejaVu Sans Mono"/>
                <a:ea typeface="DejaVu Sans Mono"/>
                <a:cs typeface="DejaVu Sans Mono"/>
              </a:defRPr>
            </a:pPr>
            <a:r>
              <a:rPr sz="1425" b="1">
                <a:solidFill>
                  <a:srgbClr val="17352B"/>
                </a:solidFill>
                <a:latin typeface="DejaVu Sans Mono"/>
                <a:ea typeface="DejaVu Sans Mono"/>
                <a:cs typeface="DejaVu Sans Mono"/>
              </a:rPr>
              <a:t>residual = PA - CAMS</a:t>
            </a:r>
          </a:p>
        </p:txBody>
      </p:sp>
      <p:sp>
        <p:nvSpPr>
          <p:cNvPr id="8" name="">
            <a:extLst xmlns:a="http://schemas.openxmlformats.org/drawingml/2006/main">
              <a:ext uri="{FF2B5EF4-FFF2-40B4-BE49-F238E27FC236}">
                <a16:creationId xmlns:a16="http://schemas.microsoft.com/office/drawing/2014/main" id="{8EB654B3-4EF1-49BC-B853-66F22B3CC395}"/>
              </a:ext>
            </a:extLst>
          </p:cNvPr>
          <p:cNvSpPr>
            <a:spLocks xmlns:a="http://schemas.openxmlformats.org/drawingml/2006/main" noGrp="1"/>
          </p:cNvSpPr>
          <p:nvPr/>
        </p:nvSpPr>
        <p:spPr>
          <a:xfrm xmlns:a="http://schemas.openxmlformats.org/drawingml/2006/main">
            <a:off x="3476625" y="1924050"/>
            <a:ext cx="2333625" cy="742950"/>
          </a:xfrm>
          <a:prstGeom xmlns:a="http://schemas.openxmlformats.org/drawingml/2006/main" prst="roundRect">
            <a:avLst>
              <a:gd name="adj" fmla="val 17949"/>
            </a:avLst>
          </a:prstGeom>
          <a:solidFill xmlns:a="http://schemas.openxmlformats.org/drawingml/2006/main">
            <a:srgbClr val="EAF5EF"/>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350" b="1">
                <a:solidFill>
                  <a:srgbClr val="17352B"/>
                </a:solidFill>
                <a:latin typeface="DejaVu Sans Mono"/>
                <a:ea typeface="DejaVu Sans Mono"/>
                <a:cs typeface="DejaVu Sans Mono"/>
              </a:defRPr>
            </a:pPr>
            <a:r>
              <a:rPr sz="1350" b="1">
                <a:solidFill>
                  <a:srgbClr val="17352B"/>
                </a:solidFill>
                <a:latin typeface="DejaVu Sans Mono"/>
                <a:ea typeface="DejaVu Sans Mono"/>
                <a:cs typeface="DejaVu Sans Mono"/>
              </a:rPr>
              <a:t>error = residual</a:t>
            </a:r>
          </a:p>
          <a:p xmlns:a="http://schemas.openxmlformats.org/drawingml/2006/main">
            <a:pPr algn="ctr">
              <a:defRPr sz="1350" b="1">
                <a:solidFill>
                  <a:srgbClr val="17352B"/>
                </a:solidFill>
                <a:latin typeface="DejaVu Sans Mono"/>
                <a:ea typeface="DejaVu Sans Mono"/>
                <a:cs typeface="DejaVu Sans Mono"/>
              </a:defRPr>
            </a:pPr>
            <a:r>
              <a:rPr sz="1350" b="1">
                <a:solidFill>
                  <a:srgbClr val="17352B"/>
                </a:solidFill>
                <a:latin typeface="DejaVu Sans Mono"/>
                <a:ea typeface="DejaVu Sans Mono"/>
                <a:cs typeface="DejaVu Sans Mono"/>
              </a:rPr>
              <a:t>- bias_before</a:t>
            </a:r>
          </a:p>
        </p:txBody>
      </p:sp>
      <p:sp>
        <p:nvSpPr>
          <p:cNvPr id="9" name="">
            <a:extLst xmlns:a="http://schemas.openxmlformats.org/drawingml/2006/main">
              <a:ext uri="{FF2B5EF4-FFF2-40B4-BE49-F238E27FC236}">
                <a16:creationId xmlns:a16="http://schemas.microsoft.com/office/drawing/2014/main" id="{CEA20266-D2FF-47D9-B0BF-555BC15A3E15}"/>
              </a:ext>
            </a:extLst>
          </p:cNvPr>
          <p:cNvSpPr>
            <a:spLocks xmlns:a="http://schemas.openxmlformats.org/drawingml/2006/main" noGrp="1"/>
          </p:cNvSpPr>
          <p:nvPr/>
        </p:nvSpPr>
        <p:spPr>
          <a:xfrm xmlns:a="http://schemas.openxmlformats.org/drawingml/2006/main">
            <a:off x="6191250" y="1924050"/>
            <a:ext cx="2333625" cy="742950"/>
          </a:xfrm>
          <a:prstGeom xmlns:a="http://schemas.openxmlformats.org/drawingml/2006/main" prst="roundRect">
            <a:avLst>
              <a:gd name="adj" fmla="val 17949"/>
            </a:avLst>
          </a:prstGeom>
          <a:solidFill xmlns:a="http://schemas.openxmlformats.org/drawingml/2006/main">
            <a:srgbClr val="EAF5EF"/>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425" b="1">
                <a:solidFill>
                  <a:srgbClr val="17352B"/>
                </a:solidFill>
                <a:latin typeface="DejaVu Sans Mono"/>
                <a:ea typeface="DejaVu Sans Mono"/>
                <a:cs typeface="DejaVu Sans Mono"/>
              </a:defRPr>
            </a:pPr>
            <a:r>
              <a:rPr sz="1425" b="1">
                <a:solidFill>
                  <a:srgbClr val="17352B"/>
                </a:solidFill>
                <a:latin typeface="DejaVu Sans Mono"/>
                <a:ea typeface="DejaVu Sans Mono"/>
                <a:cs typeface="DejaVu Sans Mono"/>
              </a:rPr>
              <a:t>delta = error &gt;&gt;&gt; 3</a:t>
            </a:r>
          </a:p>
        </p:txBody>
      </p:sp>
      <p:sp>
        <p:nvSpPr>
          <p:cNvPr id="10" name="">
            <a:extLst xmlns:a="http://schemas.openxmlformats.org/drawingml/2006/main">
              <a:ext uri="{FF2B5EF4-FFF2-40B4-BE49-F238E27FC236}">
                <a16:creationId xmlns:a16="http://schemas.microsoft.com/office/drawing/2014/main" id="{0462001C-1EE6-4240-916C-BA7F3716D07F}"/>
              </a:ext>
            </a:extLst>
          </p:cNvPr>
          <p:cNvSpPr>
            <a:spLocks xmlns:a="http://schemas.openxmlformats.org/drawingml/2006/main" noGrp="1"/>
          </p:cNvSpPr>
          <p:nvPr/>
        </p:nvSpPr>
        <p:spPr>
          <a:xfrm xmlns:a="http://schemas.openxmlformats.org/drawingml/2006/main">
            <a:off x="8905875" y="1924050"/>
            <a:ext cx="2524125" cy="742950"/>
          </a:xfrm>
          <a:prstGeom xmlns:a="http://schemas.openxmlformats.org/drawingml/2006/main" prst="roundRect">
            <a:avLst>
              <a:gd name="adj" fmla="val 17949"/>
            </a:avLst>
          </a:prstGeom>
          <a:solidFill xmlns:a="http://schemas.openxmlformats.org/drawingml/2006/main">
            <a:srgbClr val="EAF5EF"/>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275" b="1">
                <a:solidFill>
                  <a:srgbClr val="17352B"/>
                </a:solidFill>
                <a:latin typeface="DejaVu Sans Mono"/>
                <a:ea typeface="DejaVu Sans Mono"/>
                <a:cs typeface="DejaVu Sans Mono"/>
              </a:defRPr>
            </a:pPr>
            <a:r>
              <a:rPr sz="1275" b="1">
                <a:solidFill>
                  <a:srgbClr val="17352B"/>
                </a:solidFill>
                <a:latin typeface="DejaVu Sans Mono"/>
                <a:ea typeface="DejaVu Sans Mono"/>
                <a:cs typeface="DejaVu Sans Mono"/>
              </a:rPr>
              <a:t>bias_after =</a:t>
            </a:r>
          </a:p>
          <a:p xmlns:a="http://schemas.openxmlformats.org/drawingml/2006/main">
            <a:pPr algn="ctr">
              <a:defRPr sz="1275" b="1">
                <a:solidFill>
                  <a:srgbClr val="17352B"/>
                </a:solidFill>
                <a:latin typeface="DejaVu Sans Mono"/>
                <a:ea typeface="DejaVu Sans Mono"/>
                <a:cs typeface="DejaVu Sans Mono"/>
              </a:defRPr>
            </a:pPr>
            <a:r>
              <a:rPr sz="1275" b="1">
                <a:solidFill>
                  <a:srgbClr val="17352B"/>
                </a:solidFill>
                <a:latin typeface="DejaVu Sans Mono"/>
                <a:ea typeface="DejaVu Sans Mono"/>
                <a:cs typeface="DejaVu Sans Mono"/>
              </a:rPr>
              <a:t>sat(bias_before + delta)</a:t>
            </a:r>
          </a:p>
        </p:txBody>
      </p:sp>
      <p:cxnSp>
        <p:nvCxnSpPr>
          <p:cNvPr id="32" name=""/>
          <p:cNvCxnSpPr>
            <a:stCxn xmlns:a="http://schemas.openxmlformats.org/drawingml/2006/main" id="7" idx="3"/>
            <a:endCxn xmlns:a="http://schemas.openxmlformats.org/drawingml/2006/main" id="8" idx="1"/>
          </p:cNvCxnSpPr>
          <p:nvPr/>
        </p:nvCxnSpPr>
        <p:spPr>
          <a:xfrm xmlns:a="http://schemas.openxmlformats.org/drawingml/2006/main">
            <a:off x="3095625" y="2295525"/>
            <a:ext cx="381000" cy="0"/>
          </a:xfrm>
          <a:prstGeom xmlns:a="http://schemas.openxmlformats.org/drawingml/2006/main" prst="straightConnector1">
            <a:avLst/>
          </a:prstGeom>
          <a:ln xmlns:a="http://schemas.openxmlformats.org/drawingml/2006/main" w="19050">
            <a:solidFill>
              <a:srgbClr val="0F6E41"/>
            </a:solidFill>
            <a:prstDash val="solid"/>
            <a:tailEnd type="triangle" w="sm" len="sm"/>
          </a:ln>
        </p:spPr>
      </p:cxnSp>
      <p:cxnSp>
        <p:nvCxnSpPr>
          <p:cNvPr id="33" name=""/>
          <p:cNvCxnSpPr>
            <a:stCxn xmlns:a="http://schemas.openxmlformats.org/drawingml/2006/main" id="8" idx="3"/>
            <a:endCxn xmlns:a="http://schemas.openxmlformats.org/drawingml/2006/main" id="9" idx="1"/>
          </p:cNvCxnSpPr>
          <p:nvPr/>
        </p:nvCxnSpPr>
        <p:spPr>
          <a:xfrm xmlns:a="http://schemas.openxmlformats.org/drawingml/2006/main">
            <a:off x="5810250" y="2295525"/>
            <a:ext cx="381000" cy="0"/>
          </a:xfrm>
          <a:prstGeom xmlns:a="http://schemas.openxmlformats.org/drawingml/2006/main" prst="straightConnector1">
            <a:avLst/>
          </a:prstGeom>
          <a:ln xmlns:a="http://schemas.openxmlformats.org/drawingml/2006/main" w="19050">
            <a:solidFill>
              <a:srgbClr val="0F6E41"/>
            </a:solidFill>
            <a:prstDash val="solid"/>
            <a:tailEnd type="triangle" w="sm" len="sm"/>
          </a:ln>
        </p:spPr>
      </p:cxnSp>
      <p:cxnSp>
        <p:nvCxnSpPr>
          <p:cNvPr id="34" name=""/>
          <p:cNvCxnSpPr>
            <a:stCxn xmlns:a="http://schemas.openxmlformats.org/drawingml/2006/main" id="9" idx="3"/>
            <a:endCxn xmlns:a="http://schemas.openxmlformats.org/drawingml/2006/main" id="10" idx="1"/>
          </p:cNvCxnSpPr>
          <p:nvPr/>
        </p:nvCxnSpPr>
        <p:spPr>
          <a:xfrm xmlns:a="http://schemas.openxmlformats.org/drawingml/2006/main">
            <a:off x="8524875" y="2295525"/>
            <a:ext cx="381000" cy="0"/>
          </a:xfrm>
          <a:prstGeom xmlns:a="http://schemas.openxmlformats.org/drawingml/2006/main" prst="straightConnector1">
            <a:avLst/>
          </a:prstGeom>
          <a:ln xmlns:a="http://schemas.openxmlformats.org/drawingml/2006/main" w="19050">
            <a:solidFill>
              <a:srgbClr val="0F6E41"/>
            </a:solidFill>
            <a:prstDash val="solid"/>
            <a:tailEnd type="triangle" w="sm" len="sm"/>
          </a:ln>
        </p:spPr>
      </p:cxnSp>
      <p:sp>
        <p:nvSpPr>
          <p:cNvPr id="14" name="">
            <a:extLst xmlns:a="http://schemas.openxmlformats.org/drawingml/2006/main">
              <a:ext uri="{FF2B5EF4-FFF2-40B4-BE49-F238E27FC236}">
                <a16:creationId xmlns:a16="http://schemas.microsoft.com/office/drawing/2014/main" id="{EA895FC3-4087-49DA-AA7F-F4C900749995}"/>
              </a:ext>
            </a:extLst>
          </p:cNvPr>
          <p:cNvSpPr>
            <a:spLocks xmlns:a="http://schemas.openxmlformats.org/drawingml/2006/main" noGrp="1"/>
          </p:cNvSpPr>
          <p:nvPr/>
        </p:nvSpPr>
        <p:spPr>
          <a:xfrm xmlns:a="http://schemas.openxmlformats.org/drawingml/2006/main">
            <a:off x="781050" y="3238500"/>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0F6E41"/>
                </a:solidFill>
                <a:latin typeface="Noto Sans"/>
                <a:ea typeface="Noto Sans"/>
                <a:cs typeface="Noto Sans"/>
              </a:defRPr>
            </a:pPr>
            <a:r>
              <a:rPr sz="1650" b="1">
                <a:solidFill>
                  <a:srgbClr val="0F6E41"/>
                </a:solidFill>
                <a:latin typeface="Noto Sans"/>
                <a:ea typeface="Noto Sans"/>
                <a:cs typeface="Noto Sans"/>
              </a:rPr>
              <a:t>Tạo đầu ra và trạng thái cảnh báo</a:t>
            </a:r>
          </a:p>
        </p:txBody>
      </p:sp>
      <p:sp>
        <p:nvSpPr>
          <p:cNvPr id="15" name="">
            <a:extLst xmlns:a="http://schemas.openxmlformats.org/drawingml/2006/main">
              <a:ext uri="{FF2B5EF4-FFF2-40B4-BE49-F238E27FC236}">
                <a16:creationId xmlns:a16="http://schemas.microsoft.com/office/drawing/2014/main" id="{68F8BBB6-C63A-49D1-8301-DEDACC496DC6}"/>
              </a:ext>
            </a:extLst>
          </p:cNvPr>
          <p:cNvSpPr>
            <a:spLocks xmlns:a="http://schemas.openxmlformats.org/drawingml/2006/main" noGrp="1"/>
          </p:cNvSpPr>
          <p:nvPr/>
        </p:nvSpPr>
        <p:spPr>
          <a:xfrm xmlns:a="http://schemas.openxmlformats.org/drawingml/2006/main">
            <a:off x="1428750" y="3781425"/>
            <a:ext cx="2476500" cy="742950"/>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425" b="1">
                <a:solidFill>
                  <a:srgbClr val="17352B"/>
                </a:solidFill>
                <a:latin typeface="DejaVu Sans Mono"/>
                <a:ea typeface="DejaVu Sans Mono"/>
                <a:cs typeface="DejaVu Sans Mono"/>
              </a:defRPr>
            </a:pPr>
            <a:r>
              <a:rPr sz="1425" b="1">
                <a:solidFill>
                  <a:srgbClr val="17352B"/>
                </a:solidFill>
                <a:latin typeface="DejaVu Sans Mono"/>
                <a:ea typeface="DejaVu Sans Mono"/>
                <a:cs typeface="DejaVu Sans Mono"/>
              </a:rPr>
              <a:t>CAMS + bias_before</a:t>
            </a:r>
          </a:p>
        </p:txBody>
      </p:sp>
      <p:sp>
        <p:nvSpPr>
          <p:cNvPr id="16" name="">
            <a:extLst xmlns:a="http://schemas.openxmlformats.org/drawingml/2006/main">
              <a:ext uri="{FF2B5EF4-FFF2-40B4-BE49-F238E27FC236}">
                <a16:creationId xmlns:a16="http://schemas.microsoft.com/office/drawing/2014/main" id="{301368AB-D658-4596-81B1-2F94D873A518}"/>
              </a:ext>
            </a:extLst>
          </p:cNvPr>
          <p:cNvSpPr>
            <a:spLocks xmlns:a="http://schemas.openxmlformats.org/drawingml/2006/main" noGrp="1"/>
          </p:cNvSpPr>
          <p:nvPr/>
        </p:nvSpPr>
        <p:spPr>
          <a:xfrm xmlns:a="http://schemas.openxmlformats.org/drawingml/2006/main">
            <a:off x="4762500" y="3781425"/>
            <a:ext cx="2095500" cy="742950"/>
          </a:xfrm>
          <a:prstGeom xmlns:a="http://schemas.openxmlformats.org/drawingml/2006/main" prst="roundRect">
            <a:avLst>
              <a:gd name="adj" fmla="val 17949"/>
            </a:avLst>
          </a:prstGeom>
          <a:solidFill xmlns:a="http://schemas.openxmlformats.org/drawingml/2006/main">
            <a:srgbClr val="EAF5EF"/>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500" b="1">
                <a:solidFill>
                  <a:srgbClr val="17352B"/>
                </a:solidFill>
                <a:latin typeface="Noto Sans"/>
                <a:ea typeface="Noto Sans"/>
                <a:cs typeface="Noto Sans"/>
              </a:defRPr>
            </a:pPr>
            <a:r>
              <a:rPr sz="1500" b="1">
                <a:solidFill>
                  <a:srgbClr val="17352B"/>
                </a:solidFill>
                <a:latin typeface="Noto Sans"/>
                <a:ea typeface="Noto Sans"/>
                <a:cs typeface="Noto Sans"/>
              </a:rPr>
              <a:t>Bão hòa</a:t>
            </a:r>
          </a:p>
          <a:p xmlns:a="http://schemas.openxmlformats.org/drawingml/2006/main">
            <a:pPr algn="ctr">
              <a:defRPr sz="1500" b="1">
                <a:solidFill>
                  <a:srgbClr val="17352B"/>
                </a:solidFill>
                <a:latin typeface="Noto Sans"/>
                <a:ea typeface="Noto Sans"/>
                <a:cs typeface="Noto Sans"/>
              </a:defRPr>
            </a:pPr>
            <a:r>
              <a:rPr sz="1500" b="1">
                <a:solidFill>
                  <a:srgbClr val="17352B"/>
                </a:solidFill>
                <a:latin typeface="Noto Sans"/>
                <a:ea typeface="Noto Sans"/>
                <a:cs typeface="Noto Sans"/>
              </a:rPr>
              <a:t>0…500 µg/m³</a:t>
            </a:r>
          </a:p>
        </p:txBody>
      </p:sp>
      <p:sp>
        <p:nvSpPr>
          <p:cNvPr id="17" name="">
            <a:extLst xmlns:a="http://schemas.openxmlformats.org/drawingml/2006/main">
              <a:ext uri="{FF2B5EF4-FFF2-40B4-BE49-F238E27FC236}">
                <a16:creationId xmlns:a16="http://schemas.microsoft.com/office/drawing/2014/main" id="{A4CF9AED-7A23-481B-B658-0FB9D5E73C0B}"/>
              </a:ext>
            </a:extLst>
          </p:cNvPr>
          <p:cNvSpPr>
            <a:spLocks xmlns:a="http://schemas.openxmlformats.org/drawingml/2006/main" noGrp="1"/>
          </p:cNvSpPr>
          <p:nvPr/>
        </p:nvSpPr>
        <p:spPr>
          <a:xfrm xmlns:a="http://schemas.openxmlformats.org/drawingml/2006/main">
            <a:off x="7715250" y="3781425"/>
            <a:ext cx="2762250" cy="742950"/>
          </a:xfrm>
          <a:prstGeom xmlns:a="http://schemas.openxmlformats.org/drawingml/2006/main" prst="roundRect">
            <a:avLst>
              <a:gd name="adj" fmla="val 17949"/>
            </a:avLst>
          </a:prstGeom>
          <a:solidFill xmlns:a="http://schemas.openxmlformats.org/drawingml/2006/main">
            <a:srgbClr val="0F6E41"/>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575" b="1">
                <a:solidFill>
                  <a:srgbClr val="FFFFFF"/>
                </a:solidFill>
                <a:latin typeface="Noto Sans"/>
                <a:ea typeface="Noto Sans"/>
                <a:cs typeface="Noto Sans"/>
              </a:defRPr>
            </a:pPr>
            <a:r>
              <a:rPr sz="1575" b="1">
                <a:solidFill>
                  <a:srgbClr val="FFFFFF"/>
                </a:solidFill>
                <a:latin typeface="Noto Sans"/>
                <a:ea typeface="Noto Sans"/>
                <a:cs typeface="Noto Sans"/>
              </a:rPr>
              <a:t>Phân mức và</a:t>
            </a:r>
          </a:p>
          <a:p xmlns:a="http://schemas.openxmlformats.org/drawingml/2006/main">
            <a:pPr algn="ctr">
              <a:defRPr sz="1575" b="1">
                <a:solidFill>
                  <a:srgbClr val="FFFFFF"/>
                </a:solidFill>
                <a:latin typeface="Noto Sans"/>
                <a:ea typeface="Noto Sans"/>
                <a:cs typeface="Noto Sans"/>
              </a:defRPr>
            </a:pPr>
            <a:r>
              <a:rPr sz="1575" b="1">
                <a:solidFill>
                  <a:srgbClr val="FFFFFF"/>
                </a:solidFill>
                <a:latin typeface="Noto Sans"/>
                <a:ea typeface="Noto Sans"/>
                <a:cs typeface="Noto Sans"/>
              </a:rPr>
              <a:t>vùng trễ cảnh báo</a:t>
            </a:r>
          </a:p>
        </p:txBody>
      </p:sp>
      <p:cxnSp>
        <p:nvCxnSpPr>
          <p:cNvPr id="39" name=""/>
          <p:cNvCxnSpPr>
            <a:stCxn xmlns:a="http://schemas.openxmlformats.org/drawingml/2006/main" id="15" idx="3"/>
            <a:endCxn xmlns:a="http://schemas.openxmlformats.org/drawingml/2006/main" id="16" idx="1"/>
          </p:cNvCxnSpPr>
          <p:nvPr/>
        </p:nvCxnSpPr>
        <p:spPr>
          <a:xfrm xmlns:a="http://schemas.openxmlformats.org/drawingml/2006/main">
            <a:off x="3905250" y="4152900"/>
            <a:ext cx="857250" cy="0"/>
          </a:xfrm>
          <a:prstGeom xmlns:a="http://schemas.openxmlformats.org/drawingml/2006/main" prst="straightConnector1">
            <a:avLst/>
          </a:prstGeom>
          <a:ln xmlns:a="http://schemas.openxmlformats.org/drawingml/2006/main" w="19050">
            <a:solidFill>
              <a:srgbClr val="0F6E41"/>
            </a:solidFill>
            <a:prstDash val="solid"/>
            <a:tailEnd type="triangle" w="sm" len="sm"/>
          </a:ln>
        </p:spPr>
      </p:cxnSp>
      <p:cxnSp>
        <p:nvCxnSpPr>
          <p:cNvPr id="40" name=""/>
          <p:cNvCxnSpPr>
            <a:stCxn xmlns:a="http://schemas.openxmlformats.org/drawingml/2006/main" id="16" idx="3"/>
            <a:endCxn xmlns:a="http://schemas.openxmlformats.org/drawingml/2006/main" id="17" idx="1"/>
          </p:cNvCxnSpPr>
          <p:nvPr/>
        </p:nvCxnSpPr>
        <p:spPr>
          <a:xfrm xmlns:a="http://schemas.openxmlformats.org/drawingml/2006/main">
            <a:off x="6858000" y="4152900"/>
            <a:ext cx="857250" cy="0"/>
          </a:xfrm>
          <a:prstGeom xmlns:a="http://schemas.openxmlformats.org/drawingml/2006/main" prst="straightConnector1">
            <a:avLst/>
          </a:prstGeom>
          <a:ln xmlns:a="http://schemas.openxmlformats.org/drawingml/2006/main" w="19050">
            <a:solidFill>
              <a:srgbClr val="0F6E41"/>
            </a:solidFill>
            <a:prstDash val="solid"/>
            <a:tailEnd type="triangle" w="sm" len="sm"/>
          </a:ln>
        </p:spPr>
      </p:cxnSp>
      <p:sp>
        <p:nvSpPr>
          <p:cNvPr id="20" name="">
            <a:extLst xmlns:a="http://schemas.openxmlformats.org/drawingml/2006/main">
              <a:ext uri="{FF2B5EF4-FFF2-40B4-BE49-F238E27FC236}">
                <a16:creationId xmlns:a16="http://schemas.microsoft.com/office/drawing/2014/main" id="{31A72BB2-7203-487A-B489-B77E7AF45F4C}"/>
              </a:ext>
            </a:extLst>
          </p:cNvPr>
          <p:cNvSpPr>
            <a:spLocks xmlns:a="http://schemas.openxmlformats.org/drawingml/2006/main" noGrp="1"/>
          </p:cNvSpPr>
          <p:nvPr/>
        </p:nvSpPr>
        <p:spPr>
          <a:xfrm xmlns:a="http://schemas.openxmlformats.org/drawingml/2006/main">
            <a:off x="2381250" y="5219700"/>
            <a:ext cx="7429500" cy="609600"/>
          </a:xfrm>
          <a:prstGeom xmlns:a="http://schemas.openxmlformats.org/drawingml/2006/main" prst="roundRect">
            <a:avLst>
              <a:gd name="adj" fmla="val 21875"/>
            </a:avLst>
          </a:prstGeom>
          <a:solidFill xmlns:a="http://schemas.openxmlformats.org/drawingml/2006/main">
            <a:srgbClr val="FFFFFF"/>
          </a:solidFill>
          <a:ln xmlns:a="http://schemas.openxmlformats.org/drawingml/2006/main" w="19050">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725" b="1">
                <a:solidFill>
                  <a:srgbClr val="0F6E41"/>
                </a:solidFill>
                <a:latin typeface="Noto Sans"/>
                <a:ea typeface="Noto Sans"/>
                <a:cs typeface="Noto Sans"/>
              </a:defRPr>
            </a:pPr>
            <a:r>
              <a:rPr sz="1725" b="1">
                <a:solidFill>
                  <a:srgbClr val="0F6E41"/>
                </a:solidFill>
                <a:latin typeface="Noto Sans"/>
                <a:ea typeface="Noto Sans"/>
                <a:cs typeface="Noto Sans"/>
              </a:rPr>
              <a:t>Mẫu t dùng bias_before. Bias_after có hiệu lực từ mẫu t+1.</a:t>
            </a:r>
          </a:p>
        </p:txBody>
      </p:sp>
      <p:sp>
        <p:nvSpPr>
          <p:cNvPr id="21" name="">
            <a:extLst xmlns:a="http://schemas.openxmlformats.org/drawingml/2006/main">
              <a:ext uri="{FF2B5EF4-FFF2-40B4-BE49-F238E27FC236}">
                <a16:creationId xmlns:a16="http://schemas.microsoft.com/office/drawing/2014/main" id="{CF4EBB3E-B173-429C-9D26-0B9145E7A4AF}"/>
              </a:ext>
            </a:extLst>
          </p:cNvPr>
          <p:cNvSpPr>
            <a:spLocks xmlns:a="http://schemas.openxmlformats.org/drawingml/2006/main" noGrp="1"/>
          </p:cNvSpPr>
          <p:nvPr/>
        </p:nvSpPr>
        <p:spPr>
          <a:xfrm xmlns:a="http://schemas.openxmlformats.org/drawingml/2006/main">
            <a:off x="2381250" y="5953125"/>
            <a:ext cx="742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17352B"/>
                </a:solidFill>
                <a:latin typeface="Noto Sans"/>
                <a:ea typeface="Noto Sans"/>
                <a:cs typeface="Noto Sans"/>
              </a:defRPr>
            </a:pPr>
            <a:r>
              <a:rPr sz="1275" b="1">
                <a:solidFill>
                  <a:srgbClr val="17352B"/>
                </a:solidFill>
                <a:latin typeface="Noto Sans"/>
                <a:ea typeface="Noto Sans"/>
                <a:cs typeface="Noto Sans"/>
              </a:rPr>
              <a:t>Số nguyên có dấu x16. S = 3 tương ứng α = 1/8. qc_ok = 0 giữ nguyên bias</a:t>
            </a:r>
          </a:p>
        </p:txBody>
      </p:sp>
    </p:spTree>
    <p:extLst>
      <p:ext uri="{BB962C8B-B14F-4D97-AF65-F5344CB8AC3E}">
        <p14:creationId xmlns:p14="http://schemas.microsoft.com/office/powerpoint/2010/main" val="172069591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5392B66E-37DA-4324-B302-ED9DC31447CA}"/>
              </a:ext>
            </a:extLst>
          </p:cNvPr>
          <p:cNvSpPr>
            <a:spLocks xmlns:a="http://schemas.openxmlformats.org/drawingml/2006/main" noGrp="1"/>
          </p:cNvSpPr>
          <p:nvPr/>
        </p:nvSpPr>
        <p:spPr>
          <a:xfrm xmlns:a="http://schemas.openxmlformats.org/drawingml/2006/main">
            <a:off x="723900" y="314325"/>
            <a:ext cx="857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352B"/>
                </a:solidFill>
                <a:latin typeface="Noto Sans"/>
                <a:ea typeface="Noto Sans"/>
                <a:cs typeface="Noto Sans"/>
              </a:defRPr>
            </a:pPr>
            <a:r>
              <a:rPr sz="3150" b="1">
                <a:solidFill>
                  <a:srgbClr val="17352B"/>
                </a:solidFill>
                <a:latin typeface="Noto Sans"/>
                <a:ea typeface="Noto Sans"/>
                <a:cs typeface="Noto Sans"/>
              </a:rPr>
              <a:t>Giao diện APB3 cho tích hợp SoC</a:t>
            </a:r>
          </a:p>
        </p:txBody>
      </p:sp>
      <p:sp>
        <p:nvSpPr>
          <p:cNvPr id="2" name="">
            <a:extLst xmlns:a="http://schemas.openxmlformats.org/drawingml/2006/main">
              <a:ext uri="{FF2B5EF4-FFF2-40B4-BE49-F238E27FC236}">
                <a16:creationId xmlns:a16="http://schemas.microsoft.com/office/drawing/2014/main" id="{7605ACBF-0A7F-4641-8521-943A3BCDD173}"/>
              </a:ext>
            </a:extLst>
          </p:cNvPr>
          <p:cNvSpPr>
            <a:spLocks xmlns:a="http://schemas.openxmlformats.org/drawingml/2006/main" noGrp="1"/>
          </p:cNvSpPr>
          <p:nvPr/>
        </p:nvSpPr>
        <p:spPr>
          <a:xfrm xmlns:a="http://schemas.openxmlformats.org/drawingml/2006/main">
            <a:off x="628650" y="1123950"/>
            <a:ext cx="876300" cy="0"/>
          </a:xfrm>
          <a:prstGeom xmlns:a="http://schemas.openxmlformats.org/drawingml/2006/main" prst="line">
            <a:avLst/>
          </a:prstGeom>
          <a:noFill xmlns:a="http://schemas.openxmlformats.org/drawingml/2006/main"/>
          <a:ln xmlns:a="http://schemas.openxmlformats.org/drawingml/2006/main" w="38100">
            <a:solidFill>
              <a:srgbClr val="0F6E41"/>
            </a:solid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d908ca41666a4f8b"/>
          <a:stretch xmlns:a="http://schemas.openxmlformats.org/drawingml/2006/main"/>
        </p:blipFill>
        <p:spPr>
          <a:xfrm xmlns:a="http://schemas.openxmlformats.org/drawingml/2006/main">
            <a:off x="10020300" y="220120"/>
            <a:ext cx="428625" cy="512259"/>
          </a:xfrm>
          <a:prstGeom xmlns:a="http://schemas.openxmlformats.org/drawingml/2006/main" prst="rect">
            <a:avLst/>
          </a:prstGeom>
        </p:spPr>
      </p:pic>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09028b86ca004eea"/>
          <a:stretch xmlns:a="http://schemas.openxmlformats.org/drawingml/2006/main"/>
        </p:blipFill>
        <p:spPr>
          <a:xfrm xmlns:a="http://schemas.openxmlformats.org/drawingml/2006/main">
            <a:off x="10687050" y="298596"/>
            <a:ext cx="990600" cy="35530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4F6DB3A-E596-4865-AD26-DE7614BC73C5}"/>
              </a:ext>
            </a:extLst>
          </p:cNvPr>
          <p:cNvSpPr>
            <a:spLocks xmlns:a="http://schemas.openxmlformats.org/drawingml/2006/main" noGrp="1"/>
          </p:cNvSpPr>
          <p:nvPr/>
        </p:nvSpPr>
        <p:spPr>
          <a:xfrm xmlns:a="http://schemas.openxmlformats.org/drawingml/2006/main">
            <a:off x="11372850" y="6486525"/>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1">
                <a:solidFill>
                  <a:srgbClr val="17352B"/>
                </a:solidFill>
                <a:latin typeface="Noto Sans"/>
                <a:ea typeface="Noto Sans"/>
                <a:cs typeface="Noto Sans"/>
              </a:defRPr>
            </a:pPr>
            <a:r>
              <a:rPr sz="1050" b="1">
                <a:solidFill>
                  <a:srgbClr val="17352B"/>
                </a:solidFill>
                <a:latin typeface="Noto Sans"/>
                <a:ea typeface="Noto Sans"/>
                <a:cs typeface="Noto Sans"/>
              </a:rPr>
              <a:t>5</a:t>
            </a:r>
          </a:p>
        </p:txBody>
      </p:sp>
      <p:sp>
        <p:nvSpPr>
          <p:cNvPr id="6" name="">
            <a:extLst xmlns:a="http://schemas.openxmlformats.org/drawingml/2006/main">
              <a:ext uri="{FF2B5EF4-FFF2-40B4-BE49-F238E27FC236}">
                <a16:creationId xmlns:a16="http://schemas.microsoft.com/office/drawing/2014/main" id="{2FC920ED-7EDC-4895-928B-0EE12FD4659D}"/>
              </a:ext>
            </a:extLst>
          </p:cNvPr>
          <p:cNvSpPr>
            <a:spLocks xmlns:a="http://schemas.openxmlformats.org/drawingml/2006/main" noGrp="1"/>
          </p:cNvSpPr>
          <p:nvPr/>
        </p:nvSpPr>
        <p:spPr>
          <a:xfrm xmlns:a="http://schemas.openxmlformats.org/drawingml/2006/main">
            <a:off x="781050" y="140970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F6E41"/>
                </a:solidFill>
                <a:latin typeface="Noto Sans"/>
                <a:ea typeface="Noto Sans"/>
                <a:cs typeface="Noto Sans"/>
              </a:defRPr>
            </a:pPr>
            <a:r>
              <a:rPr sz="1800" b="1">
                <a:solidFill>
                  <a:srgbClr val="0F6E41"/>
                </a:solidFill>
                <a:latin typeface="Noto Sans"/>
                <a:ea typeface="Noto Sans"/>
                <a:cs typeface="Noto Sans"/>
              </a:rPr>
              <a:t>32 bit</a:t>
            </a:r>
          </a:p>
        </p:txBody>
      </p:sp>
      <p:sp>
        <p:nvSpPr>
          <p:cNvPr id="7" name="">
            <a:extLst xmlns:a="http://schemas.openxmlformats.org/drawingml/2006/main">
              <a:ext uri="{FF2B5EF4-FFF2-40B4-BE49-F238E27FC236}">
                <a16:creationId xmlns:a16="http://schemas.microsoft.com/office/drawing/2014/main" id="{A5C996E8-8A60-4EFA-91A5-BE47CA63AB4F}"/>
              </a:ext>
            </a:extLst>
          </p:cNvPr>
          <p:cNvSpPr>
            <a:spLocks xmlns:a="http://schemas.openxmlformats.org/drawingml/2006/main" noGrp="1"/>
          </p:cNvSpPr>
          <p:nvPr/>
        </p:nvSpPr>
        <p:spPr>
          <a:xfrm xmlns:a="http://schemas.openxmlformats.org/drawingml/2006/main">
            <a:off x="2571750" y="1409700"/>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F6E41"/>
                </a:solidFill>
                <a:latin typeface="Noto Sans"/>
                <a:ea typeface="Noto Sans"/>
                <a:cs typeface="Noto Sans"/>
              </a:defRPr>
            </a:pPr>
            <a:r>
              <a:rPr sz="1800" b="1">
                <a:solidFill>
                  <a:srgbClr val="0F6E41"/>
                </a:solidFill>
                <a:latin typeface="Noto Sans"/>
                <a:ea typeface="Noto Sans"/>
                <a:cs typeface="Noto Sans"/>
              </a:rPr>
              <a:t>PREADY = 1</a:t>
            </a:r>
          </a:p>
        </p:txBody>
      </p:sp>
      <p:sp>
        <p:nvSpPr>
          <p:cNvPr id="8" name="">
            <a:extLst xmlns:a="http://schemas.openxmlformats.org/drawingml/2006/main">
              <a:ext uri="{FF2B5EF4-FFF2-40B4-BE49-F238E27FC236}">
                <a16:creationId xmlns:a16="http://schemas.microsoft.com/office/drawing/2014/main" id="{A19DB62A-D45A-4C73-AACF-D1367B3615FD}"/>
              </a:ext>
            </a:extLst>
          </p:cNvPr>
          <p:cNvSpPr>
            <a:spLocks xmlns:a="http://schemas.openxmlformats.org/drawingml/2006/main" noGrp="1"/>
          </p:cNvSpPr>
          <p:nvPr/>
        </p:nvSpPr>
        <p:spPr>
          <a:xfrm xmlns:a="http://schemas.openxmlformats.org/drawingml/2006/main">
            <a:off x="4762500" y="140970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F6E41"/>
                </a:solidFill>
                <a:latin typeface="Noto Sans"/>
                <a:ea typeface="Noto Sans"/>
                <a:cs typeface="Noto Sans"/>
              </a:defRPr>
            </a:pPr>
            <a:r>
              <a:rPr sz="1800" b="1">
                <a:solidFill>
                  <a:srgbClr val="0F6E41"/>
                </a:solidFill>
                <a:latin typeface="Noto Sans"/>
                <a:ea typeface="Noto Sans"/>
                <a:cs typeface="Noto Sans"/>
              </a:rPr>
              <a:t>Một miền PCLK</a:t>
            </a:r>
          </a:p>
        </p:txBody>
      </p:sp>
      <p:sp>
        <p:nvSpPr>
          <p:cNvPr id="9" name="">
            <a:extLst xmlns:a="http://schemas.openxmlformats.org/drawingml/2006/main">
              <a:ext uri="{FF2B5EF4-FFF2-40B4-BE49-F238E27FC236}">
                <a16:creationId xmlns:a16="http://schemas.microsoft.com/office/drawing/2014/main" id="{A86A065A-48E4-4691-91F6-E5C8754B1480}"/>
              </a:ext>
            </a:extLst>
          </p:cNvPr>
          <p:cNvSpPr>
            <a:spLocks xmlns:a="http://schemas.openxmlformats.org/drawingml/2006/main" noGrp="1"/>
          </p:cNvSpPr>
          <p:nvPr/>
        </p:nvSpPr>
        <p:spPr>
          <a:xfrm xmlns:a="http://schemas.openxmlformats.org/drawingml/2006/main">
            <a:off x="7334250" y="1409700"/>
            <a:ext cx="247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F6E41"/>
                </a:solidFill>
                <a:latin typeface="Noto Sans"/>
                <a:ea typeface="Noto Sans"/>
                <a:cs typeface="Noto Sans"/>
              </a:defRPr>
            </a:pPr>
            <a:r>
              <a:rPr sz="1800" b="1">
                <a:solidFill>
                  <a:srgbClr val="0F6E41"/>
                </a:solidFill>
                <a:latin typeface="Noto Sans"/>
                <a:ea typeface="Noto Sans"/>
                <a:cs typeface="Noto Sans"/>
              </a:rPr>
              <a:t>Snapshot nguyên tử</a:t>
            </a:r>
          </a:p>
        </p:txBody>
      </p:sp>
      <p:sp>
        <p:nvSpPr>
          <p:cNvPr id="10" name="">
            <a:extLst xmlns:a="http://schemas.openxmlformats.org/drawingml/2006/main">
              <a:ext uri="{FF2B5EF4-FFF2-40B4-BE49-F238E27FC236}">
                <a16:creationId xmlns:a16="http://schemas.microsoft.com/office/drawing/2014/main" id="{D2EE8162-E14C-4FD3-ACA4-1435F04F4019}"/>
              </a:ext>
            </a:extLst>
          </p:cNvPr>
          <p:cNvSpPr>
            <a:spLocks xmlns:a="http://schemas.openxmlformats.org/drawingml/2006/main" noGrp="1"/>
          </p:cNvSpPr>
          <p:nvPr/>
        </p:nvSpPr>
        <p:spPr>
          <a:xfrm xmlns:a="http://schemas.openxmlformats.org/drawingml/2006/main">
            <a:off x="666750" y="2171700"/>
            <a:ext cx="2286000" cy="857250"/>
          </a:xfrm>
          <a:prstGeom xmlns:a="http://schemas.openxmlformats.org/drawingml/2006/main" prst="roundRect">
            <a:avLst>
              <a:gd name="adj" fmla="val 15556"/>
            </a:avLst>
          </a:prstGeom>
          <a:solidFill xmlns:a="http://schemas.openxmlformats.org/drawingml/2006/main">
            <a:srgbClr val="EAF5EF"/>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575" b="1">
                <a:solidFill>
                  <a:srgbClr val="17352B"/>
                </a:solidFill>
                <a:latin typeface="Noto Sans"/>
                <a:ea typeface="Noto Sans"/>
                <a:cs typeface="Noto Sans"/>
              </a:defRPr>
            </a:pPr>
            <a:r>
              <a:rPr sz="1575" b="1">
                <a:solidFill>
                  <a:srgbClr val="17352B"/>
                </a:solidFill>
                <a:latin typeface="Noto Sans"/>
                <a:ea typeface="Noto Sans"/>
                <a:cs typeface="Noto Sans"/>
              </a:rPr>
              <a:t>Ghi payload</a:t>
            </a:r>
          </a:p>
          <a:p xmlns:a="http://schemas.openxmlformats.org/drawingml/2006/main">
            <a:pPr algn="ctr">
              <a:defRPr sz="1575" b="1">
                <a:solidFill>
                  <a:srgbClr val="17352B"/>
                </a:solidFill>
                <a:latin typeface="Noto Sans"/>
                <a:ea typeface="Noto Sans"/>
                <a:cs typeface="Noto Sans"/>
              </a:defRPr>
            </a:pPr>
            <a:r>
              <a:rPr sz="1575" b="1">
                <a:solidFill>
                  <a:srgbClr val="17352B"/>
                </a:solidFill>
                <a:latin typeface="Noto Sans"/>
                <a:ea typeface="Noto Sans"/>
                <a:cs typeface="Noto Sans"/>
              </a:rPr>
              <a:t>CAMS, PA, HOUR</a:t>
            </a:r>
          </a:p>
        </p:txBody>
      </p:sp>
      <p:sp>
        <p:nvSpPr>
          <p:cNvPr id="11" name="">
            <a:extLst xmlns:a="http://schemas.openxmlformats.org/drawingml/2006/main">
              <a:ext uri="{FF2B5EF4-FFF2-40B4-BE49-F238E27FC236}">
                <a16:creationId xmlns:a16="http://schemas.microsoft.com/office/drawing/2014/main" id="{D92577C4-95BF-4358-9D63-1DB7EC7D7B97}"/>
              </a:ext>
            </a:extLst>
          </p:cNvPr>
          <p:cNvSpPr>
            <a:spLocks xmlns:a="http://schemas.openxmlformats.org/drawingml/2006/main" noGrp="1"/>
          </p:cNvSpPr>
          <p:nvPr/>
        </p:nvSpPr>
        <p:spPr>
          <a:xfrm xmlns:a="http://schemas.openxmlformats.org/drawingml/2006/main">
            <a:off x="3429000" y="2171700"/>
            <a:ext cx="2286000" cy="857250"/>
          </a:xfrm>
          <a:prstGeom xmlns:a="http://schemas.openxmlformats.org/drawingml/2006/main" prst="roundRect">
            <a:avLst>
              <a:gd name="adj" fmla="val 15556"/>
            </a:avLst>
          </a:prstGeom>
          <a:solidFill xmlns:a="http://schemas.openxmlformats.org/drawingml/2006/main">
            <a:srgbClr val="EAF5EF"/>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350" b="1">
                <a:solidFill>
                  <a:srgbClr val="17352B"/>
                </a:solidFill>
                <a:latin typeface="DejaVu Sans Mono"/>
                <a:ea typeface="DejaVu Sans Mono"/>
                <a:cs typeface="DejaVu Sans Mono"/>
              </a:defRPr>
            </a:pPr>
            <a:r>
              <a:rPr sz="1350" b="1">
                <a:solidFill>
                  <a:srgbClr val="17352B"/>
                </a:solidFill>
                <a:latin typeface="DejaVu Sans Mono"/>
                <a:ea typeface="DejaVu Sans Mono"/>
                <a:cs typeface="DejaVu Sans Mono"/>
              </a:rPr>
              <a:t>Ghi CONTROL.PROCESS</a:t>
            </a:r>
          </a:p>
        </p:txBody>
      </p:sp>
      <p:sp>
        <p:nvSpPr>
          <p:cNvPr id="12" name="">
            <a:extLst xmlns:a="http://schemas.openxmlformats.org/drawingml/2006/main">
              <a:ext uri="{FF2B5EF4-FFF2-40B4-BE49-F238E27FC236}">
                <a16:creationId xmlns:a16="http://schemas.microsoft.com/office/drawing/2014/main" id="{2D139783-AB08-45E5-B15F-A9CC4A3E67E8}"/>
              </a:ext>
            </a:extLst>
          </p:cNvPr>
          <p:cNvSpPr>
            <a:spLocks xmlns:a="http://schemas.openxmlformats.org/drawingml/2006/main" noGrp="1"/>
          </p:cNvSpPr>
          <p:nvPr/>
        </p:nvSpPr>
        <p:spPr>
          <a:xfrm xmlns:a="http://schemas.openxmlformats.org/drawingml/2006/main">
            <a:off x="6191250" y="2171700"/>
            <a:ext cx="2286000" cy="857250"/>
          </a:xfrm>
          <a:prstGeom xmlns:a="http://schemas.openxmlformats.org/drawingml/2006/main" prst="roundRect">
            <a:avLst>
              <a:gd name="adj" fmla="val 15556"/>
            </a:avLst>
          </a:prstGeom>
          <a:solidFill xmlns:a="http://schemas.openxmlformats.org/drawingml/2006/main">
            <a:srgbClr val="EAF5EF"/>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575" b="1">
                <a:solidFill>
                  <a:srgbClr val="17352B"/>
                </a:solidFill>
                <a:latin typeface="Noto Sans"/>
                <a:ea typeface="Noto Sans"/>
                <a:cs typeface="Noto Sans"/>
              </a:defRPr>
            </a:pPr>
            <a:r>
              <a:rPr sz="1575" b="1">
                <a:solidFill>
                  <a:srgbClr val="17352B"/>
                </a:solidFill>
                <a:latin typeface="Noto Sans"/>
                <a:ea typeface="Noto Sans"/>
                <a:cs typeface="Noto Sans"/>
              </a:rPr>
              <a:t>Theo dõi</a:t>
            </a:r>
          </a:p>
          <a:p xmlns:a="http://schemas.openxmlformats.org/drawingml/2006/main">
            <a:pPr algn="ctr">
              <a:defRPr sz="1575" b="1">
                <a:solidFill>
                  <a:srgbClr val="17352B"/>
                </a:solidFill>
                <a:latin typeface="Noto Sans"/>
                <a:ea typeface="Noto Sans"/>
                <a:cs typeface="Noto Sans"/>
              </a:defRPr>
            </a:pPr>
            <a:r>
              <a:rPr sz="1575" b="1">
                <a:solidFill>
                  <a:srgbClr val="17352B"/>
                </a:solidFill>
                <a:latin typeface="Noto Sans"/>
                <a:ea typeface="Noto Sans"/>
                <a:cs typeface="Noto Sans"/>
              </a:rPr>
              <a:t>BUSY và DONE</a:t>
            </a:r>
          </a:p>
        </p:txBody>
      </p:sp>
      <p:sp>
        <p:nvSpPr>
          <p:cNvPr id="13" name="">
            <a:extLst xmlns:a="http://schemas.openxmlformats.org/drawingml/2006/main">
              <a:ext uri="{FF2B5EF4-FFF2-40B4-BE49-F238E27FC236}">
                <a16:creationId xmlns:a16="http://schemas.microsoft.com/office/drawing/2014/main" id="{3C19DF5E-8009-4862-B0A9-B189666CE79B}"/>
              </a:ext>
            </a:extLst>
          </p:cNvPr>
          <p:cNvSpPr>
            <a:spLocks xmlns:a="http://schemas.openxmlformats.org/drawingml/2006/main" noGrp="1"/>
          </p:cNvSpPr>
          <p:nvPr/>
        </p:nvSpPr>
        <p:spPr>
          <a:xfrm xmlns:a="http://schemas.openxmlformats.org/drawingml/2006/main">
            <a:off x="8953500" y="2171700"/>
            <a:ext cx="2286000" cy="857250"/>
          </a:xfrm>
          <a:prstGeom xmlns:a="http://schemas.openxmlformats.org/drawingml/2006/main" prst="roundRect">
            <a:avLst>
              <a:gd name="adj" fmla="val 15556"/>
            </a:avLst>
          </a:prstGeom>
          <a:solidFill xmlns:a="http://schemas.openxmlformats.org/drawingml/2006/main">
            <a:srgbClr val="0F6E41"/>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575" b="1">
                <a:solidFill>
                  <a:srgbClr val="FFFFFF"/>
                </a:solidFill>
                <a:latin typeface="Noto Sans"/>
                <a:ea typeface="Noto Sans"/>
                <a:cs typeface="Noto Sans"/>
              </a:defRPr>
            </a:pPr>
            <a:r>
              <a:rPr sz="1575" b="1">
                <a:solidFill>
                  <a:srgbClr val="FFFFFF"/>
                </a:solidFill>
                <a:latin typeface="Noto Sans"/>
                <a:ea typeface="Noto Sans"/>
                <a:cs typeface="Noto Sans"/>
              </a:rPr>
              <a:t>Đọc RESULT, BIAS</a:t>
            </a:r>
          </a:p>
          <a:p xmlns:a="http://schemas.openxmlformats.org/drawingml/2006/main">
            <a:pPr algn="ctr">
              <a:defRPr sz="1575" b="1">
                <a:solidFill>
                  <a:srgbClr val="FFFFFF"/>
                </a:solidFill>
                <a:latin typeface="Noto Sans"/>
                <a:ea typeface="Noto Sans"/>
                <a:cs typeface="Noto Sans"/>
              </a:defRPr>
            </a:pPr>
            <a:r>
              <a:rPr sz="1575" b="1">
                <a:solidFill>
                  <a:srgbClr val="FFFFFF"/>
                </a:solidFill>
                <a:latin typeface="Noto Sans"/>
                <a:ea typeface="Noto Sans"/>
                <a:cs typeface="Noto Sans"/>
              </a:rPr>
              <a:t>và cảnh báo</a:t>
            </a:r>
          </a:p>
        </p:txBody>
      </p:sp>
      <p:cxnSp>
        <p:nvCxnSpPr>
          <p:cNvPr id="39" name=""/>
          <p:cNvCxnSpPr>
            <a:stCxn xmlns:a="http://schemas.openxmlformats.org/drawingml/2006/main" id="10" idx="3"/>
            <a:endCxn xmlns:a="http://schemas.openxmlformats.org/drawingml/2006/main" id="11" idx="1"/>
          </p:cNvCxnSpPr>
          <p:nvPr/>
        </p:nvCxnSpPr>
        <p:spPr>
          <a:xfrm xmlns:a="http://schemas.openxmlformats.org/drawingml/2006/main">
            <a:off x="2952750" y="2600325"/>
            <a:ext cx="476250" cy="0"/>
          </a:xfrm>
          <a:prstGeom xmlns:a="http://schemas.openxmlformats.org/drawingml/2006/main" prst="straightConnector1">
            <a:avLst/>
          </a:prstGeom>
          <a:ln xmlns:a="http://schemas.openxmlformats.org/drawingml/2006/main" w="19050">
            <a:solidFill>
              <a:srgbClr val="0F6E41"/>
            </a:solidFill>
            <a:prstDash val="solid"/>
            <a:tailEnd type="triangle" w="sm" len="sm"/>
          </a:ln>
        </p:spPr>
      </p:cxnSp>
      <p:cxnSp>
        <p:nvCxnSpPr>
          <p:cNvPr id="40" name=""/>
          <p:cNvCxnSpPr>
            <a:stCxn xmlns:a="http://schemas.openxmlformats.org/drawingml/2006/main" id="11" idx="3"/>
            <a:endCxn xmlns:a="http://schemas.openxmlformats.org/drawingml/2006/main" id="12" idx="1"/>
          </p:cNvCxnSpPr>
          <p:nvPr/>
        </p:nvCxnSpPr>
        <p:spPr>
          <a:xfrm xmlns:a="http://schemas.openxmlformats.org/drawingml/2006/main">
            <a:off x="5715000" y="2600325"/>
            <a:ext cx="476250" cy="0"/>
          </a:xfrm>
          <a:prstGeom xmlns:a="http://schemas.openxmlformats.org/drawingml/2006/main" prst="straightConnector1">
            <a:avLst/>
          </a:prstGeom>
          <a:ln xmlns:a="http://schemas.openxmlformats.org/drawingml/2006/main" w="19050">
            <a:solidFill>
              <a:srgbClr val="0F6E41"/>
            </a:solidFill>
            <a:prstDash val="solid"/>
            <a:tailEnd type="triangle" w="sm" len="sm"/>
          </a:ln>
        </p:spPr>
      </p:cxnSp>
      <p:cxnSp>
        <p:nvCxnSpPr>
          <p:cNvPr id="41" name=""/>
          <p:cNvCxnSpPr>
            <a:stCxn xmlns:a="http://schemas.openxmlformats.org/drawingml/2006/main" id="12" idx="3"/>
            <a:endCxn xmlns:a="http://schemas.openxmlformats.org/drawingml/2006/main" id="13" idx="1"/>
          </p:cNvCxnSpPr>
          <p:nvPr/>
        </p:nvCxnSpPr>
        <p:spPr>
          <a:xfrm xmlns:a="http://schemas.openxmlformats.org/drawingml/2006/main">
            <a:off x="8477250" y="2600325"/>
            <a:ext cx="476250" cy="0"/>
          </a:xfrm>
          <a:prstGeom xmlns:a="http://schemas.openxmlformats.org/drawingml/2006/main" prst="straightConnector1">
            <a:avLst/>
          </a:prstGeom>
          <a:ln xmlns:a="http://schemas.openxmlformats.org/drawingml/2006/main" w="19050">
            <a:solidFill>
              <a:srgbClr val="0F6E41"/>
            </a:solidFill>
            <a:prstDash val="solid"/>
            <a:tailEnd type="triangle" w="sm" len="sm"/>
          </a:ln>
        </p:spPr>
      </p:cxnSp>
      <p:sp>
        <p:nvSpPr>
          <p:cNvPr id="17" name="">
            <a:extLst xmlns:a="http://schemas.openxmlformats.org/drawingml/2006/main">
              <a:ext uri="{FF2B5EF4-FFF2-40B4-BE49-F238E27FC236}">
                <a16:creationId xmlns:a16="http://schemas.microsoft.com/office/drawing/2014/main" id="{7836E1D7-8097-4477-A787-FEEDC73B19C7}"/>
              </a:ext>
            </a:extLst>
          </p:cNvPr>
          <p:cNvSpPr>
            <a:spLocks xmlns:a="http://schemas.openxmlformats.org/drawingml/2006/main" noGrp="1"/>
          </p:cNvSpPr>
          <p:nvPr/>
        </p:nvSpPr>
        <p:spPr>
          <a:xfrm xmlns:a="http://schemas.openxmlformats.org/drawingml/2006/main">
            <a:off x="781050" y="366712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F6E41"/>
                </a:solidFill>
                <a:latin typeface="Noto Sans"/>
                <a:ea typeface="Noto Sans"/>
                <a:cs typeface="Noto Sans"/>
              </a:defRPr>
            </a:pPr>
            <a:r>
              <a:rPr sz="1200" b="1">
                <a:solidFill>
                  <a:srgbClr val="0F6E41"/>
                </a:solidFill>
                <a:latin typeface="Noto Sans"/>
                <a:ea typeface="Noto Sans"/>
                <a:cs typeface="Noto Sans"/>
              </a:rPr>
              <a:t>NHẬN DẠNG VÀ CẤU HÌNH</a:t>
            </a:r>
          </a:p>
        </p:txBody>
      </p:sp>
      <p:sp>
        <p:nvSpPr>
          <p:cNvPr id="18" name="">
            <a:extLst xmlns:a="http://schemas.openxmlformats.org/drawingml/2006/main">
              <a:ext uri="{FF2B5EF4-FFF2-40B4-BE49-F238E27FC236}">
                <a16:creationId xmlns:a16="http://schemas.microsoft.com/office/drawing/2014/main" id="{4C1A32AD-89FF-4E39-A67D-61217636F52C}"/>
              </a:ext>
            </a:extLst>
          </p:cNvPr>
          <p:cNvSpPr>
            <a:spLocks xmlns:a="http://schemas.openxmlformats.org/drawingml/2006/main" noGrp="1"/>
          </p:cNvSpPr>
          <p:nvPr/>
        </p:nvSpPr>
        <p:spPr>
          <a:xfrm xmlns:a="http://schemas.openxmlformats.org/drawingml/2006/main">
            <a:off x="781050" y="4029075"/>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a:solidFill>
                  <a:srgbClr val="17352B"/>
                </a:solidFill>
                <a:latin typeface="DejaVu Sans Mono"/>
                <a:ea typeface="DejaVu Sans Mono"/>
                <a:cs typeface="DejaVu Sans Mono"/>
              </a:defRPr>
            </a:pPr>
            <a:r>
              <a:rPr sz="1350" b="0">
                <a:solidFill>
                  <a:srgbClr val="17352B"/>
                </a:solidFill>
                <a:latin typeface="DejaVu Sans Mono"/>
                <a:ea typeface="DejaVu Sans Mono"/>
                <a:cs typeface="DejaVu Sans Mono"/>
              </a:rPr>
              <a:t>0x00 IP_ID   0x04 VERSION   0x24 CONFIG</a:t>
            </a:r>
          </a:p>
        </p:txBody>
      </p:sp>
      <p:sp>
        <p:nvSpPr>
          <p:cNvPr id="19" name="">
            <a:extLst xmlns:a="http://schemas.openxmlformats.org/drawingml/2006/main">
              <a:ext uri="{FF2B5EF4-FFF2-40B4-BE49-F238E27FC236}">
                <a16:creationId xmlns:a16="http://schemas.microsoft.com/office/drawing/2014/main" id="{79019C21-9EF0-49F4-AC85-6A89D3229B11}"/>
              </a:ext>
            </a:extLst>
          </p:cNvPr>
          <p:cNvSpPr>
            <a:spLocks xmlns:a="http://schemas.openxmlformats.org/drawingml/2006/main" noGrp="1"/>
          </p:cNvSpPr>
          <p:nvPr/>
        </p:nvSpPr>
        <p:spPr>
          <a:xfrm xmlns:a="http://schemas.openxmlformats.org/drawingml/2006/main">
            <a:off x="4476750" y="36671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F6E41"/>
                </a:solidFill>
                <a:latin typeface="Noto Sans"/>
                <a:ea typeface="Noto Sans"/>
                <a:cs typeface="Noto Sans"/>
              </a:defRPr>
            </a:pPr>
            <a:r>
              <a:rPr sz="1200" b="1">
                <a:solidFill>
                  <a:srgbClr val="0F6E41"/>
                </a:solidFill>
                <a:latin typeface="Noto Sans"/>
                <a:ea typeface="Noto Sans"/>
                <a:cs typeface="Noto Sans"/>
              </a:rPr>
              <a:t>PAYLOAD VÀ LỆNH</a:t>
            </a:r>
          </a:p>
        </p:txBody>
      </p:sp>
      <p:sp>
        <p:nvSpPr>
          <p:cNvPr id="20" name="">
            <a:extLst xmlns:a="http://schemas.openxmlformats.org/drawingml/2006/main">
              <a:ext uri="{FF2B5EF4-FFF2-40B4-BE49-F238E27FC236}">
                <a16:creationId xmlns:a16="http://schemas.microsoft.com/office/drawing/2014/main" id="{83C4E51E-ECE4-4B21-95A7-D6772E6385DA}"/>
              </a:ext>
            </a:extLst>
          </p:cNvPr>
          <p:cNvSpPr>
            <a:spLocks xmlns:a="http://schemas.openxmlformats.org/drawingml/2006/main" noGrp="1"/>
          </p:cNvSpPr>
          <p:nvPr/>
        </p:nvSpPr>
        <p:spPr>
          <a:xfrm xmlns:a="http://schemas.openxmlformats.org/drawingml/2006/main">
            <a:off x="4476750" y="4029075"/>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a:solidFill>
                  <a:srgbClr val="17352B"/>
                </a:solidFill>
                <a:latin typeface="DejaVu Sans Mono"/>
                <a:ea typeface="DejaVu Sans Mono"/>
                <a:cs typeface="DejaVu Sans Mono"/>
              </a:defRPr>
            </a:pPr>
            <a:r>
              <a:rPr sz="1350" b="0">
                <a:solidFill>
                  <a:srgbClr val="17352B"/>
                </a:solidFill>
                <a:latin typeface="DejaVu Sans Mono"/>
                <a:ea typeface="DejaVu Sans Mono"/>
                <a:cs typeface="DejaVu Sans Mono"/>
              </a:rPr>
              <a:t>0x08 CONTROL   0x0C CAMS</a:t>
            </a:r>
          </a:p>
          <a:p xmlns:a="http://schemas.openxmlformats.org/drawingml/2006/main">
            <a:pPr algn="l">
              <a:lnSpc>
                <a:spcPct val="115000"/>
              </a:lnSpc>
              <a:buNone/>
              <a:defRPr sz="1350" b="0">
                <a:solidFill>
                  <a:srgbClr val="17352B"/>
                </a:solidFill>
                <a:latin typeface="DejaVu Sans Mono"/>
                <a:ea typeface="DejaVu Sans Mono"/>
                <a:cs typeface="DejaVu Sans Mono"/>
              </a:defRPr>
            </a:pPr>
            <a:r>
              <a:rPr sz="1350" b="0">
                <a:solidFill>
                  <a:srgbClr val="17352B"/>
                </a:solidFill>
                <a:latin typeface="DejaVu Sans Mono"/>
                <a:ea typeface="DejaVu Sans Mono"/>
                <a:cs typeface="DejaVu Sans Mono"/>
              </a:rPr>
              <a:t>0x10 PA        0x14 HOUR</a:t>
            </a:r>
          </a:p>
        </p:txBody>
      </p:sp>
      <p:sp>
        <p:nvSpPr>
          <p:cNvPr id="21" name="">
            <a:extLst xmlns:a="http://schemas.openxmlformats.org/drawingml/2006/main">
              <a:ext uri="{FF2B5EF4-FFF2-40B4-BE49-F238E27FC236}">
                <a16:creationId xmlns:a16="http://schemas.microsoft.com/office/drawing/2014/main" id="{C31A28B4-A8F0-4BB4-A2C3-A313D88CDB0C}"/>
              </a:ext>
            </a:extLst>
          </p:cNvPr>
          <p:cNvSpPr>
            <a:spLocks xmlns:a="http://schemas.openxmlformats.org/drawingml/2006/main" noGrp="1"/>
          </p:cNvSpPr>
          <p:nvPr/>
        </p:nvSpPr>
        <p:spPr>
          <a:xfrm xmlns:a="http://schemas.openxmlformats.org/drawingml/2006/main">
            <a:off x="8096250" y="366712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F6E41"/>
                </a:solidFill>
                <a:latin typeface="Noto Sans"/>
                <a:ea typeface="Noto Sans"/>
                <a:cs typeface="Noto Sans"/>
              </a:defRPr>
            </a:pPr>
            <a:r>
              <a:rPr sz="1200" b="1">
                <a:solidFill>
                  <a:srgbClr val="0F6E41"/>
                </a:solidFill>
                <a:latin typeface="Noto Sans"/>
                <a:ea typeface="Noto Sans"/>
                <a:cs typeface="Noto Sans"/>
              </a:rPr>
              <a:t>TRẠNG THÁI VÀ KẾT QUẢ</a:t>
            </a:r>
          </a:p>
        </p:txBody>
      </p:sp>
      <p:sp>
        <p:nvSpPr>
          <p:cNvPr id="22" name="">
            <a:extLst xmlns:a="http://schemas.openxmlformats.org/drawingml/2006/main">
              <a:ext uri="{FF2B5EF4-FFF2-40B4-BE49-F238E27FC236}">
                <a16:creationId xmlns:a16="http://schemas.microsoft.com/office/drawing/2014/main" id="{ECCC479C-2398-4C40-A111-3F484D9CA6C2}"/>
              </a:ext>
            </a:extLst>
          </p:cNvPr>
          <p:cNvSpPr>
            <a:spLocks xmlns:a="http://schemas.openxmlformats.org/drawingml/2006/main" noGrp="1"/>
          </p:cNvSpPr>
          <p:nvPr/>
        </p:nvSpPr>
        <p:spPr>
          <a:xfrm xmlns:a="http://schemas.openxmlformats.org/drawingml/2006/main">
            <a:off x="8096250" y="4029075"/>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a:solidFill>
                  <a:srgbClr val="17352B"/>
                </a:solidFill>
                <a:latin typeface="DejaVu Sans Mono"/>
                <a:ea typeface="DejaVu Sans Mono"/>
                <a:cs typeface="DejaVu Sans Mono"/>
              </a:defRPr>
            </a:pPr>
            <a:r>
              <a:rPr sz="1350" b="0">
                <a:solidFill>
                  <a:srgbClr val="17352B"/>
                </a:solidFill>
                <a:latin typeface="DejaVu Sans Mono"/>
                <a:ea typeface="DejaVu Sans Mono"/>
                <a:cs typeface="DejaVu Sans Mono"/>
              </a:rPr>
              <a:t>0x18 STATUS   0x1C RESULT</a:t>
            </a:r>
          </a:p>
          <a:p xmlns:a="http://schemas.openxmlformats.org/drawingml/2006/main">
            <a:pPr algn="l">
              <a:lnSpc>
                <a:spcPct val="115000"/>
              </a:lnSpc>
              <a:buNone/>
              <a:defRPr sz="1350" b="0">
                <a:solidFill>
                  <a:srgbClr val="17352B"/>
                </a:solidFill>
                <a:latin typeface="DejaVu Sans Mono"/>
                <a:ea typeface="DejaVu Sans Mono"/>
                <a:cs typeface="DejaVu Sans Mono"/>
              </a:defRPr>
            </a:pPr>
            <a:r>
              <a:rPr sz="1350" b="0">
                <a:solidFill>
                  <a:srgbClr val="17352B"/>
                </a:solidFill>
                <a:latin typeface="DejaVu Sans Mono"/>
                <a:ea typeface="DejaVu Sans Mono"/>
                <a:cs typeface="DejaVu Sans Mono"/>
              </a:rPr>
              <a:t>0x20 BIAS</a:t>
            </a:r>
          </a:p>
        </p:txBody>
      </p:sp>
      <p:sp>
        <p:nvSpPr>
          <p:cNvPr id="23" name="">
            <a:extLst xmlns:a="http://schemas.openxmlformats.org/drawingml/2006/main">
              <a:ext uri="{FF2B5EF4-FFF2-40B4-BE49-F238E27FC236}">
                <a16:creationId xmlns:a16="http://schemas.microsoft.com/office/drawing/2014/main" id="{84A85B0A-E1D7-4895-8ED9-BBCE964950AF}"/>
              </a:ext>
            </a:extLst>
          </p:cNvPr>
          <p:cNvSpPr>
            <a:spLocks xmlns:a="http://schemas.openxmlformats.org/drawingml/2006/main" noGrp="1"/>
          </p:cNvSpPr>
          <p:nvPr/>
        </p:nvSpPr>
        <p:spPr>
          <a:xfrm xmlns:a="http://schemas.openxmlformats.org/drawingml/2006/main">
            <a:off x="781050" y="4953000"/>
            <a:ext cx="10382250" cy="0"/>
          </a:xfrm>
          <a:prstGeom xmlns:a="http://schemas.openxmlformats.org/drawingml/2006/main" prst="line">
            <a:avLst/>
          </a:prstGeom>
          <a:noFill xmlns:a="http://schemas.openxmlformats.org/drawingml/2006/main"/>
          <a:ln xmlns:a="http://schemas.openxmlformats.org/drawingml/2006/main" w="14288">
            <a:solidFill>
              <a:srgbClr val="C8D8CF"/>
            </a:solidFill>
            <a:prstDash val="solid"/>
          </a:ln>
        </p:spPr>
      </p:sp>
      <p:sp>
        <p:nvSpPr>
          <p:cNvPr id="24" name="">
            <a:extLst xmlns:a="http://schemas.openxmlformats.org/drawingml/2006/main">
              <a:ext uri="{FF2B5EF4-FFF2-40B4-BE49-F238E27FC236}">
                <a16:creationId xmlns:a16="http://schemas.microsoft.com/office/drawing/2014/main" id="{CA9E5718-EB96-4801-802F-5F4D416DFF23}"/>
              </a:ext>
            </a:extLst>
          </p:cNvPr>
          <p:cNvSpPr>
            <a:spLocks xmlns:a="http://schemas.openxmlformats.org/drawingml/2006/main" noGrp="1"/>
          </p:cNvSpPr>
          <p:nvPr/>
        </p:nvSpPr>
        <p:spPr>
          <a:xfrm xmlns:a="http://schemas.openxmlformats.org/drawingml/2006/main">
            <a:off x="781050" y="5219700"/>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17352B"/>
                </a:solidFill>
                <a:latin typeface="Noto Sans"/>
                <a:ea typeface="Noto Sans"/>
                <a:cs typeface="Noto Sans"/>
              </a:defRPr>
            </a:pPr>
            <a:r>
              <a:rPr sz="1500" b="1">
                <a:solidFill>
                  <a:srgbClr val="17352B"/>
                </a:solidFill>
                <a:latin typeface="Noto Sans"/>
                <a:ea typeface="Noto Sans"/>
                <a:cs typeface="Noto Sans"/>
              </a:rPr>
              <a:t>PSLVERR cho địa chỉ sai, ghi thanh ghi chỉ đọc hoặc PROCESS khi BUSY</a:t>
            </a:r>
          </a:p>
        </p:txBody>
      </p:sp>
      <p:sp>
        <p:nvSpPr>
          <p:cNvPr id="25" name="">
            <a:extLst xmlns:a="http://schemas.openxmlformats.org/drawingml/2006/main">
              <a:ext uri="{FF2B5EF4-FFF2-40B4-BE49-F238E27FC236}">
                <a16:creationId xmlns:a16="http://schemas.microsoft.com/office/drawing/2014/main" id="{33806DAF-8D75-4906-9500-4CDB4493DE36}"/>
              </a:ext>
            </a:extLst>
          </p:cNvPr>
          <p:cNvSpPr>
            <a:spLocks xmlns:a="http://schemas.openxmlformats.org/drawingml/2006/main" noGrp="1"/>
          </p:cNvSpPr>
          <p:nvPr/>
        </p:nvSpPr>
        <p:spPr>
          <a:xfrm xmlns:a="http://schemas.openxmlformats.org/drawingml/2006/main">
            <a:off x="9048750" y="5067300"/>
            <a:ext cx="209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1">
                <a:solidFill>
                  <a:srgbClr val="0F6E41"/>
                </a:solidFill>
                <a:latin typeface="Noto Sans"/>
                <a:ea typeface="Noto Sans"/>
                <a:cs typeface="Noto Sans"/>
              </a:defRPr>
            </a:pPr>
            <a:r>
              <a:rPr sz="2100" b="1">
                <a:solidFill>
                  <a:srgbClr val="0F6E41"/>
                </a:solidFill>
                <a:latin typeface="Noto Sans"/>
                <a:ea typeface="Noto Sans"/>
                <a:cs typeface="Noto Sans"/>
              </a:rPr>
              <a:t>89 giao dịch</a:t>
            </a:r>
          </a:p>
          <a:p xmlns:a="http://schemas.openxmlformats.org/drawingml/2006/main">
            <a:pPr algn="ctr">
              <a:defRPr sz="2100" b="1">
                <a:solidFill>
                  <a:srgbClr val="0F6E41"/>
                </a:solidFill>
                <a:latin typeface="Noto Sans"/>
                <a:ea typeface="Noto Sans"/>
                <a:cs typeface="Noto Sans"/>
              </a:defRPr>
            </a:pPr>
            <a:r>
              <a:rPr sz="2100" b="1">
                <a:solidFill>
                  <a:srgbClr val="0F6E41"/>
                </a:solidFill>
                <a:latin typeface="Noto Sans"/>
                <a:ea typeface="Noto Sans"/>
                <a:cs typeface="Noto Sans"/>
              </a:rPr>
              <a:t>325 phép kiểm</a:t>
            </a:r>
          </a:p>
        </p:txBody>
      </p:sp>
    </p:spTree>
    <p:extLst>
      <p:ext uri="{BB962C8B-B14F-4D97-AF65-F5344CB8AC3E}">
        <p14:creationId xmlns:p14="http://schemas.microsoft.com/office/powerpoint/2010/main" val="154515596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C75E858-A1F1-4739-9602-D6AAEBD00389}"/>
              </a:ext>
            </a:extLst>
          </p:cNvPr>
          <p:cNvSpPr>
            <a:spLocks xmlns:a="http://schemas.openxmlformats.org/drawingml/2006/main" noGrp="1"/>
          </p:cNvSpPr>
          <p:nvPr/>
        </p:nvSpPr>
        <p:spPr>
          <a:xfrm xmlns:a="http://schemas.openxmlformats.org/drawingml/2006/main">
            <a:off x="723900" y="314325"/>
            <a:ext cx="857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352B"/>
                </a:solidFill>
                <a:latin typeface="Noto Sans"/>
                <a:ea typeface="Noto Sans"/>
                <a:cs typeface="Noto Sans"/>
              </a:defRPr>
            </a:pPr>
            <a:r>
              <a:rPr sz="3150" b="1">
                <a:solidFill>
                  <a:srgbClr val="17352B"/>
                </a:solidFill>
                <a:latin typeface="Noto Sans"/>
                <a:ea typeface="Noto Sans"/>
                <a:cs typeface="Noto Sans"/>
              </a:rPr>
              <a:t>Dữ liệu và kiểm soát chất lượng</a:t>
            </a:r>
          </a:p>
        </p:txBody>
      </p:sp>
      <p:sp>
        <p:nvSpPr>
          <p:cNvPr id="2" name="">
            <a:extLst xmlns:a="http://schemas.openxmlformats.org/drawingml/2006/main">
              <a:ext uri="{FF2B5EF4-FFF2-40B4-BE49-F238E27FC236}">
                <a16:creationId xmlns:a16="http://schemas.microsoft.com/office/drawing/2014/main" id="{75238505-AF6A-40ED-BB59-5531E5418BC0}"/>
              </a:ext>
            </a:extLst>
          </p:cNvPr>
          <p:cNvSpPr>
            <a:spLocks xmlns:a="http://schemas.openxmlformats.org/drawingml/2006/main" noGrp="1"/>
          </p:cNvSpPr>
          <p:nvPr/>
        </p:nvSpPr>
        <p:spPr>
          <a:xfrm xmlns:a="http://schemas.openxmlformats.org/drawingml/2006/main">
            <a:off x="628650" y="1123950"/>
            <a:ext cx="876300" cy="0"/>
          </a:xfrm>
          <a:prstGeom xmlns:a="http://schemas.openxmlformats.org/drawingml/2006/main" prst="line">
            <a:avLst/>
          </a:prstGeom>
          <a:noFill xmlns:a="http://schemas.openxmlformats.org/drawingml/2006/main"/>
          <a:ln xmlns:a="http://schemas.openxmlformats.org/drawingml/2006/main" w="38100">
            <a:solidFill>
              <a:srgbClr val="0F6E41"/>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9fd473616d6440d4"/>
          <a:stretch xmlns:a="http://schemas.openxmlformats.org/drawingml/2006/main"/>
        </p:blipFill>
        <p:spPr>
          <a:xfrm xmlns:a="http://schemas.openxmlformats.org/drawingml/2006/main">
            <a:off x="10020300" y="220120"/>
            <a:ext cx="428625" cy="512259"/>
          </a:xfrm>
          <a:prstGeom xmlns:a="http://schemas.openxmlformats.org/drawingml/2006/main" prst="rect">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b09b624005be44be"/>
          <a:stretch xmlns:a="http://schemas.openxmlformats.org/drawingml/2006/main"/>
        </p:blipFill>
        <p:spPr>
          <a:xfrm xmlns:a="http://schemas.openxmlformats.org/drawingml/2006/main">
            <a:off x="10687050" y="298596"/>
            <a:ext cx="990600" cy="35530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35E6697-8BFD-4B1E-B862-8971C0279F7C}"/>
              </a:ext>
            </a:extLst>
          </p:cNvPr>
          <p:cNvSpPr>
            <a:spLocks xmlns:a="http://schemas.openxmlformats.org/drawingml/2006/main" noGrp="1"/>
          </p:cNvSpPr>
          <p:nvPr/>
        </p:nvSpPr>
        <p:spPr>
          <a:xfrm xmlns:a="http://schemas.openxmlformats.org/drawingml/2006/main">
            <a:off x="11372850" y="6486525"/>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1">
                <a:solidFill>
                  <a:srgbClr val="17352B"/>
                </a:solidFill>
                <a:latin typeface="Noto Sans"/>
                <a:ea typeface="Noto Sans"/>
                <a:cs typeface="Noto Sans"/>
              </a:defRPr>
            </a:pPr>
            <a:r>
              <a:rPr sz="1050" b="1">
                <a:solidFill>
                  <a:srgbClr val="17352B"/>
                </a:solidFill>
                <a:latin typeface="Noto Sans"/>
                <a:ea typeface="Noto Sans"/>
                <a:cs typeface="Noto Sans"/>
              </a:rPr>
              <a:t>6</a:t>
            </a:r>
          </a:p>
        </p:txBody>
      </p:sp>
      <p:sp>
        <p:nvSpPr>
          <p:cNvPr id="6" name="">
            <a:extLst xmlns:a="http://schemas.openxmlformats.org/drawingml/2006/main">
              <a:ext uri="{FF2B5EF4-FFF2-40B4-BE49-F238E27FC236}">
                <a16:creationId xmlns:a16="http://schemas.microsoft.com/office/drawing/2014/main" id="{40D9F0CC-6768-422B-B453-A1BB5E1197B3}"/>
              </a:ext>
            </a:extLst>
          </p:cNvPr>
          <p:cNvSpPr>
            <a:spLocks xmlns:a="http://schemas.openxmlformats.org/drawingml/2006/main" noGrp="1"/>
          </p:cNvSpPr>
          <p:nvPr/>
        </p:nvSpPr>
        <p:spPr>
          <a:xfrm xmlns:a="http://schemas.openxmlformats.org/drawingml/2006/main">
            <a:off x="781050" y="140970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0F6E41"/>
                </a:solidFill>
                <a:latin typeface="Noto Sans"/>
                <a:ea typeface="Noto Sans"/>
                <a:cs typeface="Noto Sans"/>
              </a:defRPr>
            </a:pPr>
            <a:r>
              <a:rPr sz="1650" b="1">
                <a:solidFill>
                  <a:srgbClr val="0F6E41"/>
                </a:solidFill>
                <a:latin typeface="Noto Sans"/>
                <a:ea typeface="Noto Sans"/>
                <a:cs typeface="Noto Sans"/>
              </a:rPr>
              <a:t>Chuỗi PurpleAir dùng cho đánh giá</a:t>
            </a:r>
          </a:p>
        </p:txBody>
      </p:sp>
      <p:sp>
        <p:nvSpPr>
          <p:cNvPr id="7" name="">
            <a:extLst xmlns:a="http://schemas.openxmlformats.org/drawingml/2006/main">
              <a:ext uri="{FF2B5EF4-FFF2-40B4-BE49-F238E27FC236}">
                <a16:creationId xmlns:a16="http://schemas.microsoft.com/office/drawing/2014/main" id="{AF4370E2-9A29-4C93-8BE3-68824898FF12}"/>
              </a:ext>
            </a:extLst>
          </p:cNvPr>
          <p:cNvSpPr>
            <a:spLocks xmlns:a="http://schemas.openxmlformats.org/drawingml/2006/main" noGrp="1"/>
          </p:cNvSpPr>
          <p:nvPr/>
        </p:nvSpPr>
        <p:spPr>
          <a:xfrm xmlns:a="http://schemas.openxmlformats.org/drawingml/2006/main">
            <a:off x="685800" y="2095500"/>
            <a:ext cx="2362200" cy="1066800"/>
          </a:xfrm>
          <a:prstGeom xmlns:a="http://schemas.openxmlformats.org/drawingml/2006/main" prst="roundRect">
            <a:avLst>
              <a:gd name="adj" fmla="val 12500"/>
            </a:avLst>
          </a:prstGeom>
          <a:solidFill xmlns:a="http://schemas.openxmlformats.org/drawingml/2006/main">
            <a:srgbClr val="EAF5EF"/>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2100" b="1">
                <a:solidFill>
                  <a:srgbClr val="17352B"/>
                </a:solidFill>
                <a:latin typeface="Noto Sans"/>
                <a:ea typeface="Noto Sans"/>
                <a:cs typeface="Noto Sans"/>
              </a:defRPr>
            </a:pPr>
            <a:r>
              <a:rPr sz="2100" b="1">
                <a:solidFill>
                  <a:srgbClr val="17352B"/>
                </a:solidFill>
                <a:latin typeface="Noto Sans"/>
                <a:ea typeface="Noto Sans"/>
                <a:cs typeface="Noto Sans"/>
              </a:rPr>
              <a:t>4.137</a:t>
            </a:r>
          </a:p>
          <a:p xmlns:a="http://schemas.openxmlformats.org/drawingml/2006/main">
            <a:pPr algn="ctr">
              <a:defRPr sz="2100" b="1">
                <a:solidFill>
                  <a:srgbClr val="17352B"/>
                </a:solidFill>
                <a:latin typeface="Noto Sans"/>
                <a:ea typeface="Noto Sans"/>
                <a:cs typeface="Noto Sans"/>
              </a:defRPr>
            </a:pPr>
            <a:r>
              <a:rPr sz="2100" b="1">
                <a:solidFill>
                  <a:srgbClr val="17352B"/>
                </a:solidFill>
                <a:latin typeface="Noto Sans"/>
                <a:ea typeface="Noto Sans"/>
                <a:cs typeface="Noto Sans"/>
              </a:rPr>
              <a:t>mẫu 10 phút</a:t>
            </a:r>
          </a:p>
        </p:txBody>
      </p:sp>
      <p:sp>
        <p:nvSpPr>
          <p:cNvPr id="8" name="">
            <a:extLst xmlns:a="http://schemas.openxmlformats.org/drawingml/2006/main">
              <a:ext uri="{FF2B5EF4-FFF2-40B4-BE49-F238E27FC236}">
                <a16:creationId xmlns:a16="http://schemas.microsoft.com/office/drawing/2014/main" id="{58E00DF0-BCD9-48E9-9FDD-74372C1C4B4D}"/>
              </a:ext>
            </a:extLst>
          </p:cNvPr>
          <p:cNvSpPr>
            <a:spLocks xmlns:a="http://schemas.openxmlformats.org/drawingml/2006/main" noGrp="1"/>
          </p:cNvSpPr>
          <p:nvPr/>
        </p:nvSpPr>
        <p:spPr>
          <a:xfrm xmlns:a="http://schemas.openxmlformats.org/drawingml/2006/main">
            <a:off x="3476625" y="2095500"/>
            <a:ext cx="2362200" cy="1066800"/>
          </a:xfrm>
          <a:prstGeom xmlns:a="http://schemas.openxmlformats.org/drawingml/2006/main" prst="roundRect">
            <a:avLst>
              <a:gd name="adj" fmla="val 12500"/>
            </a:avLst>
          </a:prstGeom>
          <a:solidFill xmlns:a="http://schemas.openxmlformats.org/drawingml/2006/main">
            <a:srgbClr val="EAF5EF"/>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875" b="1">
                <a:solidFill>
                  <a:srgbClr val="17352B"/>
                </a:solidFill>
                <a:latin typeface="Noto Sans"/>
                <a:ea typeface="Noto Sans"/>
                <a:cs typeface="Noto Sans"/>
              </a:defRPr>
            </a:pPr>
            <a:r>
              <a:rPr sz="1875" b="1">
                <a:solidFill>
                  <a:srgbClr val="17352B"/>
                </a:solidFill>
                <a:latin typeface="Noto Sans"/>
                <a:ea typeface="Noto Sans"/>
                <a:cs typeface="Noto Sans"/>
              </a:rPr>
              <a:t>1.309</a:t>
            </a:r>
          </a:p>
          <a:p xmlns:a="http://schemas.openxmlformats.org/drawingml/2006/main">
            <a:pPr algn="ctr">
              <a:defRPr sz="1875" b="1">
                <a:solidFill>
                  <a:srgbClr val="17352B"/>
                </a:solidFill>
                <a:latin typeface="Noto Sans"/>
                <a:ea typeface="Noto Sans"/>
                <a:cs typeface="Noto Sans"/>
              </a:defRPr>
            </a:pPr>
            <a:r>
              <a:rPr sz="1875" b="1">
                <a:solidFill>
                  <a:srgbClr val="17352B"/>
                </a:solidFill>
                <a:latin typeface="Noto Sans"/>
                <a:ea typeface="Noto Sans"/>
                <a:cs typeface="Noto Sans"/>
              </a:rPr>
              <a:t>giờ có bản ghi nguồn</a:t>
            </a:r>
          </a:p>
        </p:txBody>
      </p:sp>
      <p:sp>
        <p:nvSpPr>
          <p:cNvPr id="9" name="">
            <a:extLst xmlns:a="http://schemas.openxmlformats.org/drawingml/2006/main">
              <a:ext uri="{FF2B5EF4-FFF2-40B4-BE49-F238E27FC236}">
                <a16:creationId xmlns:a16="http://schemas.microsoft.com/office/drawing/2014/main" id="{33500439-44D0-4D4E-9687-353A7323099C}"/>
              </a:ext>
            </a:extLst>
          </p:cNvPr>
          <p:cNvSpPr>
            <a:spLocks xmlns:a="http://schemas.openxmlformats.org/drawingml/2006/main" noGrp="1"/>
          </p:cNvSpPr>
          <p:nvPr/>
        </p:nvSpPr>
        <p:spPr>
          <a:xfrm xmlns:a="http://schemas.openxmlformats.org/drawingml/2006/main">
            <a:off x="6267450" y="2095500"/>
            <a:ext cx="2362200" cy="1066800"/>
          </a:xfrm>
          <a:prstGeom xmlns:a="http://schemas.openxmlformats.org/drawingml/2006/main" prst="roundRect">
            <a:avLst>
              <a:gd name="adj" fmla="val 12500"/>
            </a:avLst>
          </a:prstGeom>
          <a:solidFill xmlns:a="http://schemas.openxmlformats.org/drawingml/2006/main">
            <a:srgbClr val="EAF5EF"/>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800" b="1">
                <a:solidFill>
                  <a:srgbClr val="17352B"/>
                </a:solidFill>
                <a:latin typeface="Noto Sans"/>
                <a:ea typeface="Noto Sans"/>
                <a:cs typeface="Noto Sans"/>
              </a:defRPr>
            </a:pPr>
            <a:r>
              <a:rPr sz="1800" b="1">
                <a:solidFill>
                  <a:srgbClr val="17352B"/>
                </a:solidFill>
                <a:latin typeface="Noto Sans"/>
                <a:ea typeface="Noto Sans"/>
                <a:cs typeface="Noto Sans"/>
              </a:rPr>
              <a:t>1.226</a:t>
            </a:r>
          </a:p>
          <a:p xmlns:a="http://schemas.openxmlformats.org/drawingml/2006/main">
            <a:pPr algn="ctr">
              <a:defRPr sz="1800" b="1">
                <a:solidFill>
                  <a:srgbClr val="17352B"/>
                </a:solidFill>
                <a:latin typeface="Noto Sans"/>
                <a:ea typeface="Noto Sans"/>
                <a:cs typeface="Noto Sans"/>
              </a:defRPr>
            </a:pPr>
            <a:r>
              <a:rPr sz="1800" b="1">
                <a:solidFill>
                  <a:srgbClr val="17352B"/>
                </a:solidFill>
                <a:latin typeface="Noto Sans"/>
                <a:ea typeface="Noto Sans"/>
                <a:cs typeface="Noto Sans"/>
              </a:rPr>
              <a:t>giờ có giá trị đại diện</a:t>
            </a:r>
          </a:p>
        </p:txBody>
      </p:sp>
      <p:sp>
        <p:nvSpPr>
          <p:cNvPr id="10" name="">
            <a:extLst xmlns:a="http://schemas.openxmlformats.org/drawingml/2006/main">
              <a:ext uri="{FF2B5EF4-FFF2-40B4-BE49-F238E27FC236}">
                <a16:creationId xmlns:a16="http://schemas.microsoft.com/office/drawing/2014/main" id="{AFB0EA40-FA3D-4FEA-BABB-47B019BB58CA}"/>
              </a:ext>
            </a:extLst>
          </p:cNvPr>
          <p:cNvSpPr>
            <a:spLocks xmlns:a="http://schemas.openxmlformats.org/drawingml/2006/main" noGrp="1"/>
          </p:cNvSpPr>
          <p:nvPr/>
        </p:nvSpPr>
        <p:spPr>
          <a:xfrm xmlns:a="http://schemas.openxmlformats.org/drawingml/2006/main">
            <a:off x="9058275" y="2095500"/>
            <a:ext cx="2362200" cy="1066800"/>
          </a:xfrm>
          <a:prstGeom xmlns:a="http://schemas.openxmlformats.org/drawingml/2006/main" prst="roundRect">
            <a:avLst>
              <a:gd name="adj" fmla="val 12500"/>
            </a:avLst>
          </a:prstGeom>
          <a:solidFill xmlns:a="http://schemas.openxmlformats.org/drawingml/2006/main">
            <a:srgbClr val="0F6E41"/>
          </a:solidFill>
          <a:ln xmlns:a="http://schemas.openxmlformats.org/drawingml/2006/main" w="14288">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875" b="1">
                <a:solidFill>
                  <a:srgbClr val="FFFFFF"/>
                </a:solidFill>
                <a:latin typeface="Noto Sans"/>
                <a:ea typeface="Noto Sans"/>
                <a:cs typeface="Noto Sans"/>
              </a:defRPr>
            </a:pPr>
            <a:r>
              <a:rPr sz="1875" b="1">
                <a:solidFill>
                  <a:srgbClr val="FFFFFF"/>
                </a:solidFill>
                <a:latin typeface="Noto Sans"/>
                <a:ea typeface="Noto Sans"/>
                <a:cs typeface="Noto Sans"/>
              </a:rPr>
              <a:t>553</a:t>
            </a:r>
          </a:p>
          <a:p xmlns:a="http://schemas.openxmlformats.org/drawingml/2006/main">
            <a:pPr algn="ctr">
              <a:defRPr sz="1875" b="1">
                <a:solidFill>
                  <a:srgbClr val="FFFFFF"/>
                </a:solidFill>
                <a:latin typeface="Noto Sans"/>
                <a:ea typeface="Noto Sans"/>
                <a:cs typeface="Noto Sans"/>
              </a:defRPr>
            </a:pPr>
            <a:r>
              <a:rPr sz="1875" b="1">
                <a:solidFill>
                  <a:srgbClr val="FFFFFF"/>
                </a:solidFill>
                <a:latin typeface="Noto Sans"/>
                <a:ea typeface="Noto Sans"/>
                <a:cs typeface="Noto Sans"/>
              </a:rPr>
              <a:t>giờ đạt QC nghiêm ngặt</a:t>
            </a:r>
          </a:p>
        </p:txBody>
      </p:sp>
      <p:cxnSp>
        <p:nvCxnSpPr>
          <p:cNvPr id="31" name=""/>
          <p:cNvCxnSpPr>
            <a:stCxn xmlns:a="http://schemas.openxmlformats.org/drawingml/2006/main" id="7" idx="3"/>
            <a:endCxn xmlns:a="http://schemas.openxmlformats.org/drawingml/2006/main" id="8" idx="1"/>
          </p:cNvCxnSpPr>
          <p:nvPr/>
        </p:nvCxnSpPr>
        <p:spPr>
          <a:xfrm xmlns:a="http://schemas.openxmlformats.org/drawingml/2006/main">
            <a:off x="3048000" y="2628900"/>
            <a:ext cx="428625" cy="0"/>
          </a:xfrm>
          <a:prstGeom xmlns:a="http://schemas.openxmlformats.org/drawingml/2006/main" prst="straightConnector1">
            <a:avLst/>
          </a:prstGeom>
          <a:ln xmlns:a="http://schemas.openxmlformats.org/drawingml/2006/main" w="19050">
            <a:solidFill>
              <a:srgbClr val="0F6E41"/>
            </a:solidFill>
            <a:prstDash val="solid"/>
            <a:tailEnd type="triangle" w="sm" len="sm"/>
          </a:ln>
        </p:spPr>
      </p:cxnSp>
      <p:cxnSp>
        <p:nvCxnSpPr>
          <p:cNvPr id="32" name=""/>
          <p:cNvCxnSpPr>
            <a:stCxn xmlns:a="http://schemas.openxmlformats.org/drawingml/2006/main" id="8" idx="3"/>
            <a:endCxn xmlns:a="http://schemas.openxmlformats.org/drawingml/2006/main" id="9" idx="1"/>
          </p:cNvCxnSpPr>
          <p:nvPr/>
        </p:nvCxnSpPr>
        <p:spPr>
          <a:xfrm xmlns:a="http://schemas.openxmlformats.org/drawingml/2006/main">
            <a:off x="5838825" y="2628900"/>
            <a:ext cx="428625" cy="0"/>
          </a:xfrm>
          <a:prstGeom xmlns:a="http://schemas.openxmlformats.org/drawingml/2006/main" prst="straightConnector1">
            <a:avLst/>
          </a:prstGeom>
          <a:ln xmlns:a="http://schemas.openxmlformats.org/drawingml/2006/main" w="19050">
            <a:solidFill>
              <a:srgbClr val="0F6E41"/>
            </a:solidFill>
            <a:prstDash val="solid"/>
            <a:tailEnd type="triangle" w="sm" len="sm"/>
          </a:ln>
        </p:spPr>
      </p:cxnSp>
      <p:cxnSp>
        <p:nvCxnSpPr>
          <p:cNvPr id="33" name=""/>
          <p:cNvCxnSpPr>
            <a:stCxn xmlns:a="http://schemas.openxmlformats.org/drawingml/2006/main" id="9" idx="3"/>
            <a:endCxn xmlns:a="http://schemas.openxmlformats.org/drawingml/2006/main" id="10" idx="1"/>
          </p:cNvCxnSpPr>
          <p:nvPr/>
        </p:nvCxnSpPr>
        <p:spPr>
          <a:xfrm xmlns:a="http://schemas.openxmlformats.org/drawingml/2006/main">
            <a:off x="8629650" y="2628900"/>
            <a:ext cx="428625" cy="0"/>
          </a:xfrm>
          <a:prstGeom xmlns:a="http://schemas.openxmlformats.org/drawingml/2006/main" prst="straightConnector1">
            <a:avLst/>
          </a:prstGeom>
          <a:ln xmlns:a="http://schemas.openxmlformats.org/drawingml/2006/main" w="19050">
            <a:solidFill>
              <a:srgbClr val="0F6E41"/>
            </a:solidFill>
            <a:prstDash val="solid"/>
            <a:tailEnd type="triangle" w="sm" len="sm"/>
          </a:ln>
        </p:spPr>
      </p:cxnSp>
      <p:sp>
        <p:nvSpPr>
          <p:cNvPr id="14" name="">
            <a:extLst xmlns:a="http://schemas.openxmlformats.org/drawingml/2006/main">
              <a:ext uri="{FF2B5EF4-FFF2-40B4-BE49-F238E27FC236}">
                <a16:creationId xmlns:a16="http://schemas.microsoft.com/office/drawing/2014/main" id="{201000A9-F286-4E89-82BC-43CDF5819C2F}"/>
              </a:ext>
            </a:extLst>
          </p:cNvPr>
          <p:cNvSpPr>
            <a:spLocks xmlns:a="http://schemas.openxmlformats.org/drawingml/2006/main" noGrp="1"/>
          </p:cNvSpPr>
          <p:nvPr/>
        </p:nvSpPr>
        <p:spPr>
          <a:xfrm xmlns:a="http://schemas.openxmlformats.org/drawingml/2006/main">
            <a:off x="7219950" y="3371850"/>
            <a:ext cx="419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425" b="1">
                <a:solidFill>
                  <a:srgbClr val="0F6E41"/>
                </a:solidFill>
                <a:latin typeface="Noto Sans"/>
                <a:ea typeface="Noto Sans"/>
                <a:cs typeface="Noto Sans"/>
              </a:defRPr>
            </a:pPr>
            <a:r>
              <a:rPr sz="1425" b="1">
                <a:solidFill>
                  <a:srgbClr val="0F6E41"/>
                </a:solidFill>
                <a:latin typeface="Noto Sans"/>
                <a:ea typeface="Noto Sans"/>
                <a:cs typeface="Noto Sans"/>
              </a:rPr>
              <a:t>QC theo giờ: ít nhất 4 mẫu tốt và độ phủ tối thiểu 30 phút</a:t>
            </a:r>
          </a:p>
        </p:txBody>
      </p:sp>
      <p:sp>
        <p:nvSpPr>
          <p:cNvPr id="15" name="">
            <a:extLst xmlns:a="http://schemas.openxmlformats.org/drawingml/2006/main">
              <a:ext uri="{FF2B5EF4-FFF2-40B4-BE49-F238E27FC236}">
                <a16:creationId xmlns:a16="http://schemas.microsoft.com/office/drawing/2014/main" id="{31F07D5E-2564-49E5-AD32-988D9BF821D9}"/>
              </a:ext>
            </a:extLst>
          </p:cNvPr>
          <p:cNvSpPr>
            <a:spLocks xmlns:a="http://schemas.openxmlformats.org/drawingml/2006/main" noGrp="1"/>
          </p:cNvSpPr>
          <p:nvPr/>
        </p:nvSpPr>
        <p:spPr>
          <a:xfrm xmlns:a="http://schemas.openxmlformats.org/drawingml/2006/main">
            <a:off x="781050" y="4143375"/>
            <a:ext cx="10382250" cy="0"/>
          </a:xfrm>
          <a:prstGeom xmlns:a="http://schemas.openxmlformats.org/drawingml/2006/main" prst="line">
            <a:avLst/>
          </a:prstGeom>
          <a:noFill xmlns:a="http://schemas.openxmlformats.org/drawingml/2006/main"/>
          <a:ln xmlns:a="http://schemas.openxmlformats.org/drawingml/2006/main" w="14288">
            <a:solidFill>
              <a:srgbClr val="C8D8CF"/>
            </a:solidFill>
            <a:prstDash val="solid"/>
          </a:ln>
        </p:spPr>
      </p:sp>
      <p:sp>
        <p:nvSpPr>
          <p:cNvPr id="16" name="">
            <a:extLst xmlns:a="http://schemas.openxmlformats.org/drawingml/2006/main">
              <a:ext uri="{FF2B5EF4-FFF2-40B4-BE49-F238E27FC236}">
                <a16:creationId xmlns:a16="http://schemas.microsoft.com/office/drawing/2014/main" id="{64EBF28E-5A24-42DC-A6A3-F03A9F774F29}"/>
              </a:ext>
            </a:extLst>
          </p:cNvPr>
          <p:cNvSpPr>
            <a:spLocks xmlns:a="http://schemas.openxmlformats.org/drawingml/2006/main" noGrp="1"/>
          </p:cNvSpPr>
          <p:nvPr/>
        </p:nvSpPr>
        <p:spPr>
          <a:xfrm xmlns:a="http://schemas.openxmlformats.org/drawingml/2006/main">
            <a:off x="1257300" y="4610100"/>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F6E41"/>
                </a:solidFill>
                <a:latin typeface="Noto Sans"/>
                <a:ea typeface="Noto Sans"/>
                <a:cs typeface="Noto Sans"/>
              </a:defRPr>
            </a:pPr>
            <a:r>
              <a:rPr sz="3300" b="1">
                <a:solidFill>
                  <a:srgbClr val="0F6E41"/>
                </a:solidFill>
                <a:latin typeface="Noto Sans"/>
                <a:ea typeface="Noto Sans"/>
                <a:cs typeface="Noto Sans"/>
              </a:rPr>
              <a:t>13.704</a:t>
            </a:r>
          </a:p>
        </p:txBody>
      </p:sp>
      <p:sp>
        <p:nvSpPr>
          <p:cNvPr id="17" name="">
            <a:extLst xmlns:a="http://schemas.openxmlformats.org/drawingml/2006/main">
              <a:ext uri="{FF2B5EF4-FFF2-40B4-BE49-F238E27FC236}">
                <a16:creationId xmlns:a16="http://schemas.microsoft.com/office/drawing/2014/main" id="{529BBD78-677A-43BC-A64E-14784FD8D81B}"/>
              </a:ext>
            </a:extLst>
          </p:cNvPr>
          <p:cNvSpPr>
            <a:spLocks xmlns:a="http://schemas.openxmlformats.org/drawingml/2006/main" noGrp="1"/>
          </p:cNvSpPr>
          <p:nvPr/>
        </p:nvSpPr>
        <p:spPr>
          <a:xfrm xmlns:a="http://schemas.openxmlformats.org/drawingml/2006/main">
            <a:off x="1257300" y="52101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7352B"/>
                </a:solidFill>
                <a:latin typeface="Noto Sans"/>
                <a:ea typeface="Noto Sans"/>
                <a:cs typeface="Noto Sans"/>
              </a:defRPr>
            </a:pPr>
            <a:r>
              <a:rPr sz="1650" b="0">
                <a:solidFill>
                  <a:srgbClr val="17352B"/>
                </a:solidFill>
                <a:latin typeface="Noto Sans"/>
                <a:ea typeface="Noto Sans"/>
                <a:cs typeface="Noto Sans"/>
              </a:rPr>
              <a:t>giờ CAMS trên trục thời gian</a:t>
            </a:r>
          </a:p>
        </p:txBody>
      </p:sp>
      <p:sp>
        <p:nvSpPr>
          <p:cNvPr id="18" name="">
            <a:extLst xmlns:a="http://schemas.openxmlformats.org/drawingml/2006/main">
              <a:ext uri="{FF2B5EF4-FFF2-40B4-BE49-F238E27FC236}">
                <a16:creationId xmlns:a16="http://schemas.microsoft.com/office/drawing/2014/main" id="{D319D119-93B4-44AC-8789-C20B4E7A78BC}"/>
              </a:ext>
            </a:extLst>
          </p:cNvPr>
          <p:cNvSpPr>
            <a:spLocks xmlns:a="http://schemas.openxmlformats.org/drawingml/2006/main" noGrp="1"/>
          </p:cNvSpPr>
          <p:nvPr/>
        </p:nvSpPr>
        <p:spPr>
          <a:xfrm xmlns:a="http://schemas.openxmlformats.org/drawingml/2006/main">
            <a:off x="6096000" y="4476750"/>
            <a:ext cx="0" cy="1219200"/>
          </a:xfrm>
          <a:prstGeom xmlns:a="http://schemas.openxmlformats.org/drawingml/2006/main" prst="line">
            <a:avLst/>
          </a:prstGeom>
          <a:noFill xmlns:a="http://schemas.openxmlformats.org/drawingml/2006/main"/>
          <a:ln xmlns:a="http://schemas.openxmlformats.org/drawingml/2006/main" w="14288">
            <a:solidFill>
              <a:srgbClr val="C8D8CF"/>
            </a:solidFill>
            <a:prstDash val="solid"/>
          </a:ln>
        </p:spPr>
      </p:sp>
      <p:sp>
        <p:nvSpPr>
          <p:cNvPr id="19" name="">
            <a:extLst xmlns:a="http://schemas.openxmlformats.org/drawingml/2006/main">
              <a:ext uri="{FF2B5EF4-FFF2-40B4-BE49-F238E27FC236}">
                <a16:creationId xmlns:a16="http://schemas.microsoft.com/office/drawing/2014/main" id="{DE099678-D915-45E2-8AA8-29784AAB5855}"/>
              </a:ext>
            </a:extLst>
          </p:cNvPr>
          <p:cNvSpPr>
            <a:spLocks xmlns:a="http://schemas.openxmlformats.org/drawingml/2006/main" noGrp="1"/>
          </p:cNvSpPr>
          <p:nvPr/>
        </p:nvSpPr>
        <p:spPr>
          <a:xfrm xmlns:a="http://schemas.openxmlformats.org/drawingml/2006/main">
            <a:off x="7162800" y="4610100"/>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F6E41"/>
                </a:solidFill>
                <a:latin typeface="Noto Sans"/>
                <a:ea typeface="Noto Sans"/>
                <a:cs typeface="Noto Sans"/>
              </a:defRPr>
            </a:pPr>
            <a:r>
              <a:rPr sz="3300" b="1">
                <a:solidFill>
                  <a:srgbClr val="0F6E41"/>
                </a:solidFill>
                <a:latin typeface="Noto Sans"/>
                <a:ea typeface="Noto Sans"/>
                <a:cs typeface="Noto Sans"/>
              </a:rPr>
              <a:t>12.395</a:t>
            </a:r>
          </a:p>
        </p:txBody>
      </p:sp>
      <p:sp>
        <p:nvSpPr>
          <p:cNvPr id="20" name="">
            <a:extLst xmlns:a="http://schemas.openxmlformats.org/drawingml/2006/main">
              <a:ext uri="{FF2B5EF4-FFF2-40B4-BE49-F238E27FC236}">
                <a16:creationId xmlns:a16="http://schemas.microsoft.com/office/drawing/2014/main" id="{7417EF8F-E53D-4F17-8117-3B1B8BE70B0F}"/>
              </a:ext>
            </a:extLst>
          </p:cNvPr>
          <p:cNvSpPr>
            <a:spLocks xmlns:a="http://schemas.openxmlformats.org/drawingml/2006/main" noGrp="1"/>
          </p:cNvSpPr>
          <p:nvPr/>
        </p:nvSpPr>
        <p:spPr>
          <a:xfrm xmlns:a="http://schemas.openxmlformats.org/drawingml/2006/main">
            <a:off x="7162800" y="5210175"/>
            <a:ext cx="400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7352B"/>
                </a:solidFill>
                <a:latin typeface="Noto Sans"/>
                <a:ea typeface="Noto Sans"/>
                <a:cs typeface="Noto Sans"/>
              </a:defRPr>
            </a:pPr>
            <a:r>
              <a:rPr sz="1575" b="0">
                <a:solidFill>
                  <a:srgbClr val="17352B"/>
                </a:solidFill>
                <a:latin typeface="Noto Sans"/>
                <a:ea typeface="Noto Sans"/>
                <a:cs typeface="Noto Sans"/>
              </a:rPr>
              <a:t>giờ thiếu bản ghi PurpleAir</a:t>
            </a:r>
          </a:p>
          <a:p xmlns:a="http://schemas.openxmlformats.org/drawingml/2006/main">
            <a:pPr algn="l">
              <a:defRPr sz="1575" b="0">
                <a:solidFill>
                  <a:srgbClr val="17352B"/>
                </a:solidFill>
                <a:latin typeface="Noto Sans"/>
                <a:ea typeface="Noto Sans"/>
                <a:cs typeface="Noto Sans"/>
              </a:defRPr>
            </a:pPr>
            <a:r>
              <a:rPr sz="1575" b="0">
                <a:solidFill>
                  <a:srgbClr val="17352B"/>
                </a:solidFill>
                <a:latin typeface="Noto Sans"/>
                <a:ea typeface="Noto Sans"/>
                <a:cs typeface="Noto Sans"/>
              </a:rPr>
              <a:t>vẫn tạo đầu ra từ CAMS và trạng thái hiện có</a:t>
            </a:r>
          </a:p>
        </p:txBody>
      </p:sp>
    </p:spTree>
    <p:extLst>
      <p:ext uri="{BB962C8B-B14F-4D97-AF65-F5344CB8AC3E}">
        <p14:creationId xmlns:p14="http://schemas.microsoft.com/office/powerpoint/2010/main" val="14003184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8075E94-9C62-42AE-A629-3EE722FA0244}"/>
              </a:ext>
            </a:extLst>
          </p:cNvPr>
          <p:cNvSpPr>
            <a:spLocks xmlns:a="http://schemas.openxmlformats.org/drawingml/2006/main" noGrp="1"/>
          </p:cNvSpPr>
          <p:nvPr/>
        </p:nvSpPr>
        <p:spPr>
          <a:xfrm xmlns:a="http://schemas.openxmlformats.org/drawingml/2006/main">
            <a:off x="723900" y="314325"/>
            <a:ext cx="857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352B"/>
                </a:solidFill>
                <a:latin typeface="Noto Sans"/>
                <a:ea typeface="Noto Sans"/>
                <a:cs typeface="Noto Sans"/>
              </a:defRPr>
            </a:pPr>
            <a:r>
              <a:rPr sz="3150" b="1">
                <a:solidFill>
                  <a:srgbClr val="17352B"/>
                </a:solidFill>
                <a:latin typeface="Noto Sans"/>
                <a:ea typeface="Noto Sans"/>
                <a:cs typeface="Noto Sans"/>
              </a:rPr>
              <a:t>Đánh giá hệ số thích nghi</a:t>
            </a:r>
          </a:p>
        </p:txBody>
      </p:sp>
      <p:sp>
        <p:nvSpPr>
          <p:cNvPr id="2" name="">
            <a:extLst xmlns:a="http://schemas.openxmlformats.org/drawingml/2006/main">
              <a:ext uri="{FF2B5EF4-FFF2-40B4-BE49-F238E27FC236}">
                <a16:creationId xmlns:a16="http://schemas.microsoft.com/office/drawing/2014/main" id="{E8813FD0-95CF-4930-83C0-C76E3D018C9D}"/>
              </a:ext>
            </a:extLst>
          </p:cNvPr>
          <p:cNvSpPr>
            <a:spLocks xmlns:a="http://schemas.openxmlformats.org/drawingml/2006/main" noGrp="1"/>
          </p:cNvSpPr>
          <p:nvPr/>
        </p:nvSpPr>
        <p:spPr>
          <a:xfrm xmlns:a="http://schemas.openxmlformats.org/drawingml/2006/main">
            <a:off x="628650" y="1123950"/>
            <a:ext cx="876300" cy="0"/>
          </a:xfrm>
          <a:prstGeom xmlns:a="http://schemas.openxmlformats.org/drawingml/2006/main" prst="line">
            <a:avLst/>
          </a:prstGeom>
          <a:noFill xmlns:a="http://schemas.openxmlformats.org/drawingml/2006/main"/>
          <a:ln xmlns:a="http://schemas.openxmlformats.org/drawingml/2006/main" w="38100">
            <a:solidFill>
              <a:srgbClr val="0F6E41"/>
            </a:solidFill>
            <a:prstDash val="solid"/>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4c803928ff54022"/>
          <a:stretch xmlns:a="http://schemas.openxmlformats.org/drawingml/2006/main"/>
        </p:blipFill>
        <p:spPr>
          <a:xfrm xmlns:a="http://schemas.openxmlformats.org/drawingml/2006/main">
            <a:off x="10020300" y="220120"/>
            <a:ext cx="428625" cy="512259"/>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f8cf06a4aa5b40ef"/>
          <a:stretch xmlns:a="http://schemas.openxmlformats.org/drawingml/2006/main"/>
        </p:blipFill>
        <p:spPr>
          <a:xfrm xmlns:a="http://schemas.openxmlformats.org/drawingml/2006/main">
            <a:off x="10687050" y="298596"/>
            <a:ext cx="990600" cy="35530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860B255-0652-44E5-9069-D30C232A03E1}"/>
              </a:ext>
            </a:extLst>
          </p:cNvPr>
          <p:cNvSpPr>
            <a:spLocks xmlns:a="http://schemas.openxmlformats.org/drawingml/2006/main" noGrp="1"/>
          </p:cNvSpPr>
          <p:nvPr/>
        </p:nvSpPr>
        <p:spPr>
          <a:xfrm xmlns:a="http://schemas.openxmlformats.org/drawingml/2006/main">
            <a:off x="11372850" y="6486525"/>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1">
                <a:solidFill>
                  <a:srgbClr val="17352B"/>
                </a:solidFill>
                <a:latin typeface="Noto Sans"/>
                <a:ea typeface="Noto Sans"/>
                <a:cs typeface="Noto Sans"/>
              </a:defRPr>
            </a:pPr>
            <a:r>
              <a:rPr sz="1050" b="1">
                <a:solidFill>
                  <a:srgbClr val="17352B"/>
                </a:solidFill>
                <a:latin typeface="Noto Sans"/>
                <a:ea typeface="Noto Sans"/>
                <a:cs typeface="Noto Sans"/>
              </a:rPr>
              <a:t>7</a:t>
            </a:r>
          </a:p>
        </p:txBody>
      </p:sp>
      <p:sp>
        <p:nvSpPr>
          <p:cNvPr id="6" name="">
            <a:extLst xmlns:a="http://schemas.openxmlformats.org/drawingml/2006/main">
              <a:ext uri="{FF2B5EF4-FFF2-40B4-BE49-F238E27FC236}">
                <a16:creationId xmlns:a16="http://schemas.microsoft.com/office/drawing/2014/main" id="{01EC8C66-E132-4AAE-A845-C213E48AEADA}"/>
              </a:ext>
            </a:extLst>
          </p:cNvPr>
          <p:cNvSpPr>
            <a:spLocks xmlns:a="http://schemas.openxmlformats.org/drawingml/2006/main" noGrp="1"/>
          </p:cNvSpPr>
          <p:nvPr/>
        </p:nvSpPr>
        <p:spPr>
          <a:xfrm xmlns:a="http://schemas.openxmlformats.org/drawingml/2006/main">
            <a:off x="742950" y="1257300"/>
            <a:ext cx="590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7352B"/>
                </a:solidFill>
                <a:latin typeface="Noto Sans"/>
                <a:ea typeface="Noto Sans"/>
                <a:cs typeface="Noto Sans"/>
              </a:defRPr>
            </a:pPr>
            <a:r>
              <a:rPr sz="1500" b="0">
                <a:solidFill>
                  <a:srgbClr val="17352B"/>
                </a:solidFill>
                <a:latin typeface="Noto Sans"/>
                <a:ea typeface="Noto Sans"/>
                <a:cs typeface="Noto Sans"/>
              </a:rPr>
              <a:t>415 giờ kiểm định trong 4 đoạn thời gian liên tiếp</a:t>
            </a:r>
          </a:p>
        </p:txBody>
      </p:sp>
      <p:graphicFrame>
        <p:nvGraphicFramePr>
          <p:cNvPr id="20" name="Chart"/>
          <p:cNvGraphicFramePr/>
          <p:nvPr/>
        </p:nvGraphicFramePr>
        <p:xfrm>
          <a:off xmlns:a="http://schemas.openxmlformats.org/drawingml/2006/main" x="590550" y="1695450"/>
          <a:ext xmlns:a="http://schemas.openxmlformats.org/drawingml/2006/main" cx="7239000" cy="3790950"/>
        </p:xfrm>
        <a:graphic xmlns:a="http://schemas.openxmlformats.org/drawingml/2006/main">
          <a:graphicData uri="http://schemas.openxmlformats.org/drawingml/2006/chart">
            <c:chart xmlns:r="http://schemas.openxmlformats.org/officeDocument/2006/relationships" xmlns:c="http://schemas.openxmlformats.org/drawingml/2006/chart" r:id="R39880cb04a6d42d0"/>
          </a:graphicData>
        </a:graphic>
      </p:graphicFrame>
      <p:sp>
        <p:nvSpPr>
          <p:cNvPr id="8" name="">
            <a:extLst xmlns:a="http://schemas.openxmlformats.org/drawingml/2006/main">
              <a:ext uri="{FF2B5EF4-FFF2-40B4-BE49-F238E27FC236}">
                <a16:creationId xmlns:a16="http://schemas.microsoft.com/office/drawing/2014/main" id="{BD3B79CD-F0CD-490D-B6BD-9400563BF46E}"/>
              </a:ext>
            </a:extLst>
          </p:cNvPr>
          <p:cNvSpPr>
            <a:spLocks xmlns:a="http://schemas.openxmlformats.org/drawingml/2006/main" noGrp="1"/>
          </p:cNvSpPr>
          <p:nvPr/>
        </p:nvSpPr>
        <p:spPr>
          <a:xfrm xmlns:a="http://schemas.openxmlformats.org/drawingml/2006/main">
            <a:off x="8305800" y="1809750"/>
            <a:ext cx="304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F6E41"/>
                </a:solidFill>
                <a:latin typeface="Noto Sans"/>
                <a:ea typeface="Noto Sans"/>
                <a:cs typeface="Noto Sans"/>
              </a:defRPr>
            </a:pPr>
            <a:r>
              <a:rPr sz="2325" b="1">
                <a:solidFill>
                  <a:srgbClr val="0F6E41"/>
                </a:solidFill>
                <a:latin typeface="Noto Sans"/>
                <a:ea typeface="Noto Sans"/>
                <a:cs typeface="Noto Sans"/>
              </a:rPr>
              <a:t>IP v1 dùng S = 3</a:t>
            </a:r>
          </a:p>
        </p:txBody>
      </p:sp>
      <p:sp>
        <p:nvSpPr>
          <p:cNvPr id="9" name="">
            <a:extLst xmlns:a="http://schemas.openxmlformats.org/drawingml/2006/main">
              <a:ext uri="{FF2B5EF4-FFF2-40B4-BE49-F238E27FC236}">
                <a16:creationId xmlns:a16="http://schemas.microsoft.com/office/drawing/2014/main" id="{754E0808-3ACA-4FDB-B21C-FDF651CB6913}"/>
              </a:ext>
            </a:extLst>
          </p:cNvPr>
          <p:cNvSpPr>
            <a:spLocks xmlns:a="http://schemas.openxmlformats.org/drawingml/2006/main" noGrp="1"/>
          </p:cNvSpPr>
          <p:nvPr/>
        </p:nvSpPr>
        <p:spPr>
          <a:xfrm xmlns:a="http://schemas.openxmlformats.org/drawingml/2006/main">
            <a:off x="8324850" y="2419350"/>
            <a:ext cx="304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a:solidFill>
                  <a:srgbClr val="17352B"/>
                </a:solidFill>
                <a:latin typeface="Noto Sans"/>
                <a:ea typeface="Noto Sans"/>
                <a:cs typeface="Noto Sans"/>
              </a:defRPr>
            </a:pPr>
            <a:r>
              <a:rPr sz="1650" b="1">
                <a:solidFill>
                  <a:srgbClr val="17352B"/>
                </a:solidFill>
                <a:latin typeface="Noto Sans"/>
                <a:ea typeface="Noto Sans"/>
                <a:cs typeface="Noto Sans"/>
              </a:rPr>
              <a:t>α = 1/8</a:t>
            </a:r>
          </a:p>
          <a:p xmlns:a="http://schemas.openxmlformats.org/drawingml/2006/main">
            <a:pPr algn="l">
              <a:lnSpc>
                <a:spcPct val="115000"/>
              </a:lnSpc>
              <a:buNone/>
              <a:defRPr sz="1650" b="1">
                <a:solidFill>
                  <a:srgbClr val="17352B"/>
                </a:solidFill>
                <a:latin typeface="Noto Sans"/>
                <a:ea typeface="Noto Sans"/>
                <a:cs typeface="Noto Sans"/>
              </a:defRPr>
            </a:pPr>
            <a:r>
              <a:rPr sz="1650" b="1">
                <a:solidFill>
                  <a:srgbClr val="17352B"/>
                </a:solidFill>
                <a:latin typeface="Noto Sans"/>
                <a:ea typeface="Noto Sans"/>
                <a:cs typeface="Noto Sans"/>
              </a:rPr>
              <a:t>MAE 4,7259 µg/m³</a:t>
            </a:r>
          </a:p>
          <a:p xmlns:a="http://schemas.openxmlformats.org/drawingml/2006/main">
            <a:pPr algn="l">
              <a:lnSpc>
                <a:spcPct val="115000"/>
              </a:lnSpc>
              <a:buNone/>
              <a:defRPr sz="1650" b="1">
                <a:solidFill>
                  <a:srgbClr val="17352B"/>
                </a:solidFill>
                <a:latin typeface="Noto Sans"/>
                <a:ea typeface="Noto Sans"/>
                <a:cs typeface="Noto Sans"/>
              </a:defRPr>
            </a:pPr>
            <a:r>
              <a:rPr sz="1650" b="1">
                <a:solidFill>
                  <a:srgbClr val="17352B"/>
                </a:solidFill>
                <a:latin typeface="Noto Sans"/>
                <a:ea typeface="Noto Sans"/>
                <a:cs typeface="Noto Sans"/>
              </a:rPr>
              <a:t>Độ lệch chuẩn trạng thái 51,75 x16</a:t>
            </a:r>
          </a:p>
        </p:txBody>
      </p:sp>
      <p:sp>
        <p:nvSpPr>
          <p:cNvPr id="10" name="">
            <a:extLst xmlns:a="http://schemas.openxmlformats.org/drawingml/2006/main">
              <a:ext uri="{FF2B5EF4-FFF2-40B4-BE49-F238E27FC236}">
                <a16:creationId xmlns:a16="http://schemas.microsoft.com/office/drawing/2014/main" id="{8A061E58-7858-478F-899F-32946C127E7C}"/>
              </a:ext>
            </a:extLst>
          </p:cNvPr>
          <p:cNvSpPr>
            <a:spLocks xmlns:a="http://schemas.openxmlformats.org/drawingml/2006/main" noGrp="1"/>
          </p:cNvSpPr>
          <p:nvPr/>
        </p:nvSpPr>
        <p:spPr>
          <a:xfrm xmlns:a="http://schemas.openxmlformats.org/drawingml/2006/main">
            <a:off x="8305800" y="3733800"/>
            <a:ext cx="2857500" cy="0"/>
          </a:xfrm>
          <a:prstGeom xmlns:a="http://schemas.openxmlformats.org/drawingml/2006/main" prst="line">
            <a:avLst/>
          </a:prstGeom>
          <a:noFill xmlns:a="http://schemas.openxmlformats.org/drawingml/2006/main"/>
          <a:ln xmlns:a="http://schemas.openxmlformats.org/drawingml/2006/main" w="14288">
            <a:solidFill>
              <a:srgbClr val="C8D8CF"/>
            </a:solidFill>
            <a:prstDash val="solid"/>
          </a:ln>
        </p:spPr>
      </p:sp>
      <p:sp>
        <p:nvSpPr>
          <p:cNvPr id="11" name="">
            <a:extLst xmlns:a="http://schemas.openxmlformats.org/drawingml/2006/main">
              <a:ext uri="{FF2B5EF4-FFF2-40B4-BE49-F238E27FC236}">
                <a16:creationId xmlns:a16="http://schemas.microsoft.com/office/drawing/2014/main" id="{62399CC1-2836-4AAD-96E9-B75A7E046C50}"/>
              </a:ext>
            </a:extLst>
          </p:cNvPr>
          <p:cNvSpPr>
            <a:spLocks xmlns:a="http://schemas.openxmlformats.org/drawingml/2006/main" noGrp="1"/>
          </p:cNvSpPr>
          <p:nvPr/>
        </p:nvSpPr>
        <p:spPr>
          <a:xfrm xmlns:a="http://schemas.openxmlformats.org/drawingml/2006/main">
            <a:off x="8305800" y="40195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F6E41"/>
                </a:solidFill>
                <a:latin typeface="Noto Sans"/>
                <a:ea typeface="Noto Sans"/>
                <a:cs typeface="Noto Sans"/>
              </a:defRPr>
            </a:pPr>
            <a:r>
              <a:rPr sz="1875" b="1">
                <a:solidFill>
                  <a:srgbClr val="0F6E41"/>
                </a:solidFill>
                <a:latin typeface="Noto Sans"/>
                <a:ea typeface="Noto Sans"/>
                <a:cs typeface="Noto Sans"/>
              </a:rPr>
              <a:t>Kết quả với S = 2</a:t>
            </a:r>
          </a:p>
        </p:txBody>
      </p:sp>
      <p:sp>
        <p:nvSpPr>
          <p:cNvPr id="12" name="">
            <a:extLst xmlns:a="http://schemas.openxmlformats.org/drawingml/2006/main">
              <a:ext uri="{FF2B5EF4-FFF2-40B4-BE49-F238E27FC236}">
                <a16:creationId xmlns:a16="http://schemas.microsoft.com/office/drawing/2014/main" id="{B3778EFB-A979-42A1-94C1-B7CB99316221}"/>
              </a:ext>
            </a:extLst>
          </p:cNvPr>
          <p:cNvSpPr>
            <a:spLocks xmlns:a="http://schemas.openxmlformats.org/drawingml/2006/main" noGrp="1"/>
          </p:cNvSpPr>
          <p:nvPr/>
        </p:nvSpPr>
        <p:spPr>
          <a:xfrm xmlns:a="http://schemas.openxmlformats.org/drawingml/2006/main">
            <a:off x="8324850" y="4514850"/>
            <a:ext cx="295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17352B"/>
                </a:solidFill>
                <a:latin typeface="Noto Sans"/>
                <a:ea typeface="Noto Sans"/>
                <a:cs typeface="Noto Sans"/>
              </a:defRPr>
            </a:pPr>
            <a:r>
              <a:rPr sz="1575" b="0">
                <a:solidFill>
                  <a:srgbClr val="17352B"/>
                </a:solidFill>
                <a:latin typeface="Noto Sans"/>
                <a:ea typeface="Noto Sans"/>
                <a:cs typeface="Noto Sans"/>
              </a:rPr>
              <a:t>MAE giảm còn 4,2633 µg/m³</a:t>
            </a:r>
          </a:p>
          <a:p xmlns:a="http://schemas.openxmlformats.org/drawingml/2006/main">
            <a:pPr algn="l">
              <a:lnSpc>
                <a:spcPct val="115000"/>
              </a:lnSpc>
              <a:buNone/>
              <a:defRPr sz="1575" b="0">
                <a:solidFill>
                  <a:srgbClr val="17352B"/>
                </a:solidFill>
                <a:latin typeface="Noto Sans"/>
                <a:ea typeface="Noto Sans"/>
                <a:cs typeface="Noto Sans"/>
              </a:defRPr>
            </a:pPr>
            <a:r>
              <a:rPr sz="1575" b="0">
                <a:solidFill>
                  <a:srgbClr val="17352B"/>
                </a:solidFill>
                <a:latin typeface="Noto Sans"/>
                <a:ea typeface="Noto Sans"/>
                <a:cs typeface="Noto Sans"/>
              </a:rPr>
              <a:t>Độ lệch chuẩn trạng thái tăng lên 71,23 x16</a:t>
            </a:r>
          </a:p>
        </p:txBody>
      </p:sp>
      <p:sp>
        <p:nvSpPr>
          <p:cNvPr id="13" name="">
            <a:extLst xmlns:a="http://schemas.openxmlformats.org/drawingml/2006/main">
              <a:ext uri="{FF2B5EF4-FFF2-40B4-BE49-F238E27FC236}">
                <a16:creationId xmlns:a16="http://schemas.microsoft.com/office/drawing/2014/main" id="{01AB5B8A-A5A9-4474-8718-D0AF80D886BC}"/>
              </a:ext>
            </a:extLst>
          </p:cNvPr>
          <p:cNvSpPr>
            <a:spLocks xmlns:a="http://schemas.openxmlformats.org/drawingml/2006/main" noGrp="1"/>
          </p:cNvSpPr>
          <p:nvPr/>
        </p:nvSpPr>
        <p:spPr>
          <a:xfrm xmlns:a="http://schemas.openxmlformats.org/drawingml/2006/main">
            <a:off x="8324850" y="56197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0F6E41"/>
                </a:solidFill>
                <a:latin typeface="Noto Sans"/>
                <a:ea typeface="Noto Sans"/>
                <a:cs typeface="Noto Sans"/>
              </a:defRPr>
            </a:pPr>
            <a:r>
              <a:rPr sz="1275" b="1">
                <a:solidFill>
                  <a:srgbClr val="0F6E41"/>
                </a:solidFill>
                <a:latin typeface="Noto Sans"/>
                <a:ea typeface="Noto Sans"/>
                <a:cs typeface="Noto Sans"/>
              </a:rPr>
              <a:t>Bảng đầy đủ ở slide kỹ thuật 11</a:t>
            </a:r>
          </a:p>
        </p:txBody>
      </p:sp>
    </p:spTree>
    <p:extLst>
      <p:ext uri="{BB962C8B-B14F-4D97-AF65-F5344CB8AC3E}">
        <p14:creationId xmlns:p14="http://schemas.microsoft.com/office/powerpoint/2010/main" val="25935762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AF2FBFA-432A-4516-9646-D25C128C80F6}"/>
              </a:ext>
            </a:extLst>
          </p:cNvPr>
          <p:cNvSpPr>
            <a:spLocks xmlns:a="http://schemas.openxmlformats.org/drawingml/2006/main" noGrp="1"/>
          </p:cNvSpPr>
          <p:nvPr/>
        </p:nvSpPr>
        <p:spPr>
          <a:xfrm xmlns:a="http://schemas.openxmlformats.org/drawingml/2006/main">
            <a:off x="723900" y="314325"/>
            <a:ext cx="857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352B"/>
                </a:solidFill>
                <a:latin typeface="Noto Sans"/>
                <a:ea typeface="Noto Sans"/>
                <a:cs typeface="Noto Sans"/>
              </a:defRPr>
            </a:pPr>
            <a:r>
              <a:rPr sz="3150" b="1">
                <a:solidFill>
                  <a:srgbClr val="17352B"/>
                </a:solidFill>
                <a:latin typeface="Noto Sans"/>
                <a:ea typeface="Noto Sans"/>
                <a:cs typeface="Noto Sans"/>
              </a:rPr>
              <a:t>Kết quả triển khai và mức sẵn sàng</a:t>
            </a:r>
          </a:p>
        </p:txBody>
      </p:sp>
      <p:sp>
        <p:nvSpPr>
          <p:cNvPr id="2" name="">
            <a:extLst xmlns:a="http://schemas.openxmlformats.org/drawingml/2006/main">
              <a:ext uri="{FF2B5EF4-FFF2-40B4-BE49-F238E27FC236}">
                <a16:creationId xmlns:a16="http://schemas.microsoft.com/office/drawing/2014/main" id="{72D6CB57-1B81-4BE1-B68E-C55A3F6B2F97}"/>
              </a:ext>
            </a:extLst>
          </p:cNvPr>
          <p:cNvSpPr>
            <a:spLocks xmlns:a="http://schemas.openxmlformats.org/drawingml/2006/main" noGrp="1"/>
          </p:cNvSpPr>
          <p:nvPr/>
        </p:nvSpPr>
        <p:spPr>
          <a:xfrm xmlns:a="http://schemas.openxmlformats.org/drawingml/2006/main">
            <a:off x="628650" y="1123950"/>
            <a:ext cx="876300" cy="0"/>
          </a:xfrm>
          <a:prstGeom xmlns:a="http://schemas.openxmlformats.org/drawingml/2006/main" prst="line">
            <a:avLst/>
          </a:prstGeom>
          <a:noFill xmlns:a="http://schemas.openxmlformats.org/drawingml/2006/main"/>
          <a:ln xmlns:a="http://schemas.openxmlformats.org/drawingml/2006/main" w="38100">
            <a:solidFill>
              <a:srgbClr val="0F6E41"/>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51c53b55414041b4"/>
          <a:stretch xmlns:a="http://schemas.openxmlformats.org/drawingml/2006/main"/>
        </p:blipFill>
        <p:spPr>
          <a:xfrm xmlns:a="http://schemas.openxmlformats.org/drawingml/2006/main">
            <a:off x="10020300" y="220120"/>
            <a:ext cx="428625" cy="512259"/>
          </a:xfrm>
          <a:prstGeom xmlns:a="http://schemas.openxmlformats.org/drawingml/2006/main" prst="rect">
            <a:avLst/>
          </a:prstGeom>
        </p:spPr>
      </p:pic>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bb2dbc46b7644b36"/>
          <a:stretch xmlns:a="http://schemas.openxmlformats.org/drawingml/2006/main"/>
        </p:blipFill>
        <p:spPr>
          <a:xfrm xmlns:a="http://schemas.openxmlformats.org/drawingml/2006/main">
            <a:off x="10687050" y="298596"/>
            <a:ext cx="990600" cy="35530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52B2E97-A6E6-480D-9A95-1E5E1F1E38B0}"/>
              </a:ext>
            </a:extLst>
          </p:cNvPr>
          <p:cNvSpPr>
            <a:spLocks xmlns:a="http://schemas.openxmlformats.org/drawingml/2006/main" noGrp="1"/>
          </p:cNvSpPr>
          <p:nvPr/>
        </p:nvSpPr>
        <p:spPr>
          <a:xfrm xmlns:a="http://schemas.openxmlformats.org/drawingml/2006/main">
            <a:off x="11372850" y="6486525"/>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1">
                <a:solidFill>
                  <a:srgbClr val="17352B"/>
                </a:solidFill>
                <a:latin typeface="Noto Sans"/>
                <a:ea typeface="Noto Sans"/>
                <a:cs typeface="Noto Sans"/>
              </a:defRPr>
            </a:pPr>
            <a:r>
              <a:rPr sz="1050" b="1">
                <a:solidFill>
                  <a:srgbClr val="17352B"/>
                </a:solidFill>
                <a:latin typeface="Noto Sans"/>
                <a:ea typeface="Noto Sans"/>
                <a:cs typeface="Noto Sans"/>
              </a:rPr>
              <a:t>8</a:t>
            </a:r>
          </a:p>
        </p:txBody>
      </p:sp>
      <p:sp>
        <p:nvSpPr>
          <p:cNvPr id="6" name="">
            <a:extLst xmlns:a="http://schemas.openxmlformats.org/drawingml/2006/main">
              <a:ext uri="{FF2B5EF4-FFF2-40B4-BE49-F238E27FC236}">
                <a16:creationId xmlns:a16="http://schemas.microsoft.com/office/drawing/2014/main" id="{45AE01D5-1F57-4E04-AC5D-EF992D723955}"/>
              </a:ext>
            </a:extLst>
          </p:cNvPr>
          <p:cNvSpPr>
            <a:spLocks xmlns:a="http://schemas.openxmlformats.org/drawingml/2006/main" noGrp="1"/>
          </p:cNvSpPr>
          <p:nvPr/>
        </p:nvSpPr>
        <p:spPr>
          <a:xfrm xmlns:a="http://schemas.openxmlformats.org/drawingml/2006/main">
            <a:off x="800100" y="1581150"/>
            <a:ext cx="4381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0F6E41"/>
                </a:solidFill>
                <a:latin typeface="Noto Sans"/>
                <a:ea typeface="Noto Sans"/>
                <a:cs typeface="Noto Sans"/>
              </a:defRPr>
            </a:pPr>
            <a:r>
              <a:rPr sz="5400" b="1">
                <a:solidFill>
                  <a:srgbClr val="0F6E41"/>
                </a:solidFill>
                <a:latin typeface="Noto Sans"/>
                <a:ea typeface="Noto Sans"/>
                <a:cs typeface="Noto Sans"/>
              </a:rPr>
              <a:t>140/140</a:t>
            </a:r>
          </a:p>
        </p:txBody>
      </p:sp>
      <p:sp>
        <p:nvSpPr>
          <p:cNvPr id="7" name="">
            <a:extLst xmlns:a="http://schemas.openxmlformats.org/drawingml/2006/main">
              <a:ext uri="{FF2B5EF4-FFF2-40B4-BE49-F238E27FC236}">
                <a16:creationId xmlns:a16="http://schemas.microsoft.com/office/drawing/2014/main" id="{D6CCFAA7-8BCB-4484-AD4A-E234BAAC10F0}"/>
              </a:ext>
            </a:extLst>
          </p:cNvPr>
          <p:cNvSpPr>
            <a:spLocks xmlns:a="http://schemas.openxmlformats.org/drawingml/2006/main" noGrp="1"/>
          </p:cNvSpPr>
          <p:nvPr/>
        </p:nvSpPr>
        <p:spPr>
          <a:xfrm xmlns:a="http://schemas.openxmlformats.org/drawingml/2006/main">
            <a:off x="838200" y="2571750"/>
            <a:ext cx="4953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100" b="1">
                <a:solidFill>
                  <a:srgbClr val="17352B"/>
                </a:solidFill>
                <a:latin typeface="Noto Sans"/>
                <a:ea typeface="Noto Sans"/>
                <a:cs typeface="Noto Sans"/>
              </a:defRPr>
            </a:pPr>
            <a:r>
              <a:rPr sz="2100" b="1">
                <a:solidFill>
                  <a:srgbClr val="17352B"/>
                </a:solidFill>
                <a:latin typeface="Noto Sans"/>
                <a:ea typeface="Noto Sans"/>
                <a:cs typeface="Noto Sans"/>
              </a:rPr>
              <a:t>giao dịch UART trên Tang Nano 9K</a:t>
            </a:r>
          </a:p>
          <a:p xmlns:a="http://schemas.openxmlformats.org/drawingml/2006/main">
            <a:pPr algn="l">
              <a:lnSpc>
                <a:spcPct val="105000"/>
              </a:lnSpc>
              <a:buNone/>
              <a:defRPr sz="2100" b="1">
                <a:solidFill>
                  <a:srgbClr val="17352B"/>
                </a:solidFill>
                <a:latin typeface="Noto Sans"/>
                <a:ea typeface="Noto Sans"/>
                <a:cs typeface="Noto Sans"/>
              </a:defRPr>
            </a:pPr>
            <a:r>
              <a:rPr sz="2100" b="1">
                <a:solidFill>
                  <a:srgbClr val="17352B"/>
                </a:solidFill>
                <a:latin typeface="Noto Sans"/>
                <a:ea typeface="Noto Sans"/>
                <a:cs typeface="Noto Sans"/>
              </a:rPr>
              <a:t>khớp mô hình tham chiếu</a:t>
            </a:r>
          </a:p>
        </p:txBody>
      </p:sp>
      <p:sp>
        <p:nvSpPr>
          <p:cNvPr id="8" name="">
            <a:extLst xmlns:a="http://schemas.openxmlformats.org/drawingml/2006/main">
              <a:ext uri="{FF2B5EF4-FFF2-40B4-BE49-F238E27FC236}">
                <a16:creationId xmlns:a16="http://schemas.microsoft.com/office/drawing/2014/main" id="{28258704-D39D-48D9-8462-A7F896FDE148}"/>
              </a:ext>
            </a:extLst>
          </p:cNvPr>
          <p:cNvSpPr>
            <a:spLocks xmlns:a="http://schemas.openxmlformats.org/drawingml/2006/main" noGrp="1"/>
          </p:cNvSpPr>
          <p:nvPr/>
        </p:nvSpPr>
        <p:spPr>
          <a:xfrm xmlns:a="http://schemas.openxmlformats.org/drawingml/2006/main">
            <a:off x="781050" y="3676650"/>
            <a:ext cx="4953000" cy="0"/>
          </a:xfrm>
          <a:prstGeom xmlns:a="http://schemas.openxmlformats.org/drawingml/2006/main" prst="line">
            <a:avLst/>
          </a:prstGeom>
          <a:noFill xmlns:a="http://schemas.openxmlformats.org/drawingml/2006/main"/>
          <a:ln xmlns:a="http://schemas.openxmlformats.org/drawingml/2006/main" w="14288">
            <a:solidFill>
              <a:srgbClr val="C8D8CF"/>
            </a:solidFill>
            <a:prstDash val="solid"/>
          </a:ln>
        </p:spPr>
      </p:sp>
      <p:sp>
        <p:nvSpPr>
          <p:cNvPr id="9" name="">
            <a:extLst xmlns:a="http://schemas.openxmlformats.org/drawingml/2006/main">
              <a:ext uri="{FF2B5EF4-FFF2-40B4-BE49-F238E27FC236}">
                <a16:creationId xmlns:a16="http://schemas.microsoft.com/office/drawing/2014/main" id="{5D5CDB82-4232-41BE-B2F8-8DE3C37EC8AE}"/>
              </a:ext>
            </a:extLst>
          </p:cNvPr>
          <p:cNvSpPr>
            <a:spLocks xmlns:a="http://schemas.openxmlformats.org/drawingml/2006/main" noGrp="1"/>
          </p:cNvSpPr>
          <p:nvPr/>
        </p:nvSpPr>
        <p:spPr>
          <a:xfrm xmlns:a="http://schemas.openxmlformats.org/drawingml/2006/main">
            <a:off x="857250" y="4038600"/>
            <a:ext cx="228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352B"/>
                </a:solidFill>
                <a:latin typeface="Noto Sans"/>
                <a:ea typeface="Noto Sans"/>
                <a:cs typeface="Noto Sans"/>
              </a:defRPr>
            </a:pPr>
            <a:r>
              <a:rPr sz="2325" b="1">
                <a:solidFill>
                  <a:srgbClr val="17352B"/>
                </a:solidFill>
                <a:latin typeface="Noto Sans"/>
                <a:ea typeface="Noto Sans"/>
                <a:cs typeface="Noto Sans"/>
              </a:rPr>
              <a:t>490 / 8.640</a:t>
            </a:r>
          </a:p>
        </p:txBody>
      </p:sp>
      <p:sp>
        <p:nvSpPr>
          <p:cNvPr id="10" name="">
            <a:extLst xmlns:a="http://schemas.openxmlformats.org/drawingml/2006/main">
              <a:ext uri="{FF2B5EF4-FFF2-40B4-BE49-F238E27FC236}">
                <a16:creationId xmlns:a16="http://schemas.microsoft.com/office/drawing/2014/main" id="{D1FB8567-C0C3-4421-95C3-62CC5B1925CE}"/>
              </a:ext>
            </a:extLst>
          </p:cNvPr>
          <p:cNvSpPr>
            <a:spLocks xmlns:a="http://schemas.openxmlformats.org/drawingml/2006/main" noGrp="1"/>
          </p:cNvSpPr>
          <p:nvPr/>
        </p:nvSpPr>
        <p:spPr>
          <a:xfrm xmlns:a="http://schemas.openxmlformats.org/drawingml/2006/main">
            <a:off x="857250" y="457200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7352B"/>
                </a:solidFill>
                <a:latin typeface="Noto Sans"/>
                <a:ea typeface="Noto Sans"/>
                <a:cs typeface="Noto Sans"/>
              </a:defRPr>
            </a:pPr>
            <a:r>
              <a:rPr sz="1500" b="0">
                <a:solidFill>
                  <a:srgbClr val="17352B"/>
                </a:solidFill>
                <a:latin typeface="Noto Sans"/>
                <a:ea typeface="Noto Sans"/>
                <a:cs typeface="Noto Sans"/>
              </a:rPr>
              <a:t>phần tử logic, 6%</a:t>
            </a:r>
          </a:p>
        </p:txBody>
      </p:sp>
      <p:sp>
        <p:nvSpPr>
          <p:cNvPr id="11" name="">
            <a:extLst xmlns:a="http://schemas.openxmlformats.org/drawingml/2006/main">
              <a:ext uri="{FF2B5EF4-FFF2-40B4-BE49-F238E27FC236}">
                <a16:creationId xmlns:a16="http://schemas.microsoft.com/office/drawing/2014/main" id="{5FD35FEE-6966-4E7C-A4A1-33AAA217C9CB}"/>
              </a:ext>
            </a:extLst>
          </p:cNvPr>
          <p:cNvSpPr>
            <a:spLocks xmlns:a="http://schemas.openxmlformats.org/drawingml/2006/main" noGrp="1"/>
          </p:cNvSpPr>
          <p:nvPr/>
        </p:nvSpPr>
        <p:spPr>
          <a:xfrm xmlns:a="http://schemas.openxmlformats.org/drawingml/2006/main">
            <a:off x="3381375" y="4038600"/>
            <a:ext cx="228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352B"/>
                </a:solidFill>
                <a:latin typeface="Noto Sans"/>
                <a:ea typeface="Noto Sans"/>
                <a:cs typeface="Noto Sans"/>
              </a:defRPr>
            </a:pPr>
            <a:r>
              <a:rPr sz="2325" b="1">
                <a:solidFill>
                  <a:srgbClr val="17352B"/>
                </a:solidFill>
                <a:latin typeface="Noto Sans"/>
                <a:ea typeface="Noto Sans"/>
                <a:cs typeface="Noto Sans"/>
              </a:rPr>
              <a:t>283 / 6.693</a:t>
            </a:r>
          </a:p>
        </p:txBody>
      </p:sp>
      <p:sp>
        <p:nvSpPr>
          <p:cNvPr id="12" name="">
            <a:extLst xmlns:a="http://schemas.openxmlformats.org/drawingml/2006/main">
              <a:ext uri="{FF2B5EF4-FFF2-40B4-BE49-F238E27FC236}">
                <a16:creationId xmlns:a16="http://schemas.microsoft.com/office/drawing/2014/main" id="{ADD332F9-D9FB-4D95-9D88-9FEA7D8FF2A7}"/>
              </a:ext>
            </a:extLst>
          </p:cNvPr>
          <p:cNvSpPr>
            <a:spLocks xmlns:a="http://schemas.openxmlformats.org/drawingml/2006/main" noGrp="1"/>
          </p:cNvSpPr>
          <p:nvPr/>
        </p:nvSpPr>
        <p:spPr>
          <a:xfrm xmlns:a="http://schemas.openxmlformats.org/drawingml/2006/main">
            <a:off x="3381375" y="457200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7352B"/>
                </a:solidFill>
                <a:latin typeface="Noto Sans"/>
                <a:ea typeface="Noto Sans"/>
                <a:cs typeface="Noto Sans"/>
              </a:defRPr>
            </a:pPr>
            <a:r>
              <a:rPr sz="1500" b="0">
                <a:solidFill>
                  <a:srgbClr val="17352B"/>
                </a:solidFill>
                <a:latin typeface="Noto Sans"/>
                <a:ea typeface="Noto Sans"/>
                <a:cs typeface="Noto Sans"/>
              </a:rPr>
              <a:t>thanh ghi, 5%</a:t>
            </a:r>
          </a:p>
        </p:txBody>
      </p:sp>
      <p:sp>
        <p:nvSpPr>
          <p:cNvPr id="13" name="">
            <a:extLst xmlns:a="http://schemas.openxmlformats.org/drawingml/2006/main">
              <a:ext uri="{FF2B5EF4-FFF2-40B4-BE49-F238E27FC236}">
                <a16:creationId xmlns:a16="http://schemas.microsoft.com/office/drawing/2014/main" id="{3E07655A-E571-4BF2-8A68-EC14A82A49D2}"/>
              </a:ext>
            </a:extLst>
          </p:cNvPr>
          <p:cNvSpPr>
            <a:spLocks xmlns:a="http://schemas.openxmlformats.org/drawingml/2006/main" noGrp="1"/>
          </p:cNvSpPr>
          <p:nvPr/>
        </p:nvSpPr>
        <p:spPr>
          <a:xfrm xmlns:a="http://schemas.openxmlformats.org/drawingml/2006/main">
            <a:off x="6667500" y="1562100"/>
            <a:ext cx="0" cy="3695700"/>
          </a:xfrm>
          <a:prstGeom xmlns:a="http://schemas.openxmlformats.org/drawingml/2006/main" prst="line">
            <a:avLst/>
          </a:prstGeom>
          <a:noFill xmlns:a="http://schemas.openxmlformats.org/drawingml/2006/main"/>
          <a:ln xmlns:a="http://schemas.openxmlformats.org/drawingml/2006/main" w="14288">
            <a:solidFill>
              <a:srgbClr val="C8D8CF"/>
            </a:solidFill>
            <a:prstDash val="solid"/>
          </a:ln>
        </p:spPr>
      </p:sp>
      <p:sp>
        <p:nvSpPr>
          <p:cNvPr id="14" name="">
            <a:extLst xmlns:a="http://schemas.openxmlformats.org/drawingml/2006/main">
              <a:ext uri="{FF2B5EF4-FFF2-40B4-BE49-F238E27FC236}">
                <a16:creationId xmlns:a16="http://schemas.microsoft.com/office/drawing/2014/main" id="{1B23F5F5-3F9A-4C18-9772-7A9B2E1433E7}"/>
              </a:ext>
            </a:extLst>
          </p:cNvPr>
          <p:cNvSpPr>
            <a:spLocks xmlns:a="http://schemas.openxmlformats.org/drawingml/2006/main" noGrp="1"/>
          </p:cNvSpPr>
          <p:nvPr/>
        </p:nvSpPr>
        <p:spPr>
          <a:xfrm xmlns:a="http://schemas.openxmlformats.org/drawingml/2006/main">
            <a:off x="7334250" y="1600200"/>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0F6E41"/>
                </a:solidFill>
                <a:latin typeface="Noto Sans"/>
                <a:ea typeface="Noto Sans"/>
                <a:cs typeface="Noto Sans"/>
              </a:defRPr>
            </a:pPr>
            <a:r>
              <a:rPr sz="1575" b="1">
                <a:solidFill>
                  <a:srgbClr val="0F6E41"/>
                </a:solidFill>
                <a:latin typeface="Noto Sans"/>
                <a:ea typeface="Noto Sans"/>
                <a:cs typeface="Noto Sans"/>
              </a:rPr>
              <a:t>GW1NR-LV9QN88PC6/I5</a:t>
            </a:r>
          </a:p>
        </p:txBody>
      </p:sp>
      <p:sp>
        <p:nvSpPr>
          <p:cNvPr id="15" name="">
            <a:extLst xmlns:a="http://schemas.openxmlformats.org/drawingml/2006/main">
              <a:ext uri="{FF2B5EF4-FFF2-40B4-BE49-F238E27FC236}">
                <a16:creationId xmlns:a16="http://schemas.microsoft.com/office/drawing/2014/main" id="{27528807-BADE-4AF2-8766-6C0D68EB9881}"/>
              </a:ext>
            </a:extLst>
          </p:cNvPr>
          <p:cNvSpPr>
            <a:spLocks xmlns:a="http://schemas.openxmlformats.org/drawingml/2006/main" noGrp="1"/>
          </p:cNvSpPr>
          <p:nvPr/>
        </p:nvSpPr>
        <p:spPr>
          <a:xfrm xmlns:a="http://schemas.openxmlformats.org/drawingml/2006/main">
            <a:off x="7334250" y="2152650"/>
            <a:ext cx="266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352B"/>
                </a:solidFill>
                <a:latin typeface="Noto Sans"/>
                <a:ea typeface="Noto Sans"/>
                <a:cs typeface="Noto Sans"/>
              </a:defRPr>
            </a:pPr>
            <a:r>
              <a:rPr sz="2925" b="1">
                <a:solidFill>
                  <a:srgbClr val="17352B"/>
                </a:solidFill>
                <a:latin typeface="Noto Sans"/>
                <a:ea typeface="Noto Sans"/>
                <a:cs typeface="Noto Sans"/>
              </a:rPr>
              <a:t>27 MHz</a:t>
            </a:r>
          </a:p>
        </p:txBody>
      </p:sp>
      <p:sp>
        <p:nvSpPr>
          <p:cNvPr id="16" name="">
            <a:extLst xmlns:a="http://schemas.openxmlformats.org/drawingml/2006/main">
              <a:ext uri="{FF2B5EF4-FFF2-40B4-BE49-F238E27FC236}">
                <a16:creationId xmlns:a16="http://schemas.microsoft.com/office/drawing/2014/main" id="{4BDFE34D-6822-400E-81A2-C6CC3FFDAB3E}"/>
              </a:ext>
            </a:extLst>
          </p:cNvPr>
          <p:cNvSpPr>
            <a:spLocks xmlns:a="http://schemas.openxmlformats.org/drawingml/2006/main" noGrp="1"/>
          </p:cNvSpPr>
          <p:nvPr/>
        </p:nvSpPr>
        <p:spPr>
          <a:xfrm xmlns:a="http://schemas.openxmlformats.org/drawingml/2006/main">
            <a:off x="7334250" y="268605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7352B"/>
                </a:solidFill>
                <a:latin typeface="Noto Sans"/>
                <a:ea typeface="Noto Sans"/>
                <a:cs typeface="Noto Sans"/>
              </a:defRPr>
            </a:pPr>
            <a:r>
              <a:rPr sz="1500" b="0">
                <a:solidFill>
                  <a:srgbClr val="17352B"/>
                </a:solidFill>
                <a:latin typeface="Noto Sans"/>
                <a:ea typeface="Noto Sans"/>
                <a:cs typeface="Noto Sans"/>
              </a:rPr>
              <a:t>xung nhịp mục tiêu</a:t>
            </a:r>
          </a:p>
        </p:txBody>
      </p:sp>
      <p:sp>
        <p:nvSpPr>
          <p:cNvPr id="17" name="">
            <a:extLst xmlns:a="http://schemas.openxmlformats.org/drawingml/2006/main">
              <a:ext uri="{FF2B5EF4-FFF2-40B4-BE49-F238E27FC236}">
                <a16:creationId xmlns:a16="http://schemas.microsoft.com/office/drawing/2014/main" id="{71EADEF4-3D83-4999-A4D5-8196C67B78E0}"/>
              </a:ext>
            </a:extLst>
          </p:cNvPr>
          <p:cNvSpPr>
            <a:spLocks xmlns:a="http://schemas.openxmlformats.org/drawingml/2006/main" noGrp="1"/>
          </p:cNvSpPr>
          <p:nvPr/>
        </p:nvSpPr>
        <p:spPr>
          <a:xfrm xmlns:a="http://schemas.openxmlformats.org/drawingml/2006/main">
            <a:off x="7334250" y="3295650"/>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352B"/>
                </a:solidFill>
                <a:latin typeface="Noto Sans"/>
                <a:ea typeface="Noto Sans"/>
                <a:cs typeface="Noto Sans"/>
              </a:defRPr>
            </a:pPr>
            <a:r>
              <a:rPr sz="2925" b="1">
                <a:solidFill>
                  <a:srgbClr val="17352B"/>
                </a:solidFill>
                <a:latin typeface="Noto Sans"/>
                <a:ea typeface="Noto Sans"/>
                <a:cs typeface="Noto Sans"/>
              </a:rPr>
              <a:t>58,705 MHz</a:t>
            </a:r>
          </a:p>
        </p:txBody>
      </p:sp>
      <p:sp>
        <p:nvSpPr>
          <p:cNvPr id="18" name="">
            <a:extLst xmlns:a="http://schemas.openxmlformats.org/drawingml/2006/main">
              <a:ext uri="{FF2B5EF4-FFF2-40B4-BE49-F238E27FC236}">
                <a16:creationId xmlns:a16="http://schemas.microsoft.com/office/drawing/2014/main" id="{C2BA0BAB-CE5E-4BC0-A2D6-C637A18D368F}"/>
              </a:ext>
            </a:extLst>
          </p:cNvPr>
          <p:cNvSpPr>
            <a:spLocks xmlns:a="http://schemas.openxmlformats.org/drawingml/2006/main" noGrp="1"/>
          </p:cNvSpPr>
          <p:nvPr/>
        </p:nvSpPr>
        <p:spPr>
          <a:xfrm xmlns:a="http://schemas.openxmlformats.org/drawingml/2006/main">
            <a:off x="7334250" y="382905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7352B"/>
                </a:solidFill>
                <a:latin typeface="Noto Sans"/>
                <a:ea typeface="Noto Sans"/>
                <a:cs typeface="Noto Sans"/>
              </a:defRPr>
            </a:pPr>
            <a:r>
              <a:rPr sz="1500" b="0">
                <a:solidFill>
                  <a:srgbClr val="17352B"/>
                </a:solidFill>
                <a:latin typeface="Noto Sans"/>
                <a:ea typeface="Noto Sans"/>
                <a:cs typeface="Noto Sans"/>
              </a:rPr>
              <a:t>tần số cực đại sau định tuyến</a:t>
            </a:r>
          </a:p>
        </p:txBody>
      </p:sp>
      <p:sp>
        <p:nvSpPr>
          <p:cNvPr id="19" name="">
            <a:extLst xmlns:a="http://schemas.openxmlformats.org/drawingml/2006/main">
              <a:ext uri="{FF2B5EF4-FFF2-40B4-BE49-F238E27FC236}">
                <a16:creationId xmlns:a16="http://schemas.microsoft.com/office/drawing/2014/main" id="{6DEFB93B-DA4F-460C-B140-753691E341C1}"/>
              </a:ext>
            </a:extLst>
          </p:cNvPr>
          <p:cNvSpPr>
            <a:spLocks xmlns:a="http://schemas.openxmlformats.org/drawingml/2006/main" noGrp="1"/>
          </p:cNvSpPr>
          <p:nvPr/>
        </p:nvSpPr>
        <p:spPr>
          <a:xfrm xmlns:a="http://schemas.openxmlformats.org/drawingml/2006/main">
            <a:off x="7334250" y="4457700"/>
            <a:ext cx="171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0F6E41"/>
                </a:solidFill>
                <a:latin typeface="Noto Sans"/>
                <a:ea typeface="Noto Sans"/>
                <a:cs typeface="Noto Sans"/>
              </a:defRPr>
            </a:pPr>
            <a:r>
              <a:rPr sz="2925" b="1">
                <a:solidFill>
                  <a:srgbClr val="0F6E41"/>
                </a:solidFill>
                <a:latin typeface="Noto Sans"/>
                <a:ea typeface="Noto Sans"/>
                <a:cs typeface="Noto Sans"/>
              </a:rPr>
              <a:t>0/0</a:t>
            </a:r>
          </a:p>
        </p:txBody>
      </p:sp>
      <p:sp>
        <p:nvSpPr>
          <p:cNvPr id="20" name="">
            <a:extLst xmlns:a="http://schemas.openxmlformats.org/drawingml/2006/main">
              <a:ext uri="{FF2B5EF4-FFF2-40B4-BE49-F238E27FC236}">
                <a16:creationId xmlns:a16="http://schemas.microsoft.com/office/drawing/2014/main" id="{977772E3-4337-4AA5-8F70-0ED6B447D20B}"/>
              </a:ext>
            </a:extLst>
          </p:cNvPr>
          <p:cNvSpPr>
            <a:spLocks xmlns:a="http://schemas.openxmlformats.org/drawingml/2006/main" noGrp="1"/>
          </p:cNvSpPr>
          <p:nvPr/>
        </p:nvSpPr>
        <p:spPr>
          <a:xfrm xmlns:a="http://schemas.openxmlformats.org/drawingml/2006/main">
            <a:off x="7334250" y="499110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7352B"/>
                </a:solidFill>
                <a:latin typeface="Noto Sans"/>
                <a:ea typeface="Noto Sans"/>
                <a:cs typeface="Noto Sans"/>
              </a:defRPr>
            </a:pPr>
            <a:r>
              <a:rPr sz="1500" b="0">
                <a:solidFill>
                  <a:srgbClr val="17352B"/>
                </a:solidFill>
                <a:latin typeface="Noto Sans"/>
                <a:ea typeface="Noto Sans"/>
                <a:cs typeface="Noto Sans"/>
              </a:rPr>
              <a:t>điểm cuối vi phạm thiết lập/giữ</a:t>
            </a:r>
          </a:p>
        </p:txBody>
      </p:sp>
      <p:sp>
        <p:nvSpPr>
          <p:cNvPr id="21" name="">
            <a:extLst xmlns:a="http://schemas.openxmlformats.org/drawingml/2006/main">
              <a:ext uri="{FF2B5EF4-FFF2-40B4-BE49-F238E27FC236}">
                <a16:creationId xmlns:a16="http://schemas.microsoft.com/office/drawing/2014/main" id="{D379F8CD-5BBD-44A1-91F8-0D765203DA70}"/>
              </a:ext>
            </a:extLst>
          </p:cNvPr>
          <p:cNvSpPr>
            <a:spLocks xmlns:a="http://schemas.openxmlformats.org/drawingml/2006/main" noGrp="1"/>
          </p:cNvSpPr>
          <p:nvPr/>
        </p:nvSpPr>
        <p:spPr>
          <a:xfrm xmlns:a="http://schemas.openxmlformats.org/drawingml/2006/main">
            <a:off x="2343150" y="5676900"/>
            <a:ext cx="7505700" cy="552450"/>
          </a:xfrm>
          <a:prstGeom xmlns:a="http://schemas.openxmlformats.org/drawingml/2006/main" prst="roundRect">
            <a:avLst>
              <a:gd name="adj" fmla="val 24138"/>
            </a:avLst>
          </a:prstGeom>
          <a:solidFill xmlns:a="http://schemas.openxmlformats.org/drawingml/2006/main">
            <a:srgbClr val="EAF5EF"/>
          </a:solidFill>
          <a:ln xmlns:a="http://schemas.openxmlformats.org/drawingml/2006/main" w="14288">
            <a:solidFill>
              <a:srgbClr val="C8D8CF"/>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575" b="1">
                <a:solidFill>
                  <a:srgbClr val="0F6E41"/>
                </a:solidFill>
                <a:latin typeface="Noto Sans"/>
                <a:ea typeface="Noto Sans"/>
                <a:cs typeface="Noto Sans"/>
              </a:defRPr>
            </a:pPr>
            <a:r>
              <a:rPr sz="1575" b="1">
                <a:solidFill>
                  <a:srgbClr val="0F6E41"/>
                </a:solidFill>
                <a:latin typeface="Noto Sans"/>
                <a:ea typeface="Noto Sans"/>
                <a:cs typeface="Noto Sans"/>
              </a:rPr>
              <a:t>APB3: 89 giao dịch / 325 phép kiểm ở mô phỏng RTL</a:t>
            </a:r>
          </a:p>
        </p:txBody>
      </p:sp>
    </p:spTree>
    <p:extLst>
      <p:ext uri="{BB962C8B-B14F-4D97-AF65-F5344CB8AC3E}">
        <p14:creationId xmlns:p14="http://schemas.microsoft.com/office/powerpoint/2010/main" val="369385762"/>
      </p:ext>
    </p:extLst>
  </p:cSld>
</p:sld>
</file>

<file path=ppt/slides/slide9.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5942304-F684-4D9E-B072-EAEE0D5A2B60}"/>
              </a:ext>
            </a:extLst>
          </p:cNvPr>
          <p:cNvSpPr>
            <a:spLocks xmlns:a="http://schemas.openxmlformats.org/drawingml/2006/main" noGrp="1"/>
          </p:cNvSpPr>
          <p:nvPr/>
        </p:nvSpPr>
        <p:spPr>
          <a:xfrm xmlns:a="http://schemas.openxmlformats.org/drawingml/2006/main">
            <a:off x="723900" y="314325"/>
            <a:ext cx="857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352B"/>
                </a:solidFill>
                <a:latin typeface="Noto Sans"/>
                <a:ea typeface="Noto Sans"/>
                <a:cs typeface="Noto Sans"/>
              </a:defRPr>
            </a:pPr>
            <a:r>
              <a:rPr sz="3150" b="1">
                <a:solidFill>
                  <a:srgbClr val="17352B"/>
                </a:solidFill>
                <a:latin typeface="Noto Sans"/>
                <a:ea typeface="Noto Sans"/>
                <a:cs typeface="Noto Sans"/>
              </a:rPr>
              <a:t>Ánh xạ thanh ghi APB3</a:t>
            </a:r>
          </a:p>
        </p:txBody>
      </p:sp>
      <p:sp>
        <p:nvSpPr>
          <p:cNvPr id="2" name="">
            <a:extLst xmlns:a="http://schemas.openxmlformats.org/drawingml/2006/main">
              <a:ext uri="{FF2B5EF4-FFF2-40B4-BE49-F238E27FC236}">
                <a16:creationId xmlns:a16="http://schemas.microsoft.com/office/drawing/2014/main" id="{049FF8C2-B4BC-4856-A3BA-E215E1DBF342}"/>
              </a:ext>
            </a:extLst>
          </p:cNvPr>
          <p:cNvSpPr>
            <a:spLocks xmlns:a="http://schemas.openxmlformats.org/drawingml/2006/main" noGrp="1"/>
          </p:cNvSpPr>
          <p:nvPr/>
        </p:nvSpPr>
        <p:spPr>
          <a:xfrm xmlns:a="http://schemas.openxmlformats.org/drawingml/2006/main">
            <a:off x="628650" y="1123950"/>
            <a:ext cx="876300" cy="0"/>
          </a:xfrm>
          <a:prstGeom xmlns:a="http://schemas.openxmlformats.org/drawingml/2006/main" prst="line">
            <a:avLst/>
          </a:prstGeom>
          <a:noFill xmlns:a="http://schemas.openxmlformats.org/drawingml/2006/main"/>
          <a:ln xmlns:a="http://schemas.openxmlformats.org/drawingml/2006/main" w="38100">
            <a:solidFill>
              <a:srgbClr val="0F6E41"/>
            </a:solid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888d0e254984724"/>
          <a:stretch xmlns:a="http://schemas.openxmlformats.org/drawingml/2006/main"/>
        </p:blipFill>
        <p:spPr>
          <a:xfrm xmlns:a="http://schemas.openxmlformats.org/drawingml/2006/main">
            <a:off x="10020300" y="220120"/>
            <a:ext cx="428625" cy="512259"/>
          </a:xfrm>
          <a:prstGeom xmlns:a="http://schemas.openxmlformats.org/drawingml/2006/main" prst="rect">
            <a:avLst/>
          </a:prstGeom>
        </p:spPr>
      </p:pic>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7a38fcca9a64e1a"/>
          <a:stretch xmlns:a="http://schemas.openxmlformats.org/drawingml/2006/main"/>
        </p:blipFill>
        <p:spPr>
          <a:xfrm xmlns:a="http://schemas.openxmlformats.org/drawingml/2006/main">
            <a:off x="10687050" y="298596"/>
            <a:ext cx="990600" cy="35530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EF72355-F9E2-4AC3-91D6-880C5C8F2273}"/>
              </a:ext>
            </a:extLst>
          </p:cNvPr>
          <p:cNvSpPr>
            <a:spLocks xmlns:a="http://schemas.openxmlformats.org/drawingml/2006/main" noGrp="1"/>
          </p:cNvSpPr>
          <p:nvPr/>
        </p:nvSpPr>
        <p:spPr>
          <a:xfrm xmlns:a="http://schemas.openxmlformats.org/drawingml/2006/main">
            <a:off x="11372850" y="6486525"/>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1">
                <a:solidFill>
                  <a:srgbClr val="17352B"/>
                </a:solidFill>
                <a:latin typeface="Noto Sans"/>
                <a:ea typeface="Noto Sans"/>
                <a:cs typeface="Noto Sans"/>
              </a:defRPr>
            </a:pPr>
            <a:r>
              <a:rPr sz="1050" b="1">
                <a:solidFill>
                  <a:srgbClr val="17352B"/>
                </a:solidFill>
                <a:latin typeface="Noto Sans"/>
                <a:ea typeface="Noto Sans"/>
                <a:cs typeface="Noto Sans"/>
              </a:rPr>
              <a:t>9</a:t>
            </a:r>
          </a:p>
        </p:txBody>
      </p:sp>
      <p:graphicFrame>
        <p:nvGraphicFramePr>
          <p:cNvPr id="13" name=""/>
          <p:cNvGraphicFramePr/>
          <p:nvPr/>
        </p:nvGraphicFramePr>
        <p:xfrm>
          <a:off xmlns:a="http://schemas.openxmlformats.org/drawingml/2006/main" x="685800" y="1428750"/>
          <a:ext xmlns:a="http://schemas.openxmlformats.org/drawingml/2006/main" cx="10820400" cy="4438650"/>
        </p:xfrm>
        <a:graphic xmlns:a="http://schemas.openxmlformats.org/drawingml/2006/main">
          <a:graphicData uri="http://schemas.openxmlformats.org/drawingml/2006/table">
            <a:tbl>
              <a:tblPr/>
              <a:tblGrid>
                <a:gridCol w="1047750"/>
                <a:gridCol w="2476500"/>
                <a:gridCol w="1285875"/>
                <a:gridCol w="6010275"/>
              </a:tblGrid>
              <a:tr h="400050">
                <a:tc>
                  <a:txBody>
                    <a:bodyPr anchor="ctr"/>
                    <a:lstStyle/>
                    <a:p>
                      <a:pPr algn="ctr"/>
                      <a:r>
                        <a:rPr lang="vi-VN" sz="1325" b="1">
                          <a:solidFill>
                            <a:srgbClr val="FFFFFF"/>
                          </a:solidFill>
                          <a:latin typeface="Noto Sans"/>
                          <a:ea typeface="Noto Sans"/>
                          <a:cs typeface="Noto Sans"/>
                        </a:rPr>
                        <a:t>Địa chỉ</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l"/>
                      <a:r>
                        <a:rPr lang="vi-VN" sz="1325" b="1">
                          <a:solidFill>
                            <a:srgbClr val="FFFFFF"/>
                          </a:solidFill>
                          <a:latin typeface="Noto Sans"/>
                          <a:ea typeface="Noto Sans"/>
                          <a:cs typeface="Noto Sans"/>
                        </a:rPr>
                        <a:t>Thanh ghi</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ctr"/>
                      <a:r>
                        <a:rPr lang="vi-VN" sz="1325" b="1">
                          <a:solidFill>
                            <a:srgbClr val="FFFFFF"/>
                          </a:solidFill>
                          <a:latin typeface="Noto Sans"/>
                          <a:ea typeface="Noto Sans"/>
                          <a:cs typeface="Noto Sans"/>
                        </a:rPr>
                        <a:t>Quyền</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l"/>
                      <a:r>
                        <a:rPr lang="vi-VN" sz="1325" b="1">
                          <a:solidFill>
                            <a:srgbClr val="FFFFFF"/>
                          </a:solidFill>
                          <a:latin typeface="Noto Sans"/>
                          <a:ea typeface="Noto Sans"/>
                          <a:cs typeface="Noto Sans"/>
                        </a:rPr>
                        <a:t>Mục đích</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r>
              <a:tr h="400050">
                <a:tc>
                  <a:txBody>
                    <a:bodyPr anchor="ctr"/>
                    <a:lstStyle/>
                    <a:p>
                      <a:pPr algn="ctr"/>
                      <a:r>
                        <a:rPr lang="vi-VN" sz="1325">
                          <a:solidFill>
                            <a:srgbClr val="17352B"/>
                          </a:solidFill>
                          <a:latin typeface="Noto Sans"/>
                          <a:ea typeface="Noto Sans"/>
                          <a:cs typeface="Noto Sans"/>
                        </a:rPr>
                        <a:t>0x00</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l"/>
                      <a:r>
                        <a:rPr lang="vi-VN" sz="1325">
                          <a:solidFill>
                            <a:srgbClr val="17352B"/>
                          </a:solidFill>
                          <a:latin typeface="Noto Sans"/>
                          <a:ea typeface="Noto Sans"/>
                          <a:cs typeface="Noto Sans"/>
                        </a:rPr>
                        <a:t>IP_ID</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325">
                          <a:solidFill>
                            <a:srgbClr val="17352B"/>
                          </a:solidFill>
                          <a:latin typeface="Noto Sans"/>
                          <a:ea typeface="Noto Sans"/>
                          <a:cs typeface="Noto Sans"/>
                        </a:rPr>
                        <a:t>RO</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l"/>
                      <a:r>
                        <a:rPr lang="vi-VN" sz="1325">
                          <a:solidFill>
                            <a:srgbClr val="17352B"/>
                          </a:solidFill>
                          <a:latin typeface="Noto Sans"/>
                          <a:ea typeface="Noto Sans"/>
                          <a:cs typeface="Noto Sans"/>
                        </a:rPr>
                        <a:t>0x504D3235 (PM25)</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r>
              <a:tr h="400050">
                <a:tc>
                  <a:txBody>
                    <a:bodyPr anchor="ctr"/>
                    <a:lstStyle/>
                    <a:p>
                      <a:pPr algn="ctr"/>
                      <a:r>
                        <a:rPr lang="vi-VN" sz="1325">
                          <a:solidFill>
                            <a:srgbClr val="17352B"/>
                          </a:solidFill>
                          <a:latin typeface="Noto Sans"/>
                          <a:ea typeface="Noto Sans"/>
                          <a:cs typeface="Noto Sans"/>
                        </a:rPr>
                        <a:t>0x04</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l"/>
                      <a:r>
                        <a:rPr lang="vi-VN" sz="1325">
                          <a:solidFill>
                            <a:srgbClr val="17352B"/>
                          </a:solidFill>
                          <a:latin typeface="Noto Sans"/>
                          <a:ea typeface="Noto Sans"/>
                          <a:cs typeface="Noto Sans"/>
                        </a:rPr>
                        <a:t>VERSION</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ctr"/>
                      <a:r>
                        <a:rPr lang="vi-VN" sz="1325">
                          <a:solidFill>
                            <a:srgbClr val="17352B"/>
                          </a:solidFill>
                          <a:latin typeface="Noto Sans"/>
                          <a:ea typeface="Noto Sans"/>
                          <a:cs typeface="Noto Sans"/>
                        </a:rPr>
                        <a:t>RO</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l"/>
                      <a:r>
                        <a:rPr lang="vi-VN" sz="1325">
                          <a:solidFill>
                            <a:srgbClr val="17352B"/>
                          </a:solidFill>
                          <a:latin typeface="Noto Sans"/>
                          <a:ea typeface="Noto Sans"/>
                          <a:cs typeface="Noto Sans"/>
                        </a:rPr>
                        <a:t>0x00010000, phiên bản 1.0.0</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r>
              <a:tr h="400050">
                <a:tc>
                  <a:txBody>
                    <a:bodyPr anchor="ctr"/>
                    <a:lstStyle/>
                    <a:p>
                      <a:pPr algn="ctr"/>
                      <a:r>
                        <a:rPr lang="vi-VN" sz="1325">
                          <a:solidFill>
                            <a:srgbClr val="17352B"/>
                          </a:solidFill>
                          <a:latin typeface="Noto Sans"/>
                          <a:ea typeface="Noto Sans"/>
                          <a:cs typeface="Noto Sans"/>
                        </a:rPr>
                        <a:t>0x08</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l"/>
                      <a:r>
                        <a:rPr lang="vi-VN" sz="1325">
                          <a:solidFill>
                            <a:srgbClr val="17352B"/>
                          </a:solidFill>
                          <a:latin typeface="Noto Sans"/>
                          <a:ea typeface="Noto Sans"/>
                          <a:cs typeface="Noto Sans"/>
                        </a:rPr>
                        <a:t>CONTROL</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325">
                          <a:solidFill>
                            <a:srgbClr val="17352B"/>
                          </a:solidFill>
                          <a:latin typeface="Noto Sans"/>
                          <a:ea typeface="Noto Sans"/>
                          <a:cs typeface="Noto Sans"/>
                        </a:rPr>
                        <a:t>RW/lệnh</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l"/>
                      <a:r>
                        <a:rPr lang="vi-VN" sz="1325">
                          <a:solidFill>
                            <a:srgbClr val="17352B"/>
                          </a:solidFill>
                          <a:latin typeface="Noto Sans"/>
                          <a:ea typeface="Noto Sans"/>
                          <a:cs typeface="Noto Sans"/>
                        </a:rPr>
                        <a:t>PROCESS, SAMPLE_VALID, QC_OK</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r>
              <a:tr h="400050">
                <a:tc>
                  <a:txBody>
                    <a:bodyPr anchor="ctr"/>
                    <a:lstStyle/>
                    <a:p>
                      <a:pPr algn="ctr"/>
                      <a:r>
                        <a:rPr lang="vi-VN" sz="1325">
                          <a:solidFill>
                            <a:srgbClr val="17352B"/>
                          </a:solidFill>
                          <a:latin typeface="Noto Sans"/>
                          <a:ea typeface="Noto Sans"/>
                          <a:cs typeface="Noto Sans"/>
                        </a:rPr>
                        <a:t>0x0C</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l"/>
                      <a:r>
                        <a:rPr lang="vi-VN" sz="1325">
                          <a:solidFill>
                            <a:srgbClr val="17352B"/>
                          </a:solidFill>
                          <a:latin typeface="Noto Sans"/>
                          <a:ea typeface="Noto Sans"/>
                          <a:cs typeface="Noto Sans"/>
                        </a:rPr>
                        <a:t>CAMS_PM25_X16</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ctr"/>
                      <a:r>
                        <a:rPr lang="vi-VN" sz="1325">
                          <a:solidFill>
                            <a:srgbClr val="17352B"/>
                          </a:solidFill>
                          <a:latin typeface="Noto Sans"/>
                          <a:ea typeface="Noto Sans"/>
                          <a:cs typeface="Noto Sans"/>
                        </a:rPr>
                        <a:t>RW</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l"/>
                      <a:r>
                        <a:rPr lang="vi-VN" sz="1325">
                          <a:solidFill>
                            <a:srgbClr val="17352B"/>
                          </a:solidFill>
                          <a:latin typeface="Noto Sans"/>
                          <a:ea typeface="Noto Sans"/>
                          <a:cs typeface="Noto Sans"/>
                        </a:rPr>
                        <a:t>Đầu vào CAMS có dấu, 32 bit x16</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r>
              <a:tr h="400050">
                <a:tc>
                  <a:txBody>
                    <a:bodyPr anchor="ctr"/>
                    <a:lstStyle/>
                    <a:p>
                      <a:pPr algn="ctr"/>
                      <a:r>
                        <a:rPr lang="vi-VN" sz="1325">
                          <a:solidFill>
                            <a:srgbClr val="17352B"/>
                          </a:solidFill>
                          <a:latin typeface="Noto Sans"/>
                          <a:ea typeface="Noto Sans"/>
                          <a:cs typeface="Noto Sans"/>
                        </a:rPr>
                        <a:t>0x10</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l"/>
                      <a:r>
                        <a:rPr lang="vi-VN" sz="1325">
                          <a:solidFill>
                            <a:srgbClr val="17352B"/>
                          </a:solidFill>
                          <a:latin typeface="Noto Sans"/>
                          <a:ea typeface="Noto Sans"/>
                          <a:cs typeface="Noto Sans"/>
                        </a:rPr>
                        <a:t>PA_PM25_X16</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325">
                          <a:solidFill>
                            <a:srgbClr val="17352B"/>
                          </a:solidFill>
                          <a:latin typeface="Noto Sans"/>
                          <a:ea typeface="Noto Sans"/>
                          <a:cs typeface="Noto Sans"/>
                        </a:rPr>
                        <a:t>RW</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l"/>
                      <a:r>
                        <a:rPr lang="vi-VN" sz="1325">
                          <a:solidFill>
                            <a:srgbClr val="17352B"/>
                          </a:solidFill>
                          <a:latin typeface="Noto Sans"/>
                          <a:ea typeface="Noto Sans"/>
                          <a:cs typeface="Noto Sans"/>
                        </a:rPr>
                        <a:t>Đầu vào PurpleAir có dấu, 32 bit x16</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r>
              <a:tr h="400050">
                <a:tc>
                  <a:txBody>
                    <a:bodyPr anchor="ctr"/>
                    <a:lstStyle/>
                    <a:p>
                      <a:pPr algn="ctr"/>
                      <a:r>
                        <a:rPr lang="vi-VN" sz="1325">
                          <a:solidFill>
                            <a:srgbClr val="17352B"/>
                          </a:solidFill>
                          <a:latin typeface="Noto Sans"/>
                          <a:ea typeface="Noto Sans"/>
                          <a:cs typeface="Noto Sans"/>
                        </a:rPr>
                        <a:t>0x14</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l"/>
                      <a:r>
                        <a:rPr lang="vi-VN" sz="1325">
                          <a:solidFill>
                            <a:srgbClr val="17352B"/>
                          </a:solidFill>
                          <a:latin typeface="Noto Sans"/>
                          <a:ea typeface="Noto Sans"/>
                          <a:cs typeface="Noto Sans"/>
                        </a:rPr>
                        <a:t>HOUR</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ctr"/>
                      <a:r>
                        <a:rPr lang="vi-VN" sz="1325">
                          <a:solidFill>
                            <a:srgbClr val="17352B"/>
                          </a:solidFill>
                          <a:latin typeface="Noto Sans"/>
                          <a:ea typeface="Noto Sans"/>
                          <a:cs typeface="Noto Sans"/>
                        </a:rPr>
                        <a:t>RW</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l"/>
                      <a:r>
                        <a:rPr lang="vi-VN" sz="1325">
                          <a:solidFill>
                            <a:srgbClr val="17352B"/>
                          </a:solidFill>
                          <a:latin typeface="Noto Sans"/>
                          <a:ea typeface="Noto Sans"/>
                          <a:cs typeface="Noto Sans"/>
                        </a:rPr>
                        <a:t>Thông tin giờ ở 5 bit thấp</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r>
              <a:tr h="400050">
                <a:tc>
                  <a:txBody>
                    <a:bodyPr anchor="ctr"/>
                    <a:lstStyle/>
                    <a:p>
                      <a:pPr algn="ctr"/>
                      <a:r>
                        <a:rPr lang="vi-VN" sz="1325">
                          <a:solidFill>
                            <a:srgbClr val="17352B"/>
                          </a:solidFill>
                          <a:latin typeface="Noto Sans"/>
                          <a:ea typeface="Noto Sans"/>
                          <a:cs typeface="Noto Sans"/>
                        </a:rPr>
                        <a:t>0x18</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l"/>
                      <a:r>
                        <a:rPr lang="vi-VN" sz="1325">
                          <a:solidFill>
                            <a:srgbClr val="17352B"/>
                          </a:solidFill>
                          <a:latin typeface="Noto Sans"/>
                          <a:ea typeface="Noto Sans"/>
                          <a:cs typeface="Noto Sans"/>
                        </a:rPr>
                        <a:t>STATUS</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325">
                          <a:solidFill>
                            <a:srgbClr val="17352B"/>
                          </a:solidFill>
                          <a:latin typeface="Noto Sans"/>
                          <a:ea typeface="Noto Sans"/>
                          <a:cs typeface="Noto Sans"/>
                        </a:rPr>
                        <a:t>RO</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l"/>
                      <a:r>
                        <a:rPr lang="vi-VN" sz="1325">
                          <a:solidFill>
                            <a:srgbClr val="17352B"/>
                          </a:solidFill>
                          <a:latin typeface="Noto Sans"/>
                          <a:ea typeface="Noto Sans"/>
                          <a:cs typeface="Noto Sans"/>
                        </a:rPr>
                        <a:t>BUSY, DONE, RESULT_VALID, ACCEPTED, ALERT</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r>
              <a:tr h="400050">
                <a:tc>
                  <a:txBody>
                    <a:bodyPr anchor="ctr"/>
                    <a:lstStyle/>
                    <a:p>
                      <a:pPr algn="ctr"/>
                      <a:r>
                        <a:rPr lang="vi-VN" sz="1325">
                          <a:solidFill>
                            <a:srgbClr val="17352B"/>
                          </a:solidFill>
                          <a:latin typeface="Noto Sans"/>
                          <a:ea typeface="Noto Sans"/>
                          <a:cs typeface="Noto Sans"/>
                        </a:rPr>
                        <a:t>0x1C</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l"/>
                      <a:r>
                        <a:rPr lang="vi-VN" sz="1325">
                          <a:solidFill>
                            <a:srgbClr val="17352B"/>
                          </a:solidFill>
                          <a:latin typeface="Noto Sans"/>
                          <a:ea typeface="Noto Sans"/>
                          <a:cs typeface="Noto Sans"/>
                        </a:rPr>
                        <a:t>PM25_RESULT_X16</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ctr"/>
                      <a:r>
                        <a:rPr lang="vi-VN" sz="1325">
                          <a:solidFill>
                            <a:srgbClr val="17352B"/>
                          </a:solidFill>
                          <a:latin typeface="Noto Sans"/>
                          <a:ea typeface="Noto Sans"/>
                          <a:cs typeface="Noto Sans"/>
                        </a:rPr>
                        <a:t>RO</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l"/>
                      <a:r>
                        <a:rPr lang="vi-VN" sz="1325">
                          <a:solidFill>
                            <a:srgbClr val="17352B"/>
                          </a:solidFill>
                          <a:latin typeface="Noto Sans"/>
                          <a:ea typeface="Noto Sans"/>
                          <a:cs typeface="Noto Sans"/>
                        </a:rPr>
                        <a:t>Kết quả fused có dấu, 32 bit x16</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r>
              <a:tr h="400050">
                <a:tc>
                  <a:txBody>
                    <a:bodyPr anchor="ctr"/>
                    <a:lstStyle/>
                    <a:p>
                      <a:pPr algn="ctr"/>
                      <a:r>
                        <a:rPr lang="vi-VN" sz="1325">
                          <a:solidFill>
                            <a:srgbClr val="17352B"/>
                          </a:solidFill>
                          <a:latin typeface="Noto Sans"/>
                          <a:ea typeface="Noto Sans"/>
                          <a:cs typeface="Noto Sans"/>
                        </a:rPr>
                        <a:t>0x20</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l"/>
                      <a:r>
                        <a:rPr lang="vi-VN" sz="1325">
                          <a:solidFill>
                            <a:srgbClr val="17352B"/>
                          </a:solidFill>
                          <a:latin typeface="Noto Sans"/>
                          <a:ea typeface="Noto Sans"/>
                          <a:cs typeface="Noto Sans"/>
                        </a:rPr>
                        <a:t>BIAS_STATE_X16</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325">
                          <a:solidFill>
                            <a:srgbClr val="17352B"/>
                          </a:solidFill>
                          <a:latin typeface="Noto Sans"/>
                          <a:ea typeface="Noto Sans"/>
                          <a:cs typeface="Noto Sans"/>
                        </a:rPr>
                        <a:t>RO</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l"/>
                      <a:r>
                        <a:rPr lang="vi-VN" sz="1325">
                          <a:solidFill>
                            <a:srgbClr val="17352B"/>
                          </a:solidFill>
                          <a:latin typeface="Noto Sans"/>
                          <a:ea typeface="Noto Sans"/>
                          <a:cs typeface="Noto Sans"/>
                        </a:rPr>
                        <a:t>Bias sau lệnh, có dấu, 32 bit x16</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r>
              <a:tr h="400050">
                <a:tc>
                  <a:txBody>
                    <a:bodyPr anchor="ctr"/>
                    <a:lstStyle/>
                    <a:p>
                      <a:pPr algn="ctr"/>
                      <a:r>
                        <a:rPr lang="vi-VN" sz="1325">
                          <a:solidFill>
                            <a:srgbClr val="17352B"/>
                          </a:solidFill>
                          <a:latin typeface="Noto Sans"/>
                          <a:ea typeface="Noto Sans"/>
                          <a:cs typeface="Noto Sans"/>
                        </a:rPr>
                        <a:t>0x24</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l"/>
                      <a:r>
                        <a:rPr lang="vi-VN" sz="1325">
                          <a:solidFill>
                            <a:srgbClr val="17352B"/>
                          </a:solidFill>
                          <a:latin typeface="Noto Sans"/>
                          <a:ea typeface="Noto Sans"/>
                          <a:cs typeface="Noto Sans"/>
                        </a:rPr>
                        <a:t>CONFIG</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ctr"/>
                      <a:r>
                        <a:rPr lang="vi-VN" sz="1325">
                          <a:solidFill>
                            <a:srgbClr val="17352B"/>
                          </a:solidFill>
                          <a:latin typeface="Noto Sans"/>
                          <a:ea typeface="Noto Sans"/>
                          <a:cs typeface="Noto Sans"/>
                        </a:rPr>
                        <a:t>RO</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l"/>
                      <a:r>
                        <a:rPr lang="vi-VN" sz="1325">
                          <a:solidFill>
                            <a:srgbClr val="17352B"/>
                          </a:solidFill>
                          <a:latin typeface="Noto Sans"/>
                          <a:ea typeface="Noto Sans"/>
                          <a:cs typeface="Noto Sans"/>
                        </a:rPr>
                        <a:t>ALPHA_SHIFT và hệ số biểu diễn 16</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r>
            </a:tbl>
          </a:graphicData>
        </a:graphic>
      </p:graphicFrame>
      <p:sp>
        <p:nvSpPr>
          <p:cNvPr id="7" name="">
            <a:extLst xmlns:a="http://schemas.openxmlformats.org/drawingml/2006/main">
              <a:ext uri="{FF2B5EF4-FFF2-40B4-BE49-F238E27FC236}">
                <a16:creationId xmlns:a16="http://schemas.microsoft.com/office/drawing/2014/main" id="{08B5B9DD-BF30-4DE3-9AA1-9295265C869C}"/>
              </a:ext>
            </a:extLst>
          </p:cNvPr>
          <p:cNvSpPr>
            <a:spLocks xmlns:a="http://schemas.openxmlformats.org/drawingml/2006/main" noGrp="1"/>
          </p:cNvSpPr>
          <p:nvPr/>
        </p:nvSpPr>
        <p:spPr>
          <a:xfrm xmlns:a="http://schemas.openxmlformats.org/drawingml/2006/main">
            <a:off x="762000" y="6038850"/>
            <a:ext cx="1062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1">
                <a:solidFill>
                  <a:srgbClr val="0F6E41"/>
                </a:solidFill>
                <a:latin typeface="Noto Sans"/>
                <a:ea typeface="Noto Sans"/>
                <a:cs typeface="Noto Sans"/>
              </a:defRPr>
            </a:pPr>
            <a:r>
              <a:rPr sz="1350" b="1">
                <a:solidFill>
                  <a:srgbClr val="0F6E41"/>
                </a:solidFill>
                <a:latin typeface="Noto Sans"/>
                <a:ea typeface="Noto Sans"/>
                <a:cs typeface="Noto Sans"/>
              </a:rPr>
              <a:t>PROCESS là lệnh write-one, tự xóa. DONE giữ đến lệnh hợp lệ tiếp theo hoặc reset.</a:t>
            </a:r>
          </a:p>
        </p:txBody>
      </p:sp>
    </p:spTree>
    <p:extLst>
      <p:ext uri="{BB962C8B-B14F-4D97-AF65-F5344CB8AC3E}">
        <p14:creationId xmlns:p14="http://schemas.microsoft.com/office/powerpoint/2010/main" val="1321397678"/>
      </p:ext>
    </p:extLst>
  </p:cSld>
</p:sld>
</file>

<file path=ppt/slides/slide10.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BBBA26A-BB94-42DC-A609-744785E1BD15}"/>
              </a:ext>
            </a:extLst>
          </p:cNvPr>
          <p:cNvSpPr>
            <a:spLocks xmlns:a="http://schemas.openxmlformats.org/drawingml/2006/main" noGrp="1"/>
          </p:cNvSpPr>
          <p:nvPr/>
        </p:nvSpPr>
        <p:spPr>
          <a:xfrm xmlns:a="http://schemas.openxmlformats.org/drawingml/2006/main">
            <a:off x="723900" y="314325"/>
            <a:ext cx="857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352B"/>
                </a:solidFill>
                <a:latin typeface="Noto Sans"/>
                <a:ea typeface="Noto Sans"/>
                <a:cs typeface="Noto Sans"/>
              </a:defRPr>
            </a:pPr>
            <a:r>
              <a:rPr sz="3150" b="1">
                <a:solidFill>
                  <a:srgbClr val="17352B"/>
                </a:solidFill>
                <a:latin typeface="Noto Sans"/>
                <a:ea typeface="Noto Sans"/>
                <a:cs typeface="Noto Sans"/>
              </a:rPr>
              <a:t>Cấu trúc gói UART</a:t>
            </a:r>
          </a:p>
        </p:txBody>
      </p:sp>
      <p:sp>
        <p:nvSpPr>
          <p:cNvPr id="2" name="">
            <a:extLst xmlns:a="http://schemas.openxmlformats.org/drawingml/2006/main">
              <a:ext uri="{FF2B5EF4-FFF2-40B4-BE49-F238E27FC236}">
                <a16:creationId xmlns:a16="http://schemas.microsoft.com/office/drawing/2014/main" id="{DAC27086-7D8D-4992-8FA7-D5E3040EDCD9}"/>
              </a:ext>
            </a:extLst>
          </p:cNvPr>
          <p:cNvSpPr>
            <a:spLocks xmlns:a="http://schemas.openxmlformats.org/drawingml/2006/main" noGrp="1"/>
          </p:cNvSpPr>
          <p:nvPr/>
        </p:nvSpPr>
        <p:spPr>
          <a:xfrm xmlns:a="http://schemas.openxmlformats.org/drawingml/2006/main">
            <a:off x="628650" y="1123950"/>
            <a:ext cx="876300" cy="0"/>
          </a:xfrm>
          <a:prstGeom xmlns:a="http://schemas.openxmlformats.org/drawingml/2006/main" prst="line">
            <a:avLst/>
          </a:prstGeom>
          <a:noFill xmlns:a="http://schemas.openxmlformats.org/drawingml/2006/main"/>
          <a:ln xmlns:a="http://schemas.openxmlformats.org/drawingml/2006/main" w="38100">
            <a:solidFill>
              <a:srgbClr val="0F6E41"/>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19e3561a62cd45cf"/>
          <a:stretch xmlns:a="http://schemas.openxmlformats.org/drawingml/2006/main"/>
        </p:blipFill>
        <p:spPr>
          <a:xfrm xmlns:a="http://schemas.openxmlformats.org/drawingml/2006/main">
            <a:off x="10020300" y="220120"/>
            <a:ext cx="428625" cy="512259"/>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c218f2aec4154f98"/>
          <a:stretch xmlns:a="http://schemas.openxmlformats.org/drawingml/2006/main"/>
        </p:blipFill>
        <p:spPr>
          <a:xfrm xmlns:a="http://schemas.openxmlformats.org/drawingml/2006/main">
            <a:off x="10687050" y="298596"/>
            <a:ext cx="990600" cy="35530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E628221-D6CB-4EDF-986F-37F0DE921775}"/>
              </a:ext>
            </a:extLst>
          </p:cNvPr>
          <p:cNvSpPr>
            <a:spLocks xmlns:a="http://schemas.openxmlformats.org/drawingml/2006/main" noGrp="1"/>
          </p:cNvSpPr>
          <p:nvPr/>
        </p:nvSpPr>
        <p:spPr>
          <a:xfrm xmlns:a="http://schemas.openxmlformats.org/drawingml/2006/main">
            <a:off x="11372850" y="6486525"/>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1">
                <a:solidFill>
                  <a:srgbClr val="17352B"/>
                </a:solidFill>
                <a:latin typeface="Noto Sans"/>
                <a:ea typeface="Noto Sans"/>
                <a:cs typeface="Noto Sans"/>
              </a:defRPr>
            </a:pPr>
            <a:r>
              <a:rPr sz="1050" b="1">
                <a:solidFill>
                  <a:srgbClr val="17352B"/>
                </a:solidFill>
                <a:latin typeface="Noto Sans"/>
                <a:ea typeface="Noto Sans"/>
                <a:cs typeface="Noto Sans"/>
              </a:rPr>
              <a:t>10</a:t>
            </a:r>
          </a:p>
        </p:txBody>
      </p:sp>
      <p:sp>
        <p:nvSpPr>
          <p:cNvPr id="6" name="">
            <a:extLst xmlns:a="http://schemas.openxmlformats.org/drawingml/2006/main">
              <a:ext uri="{FF2B5EF4-FFF2-40B4-BE49-F238E27FC236}">
                <a16:creationId xmlns:a16="http://schemas.microsoft.com/office/drawing/2014/main" id="{C53C1A53-7A42-4E50-8A61-C5922AD2EBBB}"/>
              </a:ext>
            </a:extLst>
          </p:cNvPr>
          <p:cNvSpPr>
            <a:spLocks xmlns:a="http://schemas.openxmlformats.org/drawingml/2006/main" noGrp="1"/>
          </p:cNvSpPr>
          <p:nvPr/>
        </p:nvSpPr>
        <p:spPr>
          <a:xfrm xmlns:a="http://schemas.openxmlformats.org/drawingml/2006/main">
            <a:off x="838200" y="1381125"/>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F6E41"/>
                </a:solidFill>
                <a:latin typeface="Noto Sans"/>
                <a:ea typeface="Noto Sans"/>
                <a:cs typeface="Noto Sans"/>
              </a:defRPr>
            </a:pPr>
            <a:r>
              <a:rPr sz="1950" b="1">
                <a:solidFill>
                  <a:srgbClr val="0F6E41"/>
                </a:solidFill>
                <a:latin typeface="Noto Sans"/>
                <a:ea typeface="Noto Sans"/>
                <a:cs typeface="Noto Sans"/>
              </a:rPr>
              <a:t>Máy tính gửi đến FPGA</a:t>
            </a:r>
          </a:p>
        </p:txBody>
      </p:sp>
      <p:graphicFrame>
        <p:nvGraphicFramePr>
          <p:cNvPr id="21" name=""/>
          <p:cNvGraphicFramePr/>
          <p:nvPr/>
        </p:nvGraphicFramePr>
        <p:xfrm>
          <a:off xmlns:a="http://schemas.openxmlformats.org/drawingml/2006/main" x="838200" y="1885950"/>
          <a:ext xmlns:a="http://schemas.openxmlformats.org/drawingml/2006/main" cx="9858375" cy="952500"/>
        </p:xfrm>
        <a:graphic xmlns:a="http://schemas.openxmlformats.org/drawingml/2006/main">
          <a:graphicData uri="http://schemas.openxmlformats.org/drawingml/2006/table">
            <a:tbl>
              <a:tblPr/>
              <a:tblGrid>
                <a:gridCol w="1143000"/>
                <a:gridCol w="1619250"/>
                <a:gridCol w="1238250"/>
                <a:gridCol w="1238250"/>
                <a:gridCol w="1714500"/>
                <a:gridCol w="1714500"/>
                <a:gridCol w="1190625"/>
              </a:tblGrid>
              <a:tr h="476250">
                <a:tc>
                  <a:txBody>
                    <a:bodyPr anchor="ctr"/>
                    <a:lstStyle/>
                    <a:p>
                      <a:pPr algn="ctr"/>
                      <a:r>
                        <a:rPr lang="vi-VN" sz="1250" b="1">
                          <a:solidFill>
                            <a:srgbClr val="FFFFFF"/>
                          </a:solidFill>
                          <a:latin typeface="Noto Sans"/>
                          <a:ea typeface="Noto Sans"/>
                          <a:cs typeface="Noto Sans"/>
                        </a:rPr>
                        <a:t>SYNC</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ctr"/>
                      <a:r>
                        <a:rPr lang="vi-VN" sz="1250" b="1">
                          <a:solidFill>
                            <a:srgbClr val="FFFFFF"/>
                          </a:solidFill>
                          <a:latin typeface="Noto Sans"/>
                          <a:ea typeface="Noto Sans"/>
                          <a:cs typeface="Noto Sans"/>
                        </a:rPr>
                        <a:t>SAMPLE_VALID</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ctr"/>
                      <a:r>
                        <a:rPr lang="vi-VN" sz="1250" b="1">
                          <a:solidFill>
                            <a:srgbClr val="FFFFFF"/>
                          </a:solidFill>
                          <a:latin typeface="Noto Sans"/>
                          <a:ea typeface="Noto Sans"/>
                          <a:cs typeface="Noto Sans"/>
                        </a:rPr>
                        <a:t>QC_OK</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ctr"/>
                      <a:r>
                        <a:rPr lang="vi-VN" sz="1250" b="1">
                          <a:solidFill>
                            <a:srgbClr val="FFFFFF"/>
                          </a:solidFill>
                          <a:latin typeface="Noto Sans"/>
                          <a:ea typeface="Noto Sans"/>
                          <a:cs typeface="Noto Sans"/>
                        </a:rPr>
                        <a:t>HOUR</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ctr"/>
                      <a:r>
                        <a:rPr lang="vi-VN" sz="1250" b="1">
                          <a:solidFill>
                            <a:srgbClr val="FFFFFF"/>
                          </a:solidFill>
                          <a:latin typeface="Noto Sans"/>
                          <a:ea typeface="Noto Sans"/>
                          <a:cs typeface="Noto Sans"/>
                        </a:rPr>
                        <a:t>CAMS x16</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ctr"/>
                      <a:r>
                        <a:rPr lang="vi-VN" sz="1250" b="1">
                          <a:solidFill>
                            <a:srgbClr val="FFFFFF"/>
                          </a:solidFill>
                          <a:latin typeface="Noto Sans"/>
                          <a:ea typeface="Noto Sans"/>
                          <a:cs typeface="Noto Sans"/>
                        </a:rPr>
                        <a:t>PA x16</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ctr"/>
                      <a:r>
                        <a:rPr lang="vi-VN" sz="1250" b="1">
                          <a:solidFill>
                            <a:srgbClr val="FFFFFF"/>
                          </a:solidFill>
                          <a:latin typeface="Noto Sans"/>
                          <a:ea typeface="Noto Sans"/>
                          <a:cs typeface="Noto Sans"/>
                        </a:rPr>
                        <a:t>CHK</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r>
              <a:tr h="476250">
                <a:tc>
                  <a:txBody>
                    <a:bodyPr anchor="ctr"/>
                    <a:lstStyle/>
                    <a:p>
                      <a:pPr algn="ctr"/>
                      <a:r>
                        <a:rPr lang="vi-VN" sz="1250">
                          <a:solidFill>
                            <a:srgbClr val="17352B"/>
                          </a:solidFill>
                          <a:latin typeface="Noto Sans"/>
                          <a:ea typeface="Noto Sans"/>
                          <a:cs typeface="Noto Sans"/>
                        </a:rPr>
                        <a:t>0xA5</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250">
                          <a:solidFill>
                            <a:srgbClr val="17352B"/>
                          </a:solidFill>
                          <a:latin typeface="Noto Sans"/>
                          <a:ea typeface="Noto Sans"/>
                          <a:cs typeface="Noto Sans"/>
                        </a:rPr>
                        <a:t>1 byte</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250">
                          <a:solidFill>
                            <a:srgbClr val="17352B"/>
                          </a:solidFill>
                          <a:latin typeface="Noto Sans"/>
                          <a:ea typeface="Noto Sans"/>
                          <a:cs typeface="Noto Sans"/>
                        </a:rPr>
                        <a:t>1 byte</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250">
                          <a:solidFill>
                            <a:srgbClr val="17352B"/>
                          </a:solidFill>
                          <a:latin typeface="Noto Sans"/>
                          <a:ea typeface="Noto Sans"/>
                          <a:cs typeface="Noto Sans"/>
                        </a:rPr>
                        <a:t>1 byte</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250">
                          <a:solidFill>
                            <a:srgbClr val="17352B"/>
                          </a:solidFill>
                          <a:latin typeface="Noto Sans"/>
                          <a:ea typeface="Noto Sans"/>
                          <a:cs typeface="Noto Sans"/>
                        </a:rPr>
                        <a:t>2 byte</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250">
                          <a:solidFill>
                            <a:srgbClr val="17352B"/>
                          </a:solidFill>
                          <a:latin typeface="Noto Sans"/>
                          <a:ea typeface="Noto Sans"/>
                          <a:cs typeface="Noto Sans"/>
                        </a:rPr>
                        <a:t>2 byte</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250">
                          <a:solidFill>
                            <a:srgbClr val="17352B"/>
                          </a:solidFill>
                          <a:latin typeface="Noto Sans"/>
                          <a:ea typeface="Noto Sans"/>
                          <a:cs typeface="Noto Sans"/>
                        </a:rPr>
                        <a:t>1 byte</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2EC8B02B-B220-407E-BED0-C569E4036230}"/>
              </a:ext>
            </a:extLst>
          </p:cNvPr>
          <p:cNvSpPr>
            <a:spLocks xmlns:a="http://schemas.openxmlformats.org/drawingml/2006/main" noGrp="1"/>
          </p:cNvSpPr>
          <p:nvPr/>
        </p:nvSpPr>
        <p:spPr>
          <a:xfrm xmlns:a="http://schemas.openxmlformats.org/drawingml/2006/main">
            <a:off x="10858500" y="2171700"/>
            <a:ext cx="76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1">
                <a:solidFill>
                  <a:srgbClr val="17352B"/>
                </a:solidFill>
                <a:latin typeface="Noto Sans"/>
                <a:ea typeface="Noto Sans"/>
                <a:cs typeface="Noto Sans"/>
              </a:defRPr>
            </a:pPr>
            <a:r>
              <a:rPr sz="1650" b="1">
                <a:solidFill>
                  <a:srgbClr val="17352B"/>
                </a:solidFill>
                <a:latin typeface="Noto Sans"/>
                <a:ea typeface="Noto Sans"/>
                <a:cs typeface="Noto Sans"/>
              </a:rPr>
              <a:t>9 byte</a:t>
            </a:r>
          </a:p>
        </p:txBody>
      </p:sp>
      <p:sp>
        <p:nvSpPr>
          <p:cNvPr id="9" name="">
            <a:extLst xmlns:a="http://schemas.openxmlformats.org/drawingml/2006/main">
              <a:ext uri="{FF2B5EF4-FFF2-40B4-BE49-F238E27FC236}">
                <a16:creationId xmlns:a16="http://schemas.microsoft.com/office/drawing/2014/main" id="{9803CF7A-468F-4448-99AE-5380D9EA2AC5}"/>
              </a:ext>
            </a:extLst>
          </p:cNvPr>
          <p:cNvSpPr>
            <a:spLocks xmlns:a="http://schemas.openxmlformats.org/drawingml/2006/main" noGrp="1"/>
          </p:cNvSpPr>
          <p:nvPr/>
        </p:nvSpPr>
        <p:spPr>
          <a:xfrm xmlns:a="http://schemas.openxmlformats.org/drawingml/2006/main">
            <a:off x="838200" y="333375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F6E41"/>
                </a:solidFill>
                <a:latin typeface="Noto Sans"/>
                <a:ea typeface="Noto Sans"/>
                <a:cs typeface="Noto Sans"/>
              </a:defRPr>
            </a:pPr>
            <a:r>
              <a:rPr sz="1950" b="1">
                <a:solidFill>
                  <a:srgbClr val="0F6E41"/>
                </a:solidFill>
                <a:latin typeface="Noto Sans"/>
                <a:ea typeface="Noto Sans"/>
                <a:cs typeface="Noto Sans"/>
              </a:rPr>
              <a:t>FPGA trả về máy tính</a:t>
            </a:r>
          </a:p>
        </p:txBody>
      </p:sp>
      <p:graphicFrame>
        <p:nvGraphicFramePr>
          <p:cNvPr id="24" name=""/>
          <p:cNvGraphicFramePr/>
          <p:nvPr/>
        </p:nvGraphicFramePr>
        <p:xfrm>
          <a:off xmlns:a="http://schemas.openxmlformats.org/drawingml/2006/main" x="838200" y="3838575"/>
          <a:ext xmlns:a="http://schemas.openxmlformats.org/drawingml/2006/main" cx="10001250" cy="952500"/>
        </p:xfrm>
        <a:graphic xmlns:a="http://schemas.openxmlformats.org/drawingml/2006/main">
          <a:graphicData uri="http://schemas.openxmlformats.org/drawingml/2006/table">
            <a:tbl>
              <a:tblPr/>
              <a:tblGrid>
                <a:gridCol w="1047750"/>
                <a:gridCol w="1238250"/>
                <a:gridCol w="1333500"/>
                <a:gridCol w="1238250"/>
                <a:gridCol w="1238250"/>
                <a:gridCol w="1428750"/>
                <a:gridCol w="1428750"/>
                <a:gridCol w="1047750"/>
              </a:tblGrid>
              <a:tr h="476250">
                <a:tc>
                  <a:txBody>
                    <a:bodyPr anchor="ctr"/>
                    <a:lstStyle/>
                    <a:p>
                      <a:pPr algn="ctr"/>
                      <a:r>
                        <a:rPr lang="vi-VN" sz="1250" b="1">
                          <a:solidFill>
                            <a:srgbClr val="FFFFFF"/>
                          </a:solidFill>
                          <a:latin typeface="Noto Sans"/>
                          <a:ea typeface="Noto Sans"/>
                          <a:cs typeface="Noto Sans"/>
                        </a:rPr>
                        <a:t>SYNC</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ctr"/>
                      <a:r>
                        <a:rPr lang="vi-VN" sz="1250" b="1">
                          <a:solidFill>
                            <a:srgbClr val="FFFFFF"/>
                          </a:solidFill>
                          <a:latin typeface="Noto Sans"/>
                          <a:ea typeface="Noto Sans"/>
                          <a:cs typeface="Noto Sans"/>
                        </a:rPr>
                        <a:t>VALID</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ctr"/>
                      <a:r>
                        <a:rPr lang="vi-VN" sz="1250" b="1">
                          <a:solidFill>
                            <a:srgbClr val="FFFFFF"/>
                          </a:solidFill>
                          <a:latin typeface="Noto Sans"/>
                          <a:ea typeface="Noto Sans"/>
                          <a:cs typeface="Noto Sans"/>
                        </a:rPr>
                        <a:t>ACCEPT</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ctr"/>
                      <a:r>
                        <a:rPr lang="vi-VN" sz="1250" b="1">
                          <a:solidFill>
                            <a:srgbClr val="FFFFFF"/>
                          </a:solidFill>
                          <a:latin typeface="Noto Sans"/>
                          <a:ea typeface="Noto Sans"/>
                          <a:cs typeface="Noto Sans"/>
                        </a:rPr>
                        <a:t>LEVEL</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ctr"/>
                      <a:r>
                        <a:rPr lang="vi-VN" sz="1250" b="1">
                          <a:solidFill>
                            <a:srgbClr val="FFFFFF"/>
                          </a:solidFill>
                          <a:latin typeface="Noto Sans"/>
                          <a:ea typeface="Noto Sans"/>
                          <a:cs typeface="Noto Sans"/>
                        </a:rPr>
                        <a:t>STATE</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ctr"/>
                      <a:r>
                        <a:rPr lang="vi-VN" sz="1250" b="1">
                          <a:solidFill>
                            <a:srgbClr val="FFFFFF"/>
                          </a:solidFill>
                          <a:latin typeface="Noto Sans"/>
                          <a:ea typeface="Noto Sans"/>
                          <a:cs typeface="Noto Sans"/>
                        </a:rPr>
                        <a:t>FUSED</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ctr"/>
                      <a:r>
                        <a:rPr lang="vi-VN" sz="1250" b="1">
                          <a:solidFill>
                            <a:srgbClr val="FFFFFF"/>
                          </a:solidFill>
                          <a:latin typeface="Noto Sans"/>
                          <a:ea typeface="Noto Sans"/>
                          <a:cs typeface="Noto Sans"/>
                        </a:rPr>
                        <a:t>BIAS</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ctr"/>
                      <a:r>
                        <a:rPr lang="vi-VN" sz="1250" b="1">
                          <a:solidFill>
                            <a:srgbClr val="FFFFFF"/>
                          </a:solidFill>
                          <a:latin typeface="Noto Sans"/>
                          <a:ea typeface="Noto Sans"/>
                          <a:cs typeface="Noto Sans"/>
                        </a:rPr>
                        <a:t>CHK</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r>
              <a:tr h="476250">
                <a:tc>
                  <a:txBody>
                    <a:bodyPr anchor="ctr"/>
                    <a:lstStyle/>
                    <a:p>
                      <a:pPr algn="ctr"/>
                      <a:r>
                        <a:rPr lang="vi-VN" sz="1250">
                          <a:solidFill>
                            <a:srgbClr val="17352B"/>
                          </a:solidFill>
                          <a:latin typeface="Noto Sans"/>
                          <a:ea typeface="Noto Sans"/>
                          <a:cs typeface="Noto Sans"/>
                        </a:rPr>
                        <a:t>0x5A</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250">
                          <a:solidFill>
                            <a:srgbClr val="17352B"/>
                          </a:solidFill>
                          <a:latin typeface="Noto Sans"/>
                          <a:ea typeface="Noto Sans"/>
                          <a:cs typeface="Noto Sans"/>
                        </a:rPr>
                        <a:t>1 byte</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250">
                          <a:solidFill>
                            <a:srgbClr val="17352B"/>
                          </a:solidFill>
                          <a:latin typeface="Noto Sans"/>
                          <a:ea typeface="Noto Sans"/>
                          <a:cs typeface="Noto Sans"/>
                        </a:rPr>
                        <a:t>1 byte</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250">
                          <a:solidFill>
                            <a:srgbClr val="17352B"/>
                          </a:solidFill>
                          <a:latin typeface="Noto Sans"/>
                          <a:ea typeface="Noto Sans"/>
                          <a:cs typeface="Noto Sans"/>
                        </a:rPr>
                        <a:t>1 byte</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250">
                          <a:solidFill>
                            <a:srgbClr val="17352B"/>
                          </a:solidFill>
                          <a:latin typeface="Noto Sans"/>
                          <a:ea typeface="Noto Sans"/>
                          <a:cs typeface="Noto Sans"/>
                        </a:rPr>
                        <a:t>1 byte</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250">
                          <a:solidFill>
                            <a:srgbClr val="17352B"/>
                          </a:solidFill>
                          <a:latin typeface="Noto Sans"/>
                          <a:ea typeface="Noto Sans"/>
                          <a:cs typeface="Noto Sans"/>
                        </a:rPr>
                        <a:t>2 byte</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250">
                          <a:solidFill>
                            <a:srgbClr val="17352B"/>
                          </a:solidFill>
                          <a:latin typeface="Noto Sans"/>
                          <a:ea typeface="Noto Sans"/>
                          <a:cs typeface="Noto Sans"/>
                        </a:rPr>
                        <a:t>2 byte</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250">
                          <a:solidFill>
                            <a:srgbClr val="17352B"/>
                          </a:solidFill>
                          <a:latin typeface="Noto Sans"/>
                          <a:ea typeface="Noto Sans"/>
                          <a:cs typeface="Noto Sans"/>
                        </a:rPr>
                        <a:t>1 byte</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r>
            </a:tbl>
          </a:graphicData>
        </a:graphic>
      </p:graphicFrame>
      <p:sp>
        <p:nvSpPr>
          <p:cNvPr id="11" name="">
            <a:extLst xmlns:a="http://schemas.openxmlformats.org/drawingml/2006/main">
              <a:ext uri="{FF2B5EF4-FFF2-40B4-BE49-F238E27FC236}">
                <a16:creationId xmlns:a16="http://schemas.microsoft.com/office/drawing/2014/main" id="{63F07A0D-E5F9-4A71-9568-2B71B0AF94E4}"/>
              </a:ext>
            </a:extLst>
          </p:cNvPr>
          <p:cNvSpPr>
            <a:spLocks xmlns:a="http://schemas.openxmlformats.org/drawingml/2006/main" noGrp="1"/>
          </p:cNvSpPr>
          <p:nvPr/>
        </p:nvSpPr>
        <p:spPr>
          <a:xfrm xmlns:a="http://schemas.openxmlformats.org/drawingml/2006/main">
            <a:off x="10858500" y="4124325"/>
            <a:ext cx="76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1">
                <a:solidFill>
                  <a:srgbClr val="17352B"/>
                </a:solidFill>
                <a:latin typeface="Noto Sans"/>
                <a:ea typeface="Noto Sans"/>
                <a:cs typeface="Noto Sans"/>
              </a:defRPr>
            </a:pPr>
            <a:r>
              <a:rPr sz="1650" b="1">
                <a:solidFill>
                  <a:srgbClr val="17352B"/>
                </a:solidFill>
                <a:latin typeface="Noto Sans"/>
                <a:ea typeface="Noto Sans"/>
                <a:cs typeface="Noto Sans"/>
              </a:rPr>
              <a:t>10 byte</a:t>
            </a:r>
          </a:p>
        </p:txBody>
      </p:sp>
      <p:sp>
        <p:nvSpPr>
          <p:cNvPr id="12" name="">
            <a:extLst xmlns:a="http://schemas.openxmlformats.org/drawingml/2006/main">
              <a:ext uri="{FF2B5EF4-FFF2-40B4-BE49-F238E27FC236}">
                <a16:creationId xmlns:a16="http://schemas.microsoft.com/office/drawing/2014/main" id="{48FA4151-479B-4F62-B3D6-61EE863C373C}"/>
              </a:ext>
            </a:extLst>
          </p:cNvPr>
          <p:cNvSpPr>
            <a:spLocks xmlns:a="http://schemas.openxmlformats.org/drawingml/2006/main" noGrp="1"/>
          </p:cNvSpPr>
          <p:nvPr/>
        </p:nvSpPr>
        <p:spPr>
          <a:xfrm xmlns:a="http://schemas.openxmlformats.org/drawingml/2006/main">
            <a:off x="838200" y="5257800"/>
            <a:ext cx="10382250" cy="0"/>
          </a:xfrm>
          <a:prstGeom xmlns:a="http://schemas.openxmlformats.org/drawingml/2006/main" prst="line">
            <a:avLst/>
          </a:prstGeom>
          <a:noFill xmlns:a="http://schemas.openxmlformats.org/drawingml/2006/main"/>
          <a:ln xmlns:a="http://schemas.openxmlformats.org/drawingml/2006/main" w="14288">
            <a:solidFill>
              <a:srgbClr val="C8D8CF"/>
            </a:solidFill>
            <a:prstDash val="solid"/>
          </a:ln>
        </p:spPr>
      </p:sp>
      <p:sp>
        <p:nvSpPr>
          <p:cNvPr id="13" name="">
            <a:extLst xmlns:a="http://schemas.openxmlformats.org/drawingml/2006/main">
              <a:ext uri="{FF2B5EF4-FFF2-40B4-BE49-F238E27FC236}">
                <a16:creationId xmlns:a16="http://schemas.microsoft.com/office/drawing/2014/main" id="{314FEDFD-BF9A-4253-AD55-454C844FA929}"/>
              </a:ext>
            </a:extLst>
          </p:cNvPr>
          <p:cNvSpPr>
            <a:spLocks xmlns:a="http://schemas.openxmlformats.org/drawingml/2006/main" noGrp="1"/>
          </p:cNvSpPr>
          <p:nvPr/>
        </p:nvSpPr>
        <p:spPr>
          <a:xfrm xmlns:a="http://schemas.openxmlformats.org/drawingml/2006/main">
            <a:off x="838200" y="550545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17352B"/>
                </a:solidFill>
                <a:latin typeface="Noto Sans"/>
                <a:ea typeface="Noto Sans"/>
                <a:cs typeface="Noto Sans"/>
              </a:defRPr>
            </a:pPr>
            <a:r>
              <a:rPr sz="1500" b="1">
                <a:solidFill>
                  <a:srgbClr val="17352B"/>
                </a:solidFill>
                <a:latin typeface="Noto Sans"/>
                <a:ea typeface="Noto Sans"/>
                <a:cs typeface="Noto Sans"/>
              </a:rPr>
              <a:t>Tổng kiểm sai: bỏ gói và giữ nguyên trạng thái</a:t>
            </a:r>
          </a:p>
        </p:txBody>
      </p:sp>
      <p:sp>
        <p:nvSpPr>
          <p:cNvPr id="14" name="">
            <a:extLst xmlns:a="http://schemas.openxmlformats.org/drawingml/2006/main">
              <a:ext uri="{FF2B5EF4-FFF2-40B4-BE49-F238E27FC236}">
                <a16:creationId xmlns:a16="http://schemas.microsoft.com/office/drawing/2014/main" id="{C0758883-A70D-490F-832E-925F0EC94BD4}"/>
              </a:ext>
            </a:extLst>
          </p:cNvPr>
          <p:cNvSpPr>
            <a:spLocks xmlns:a="http://schemas.openxmlformats.org/drawingml/2006/main" noGrp="1"/>
          </p:cNvSpPr>
          <p:nvPr/>
        </p:nvSpPr>
        <p:spPr>
          <a:xfrm xmlns:a="http://schemas.openxmlformats.org/drawingml/2006/main">
            <a:off x="6286500" y="550545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0F6E41"/>
                </a:solidFill>
                <a:latin typeface="Noto Sans"/>
                <a:ea typeface="Noto Sans"/>
                <a:cs typeface="Noto Sans"/>
              </a:defRPr>
            </a:pPr>
            <a:r>
              <a:rPr sz="1500" b="1">
                <a:solidFill>
                  <a:srgbClr val="0F6E41"/>
                </a:solidFill>
                <a:latin typeface="Noto Sans"/>
                <a:ea typeface="Noto Sans"/>
                <a:cs typeface="Noto Sans"/>
              </a:rPr>
              <a:t>Máy tính gửi yêu cầu kế tiếp sau khi nhận đủ phản hồi</a:t>
            </a:r>
          </a:p>
        </p:txBody>
      </p:sp>
    </p:spTree>
    <p:extLst>
      <p:ext uri="{BB962C8B-B14F-4D97-AF65-F5344CB8AC3E}">
        <p14:creationId xmlns:p14="http://schemas.microsoft.com/office/powerpoint/2010/main" val="926062559"/>
      </p:ext>
    </p:extLst>
  </p:cSld>
</p:sld>
</file>

<file path=ppt/slides/slide11.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E29F81B-A9B3-4DF3-8A09-265C8D052708}"/>
              </a:ext>
            </a:extLst>
          </p:cNvPr>
          <p:cNvSpPr>
            <a:spLocks xmlns:a="http://schemas.openxmlformats.org/drawingml/2006/main" noGrp="1"/>
          </p:cNvSpPr>
          <p:nvPr/>
        </p:nvSpPr>
        <p:spPr>
          <a:xfrm xmlns:a="http://schemas.openxmlformats.org/drawingml/2006/main">
            <a:off x="723900" y="314325"/>
            <a:ext cx="857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352B"/>
                </a:solidFill>
                <a:latin typeface="Noto Sans"/>
                <a:ea typeface="Noto Sans"/>
                <a:cs typeface="Noto Sans"/>
              </a:defRPr>
            </a:pPr>
            <a:r>
              <a:rPr sz="3150" b="1">
                <a:solidFill>
                  <a:srgbClr val="17352B"/>
                </a:solidFill>
                <a:latin typeface="Noto Sans"/>
                <a:ea typeface="Noto Sans"/>
                <a:cs typeface="Noto Sans"/>
              </a:rPr>
              <a:t>Kết quả đánh giá hệ số thích nghi</a:t>
            </a:r>
          </a:p>
        </p:txBody>
      </p:sp>
      <p:sp>
        <p:nvSpPr>
          <p:cNvPr id="2" name="">
            <a:extLst xmlns:a="http://schemas.openxmlformats.org/drawingml/2006/main">
              <a:ext uri="{FF2B5EF4-FFF2-40B4-BE49-F238E27FC236}">
                <a16:creationId xmlns:a16="http://schemas.microsoft.com/office/drawing/2014/main" id="{40315C16-6330-4C42-9F1E-28B69D8CC29A}"/>
              </a:ext>
            </a:extLst>
          </p:cNvPr>
          <p:cNvSpPr>
            <a:spLocks xmlns:a="http://schemas.openxmlformats.org/drawingml/2006/main" noGrp="1"/>
          </p:cNvSpPr>
          <p:nvPr/>
        </p:nvSpPr>
        <p:spPr>
          <a:xfrm xmlns:a="http://schemas.openxmlformats.org/drawingml/2006/main">
            <a:off x="628650" y="1123950"/>
            <a:ext cx="876300" cy="0"/>
          </a:xfrm>
          <a:prstGeom xmlns:a="http://schemas.openxmlformats.org/drawingml/2006/main" prst="line">
            <a:avLst/>
          </a:prstGeom>
          <a:noFill xmlns:a="http://schemas.openxmlformats.org/drawingml/2006/main"/>
          <a:ln xmlns:a="http://schemas.openxmlformats.org/drawingml/2006/main" w="38100">
            <a:solidFill>
              <a:srgbClr val="0F6E41"/>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6dde3fb01ef44e6"/>
          <a:stretch xmlns:a="http://schemas.openxmlformats.org/drawingml/2006/main"/>
        </p:blipFill>
        <p:spPr>
          <a:xfrm xmlns:a="http://schemas.openxmlformats.org/drawingml/2006/main">
            <a:off x="10020300" y="220120"/>
            <a:ext cx="428625" cy="512259"/>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065902cf84247dd"/>
          <a:stretch xmlns:a="http://schemas.openxmlformats.org/drawingml/2006/main"/>
        </p:blipFill>
        <p:spPr>
          <a:xfrm xmlns:a="http://schemas.openxmlformats.org/drawingml/2006/main">
            <a:off x="10687050" y="298596"/>
            <a:ext cx="990600" cy="35530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0143EC5-7025-4D20-855B-262A2F6118BF}"/>
              </a:ext>
            </a:extLst>
          </p:cNvPr>
          <p:cNvSpPr>
            <a:spLocks xmlns:a="http://schemas.openxmlformats.org/drawingml/2006/main" noGrp="1"/>
          </p:cNvSpPr>
          <p:nvPr/>
        </p:nvSpPr>
        <p:spPr>
          <a:xfrm xmlns:a="http://schemas.openxmlformats.org/drawingml/2006/main">
            <a:off x="11372850" y="6486525"/>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1">
                <a:solidFill>
                  <a:srgbClr val="17352B"/>
                </a:solidFill>
                <a:latin typeface="Noto Sans"/>
                <a:ea typeface="Noto Sans"/>
                <a:cs typeface="Noto Sans"/>
              </a:defRPr>
            </a:pPr>
            <a:r>
              <a:rPr sz="1050" b="1">
                <a:solidFill>
                  <a:srgbClr val="17352B"/>
                </a:solidFill>
                <a:latin typeface="Noto Sans"/>
                <a:ea typeface="Noto Sans"/>
                <a:cs typeface="Noto Sans"/>
              </a:rPr>
              <a:t>11</a:t>
            </a:r>
          </a:p>
        </p:txBody>
      </p:sp>
      <p:sp>
        <p:nvSpPr>
          <p:cNvPr id="6" name="">
            <a:extLst xmlns:a="http://schemas.openxmlformats.org/drawingml/2006/main">
              <a:ext uri="{FF2B5EF4-FFF2-40B4-BE49-F238E27FC236}">
                <a16:creationId xmlns:a16="http://schemas.microsoft.com/office/drawing/2014/main" id="{AC5ECB57-5B5D-4514-8465-266697986A7F}"/>
              </a:ext>
            </a:extLst>
          </p:cNvPr>
          <p:cNvSpPr>
            <a:spLocks xmlns:a="http://schemas.openxmlformats.org/drawingml/2006/main" noGrp="1"/>
          </p:cNvSpPr>
          <p:nvPr/>
        </p:nvSpPr>
        <p:spPr>
          <a:xfrm xmlns:a="http://schemas.openxmlformats.org/drawingml/2006/main">
            <a:off x="742950" y="1238250"/>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17352B"/>
                </a:solidFill>
                <a:latin typeface="Noto Sans"/>
                <a:ea typeface="Noto Sans"/>
                <a:cs typeface="Noto Sans"/>
              </a:defRPr>
            </a:pPr>
            <a:r>
              <a:rPr sz="1425" b="0">
                <a:solidFill>
                  <a:srgbClr val="17352B"/>
                </a:solidFill>
                <a:latin typeface="Noto Sans"/>
                <a:ea typeface="Noto Sans"/>
                <a:cs typeface="Noto Sans"/>
              </a:rPr>
              <a:t>415 giờ kiểm định trong 4 đoạn thời gian liên tiếp</a:t>
            </a:r>
          </a:p>
        </p:txBody>
      </p:sp>
      <p:graphicFrame>
        <p:nvGraphicFramePr>
          <p:cNvPr id="15" name=""/>
          <p:cNvGraphicFramePr/>
          <p:nvPr/>
        </p:nvGraphicFramePr>
        <p:xfrm>
          <a:off xmlns:a="http://schemas.openxmlformats.org/drawingml/2006/main" x="647700" y="1790700"/>
          <a:ext xmlns:a="http://schemas.openxmlformats.org/drawingml/2006/main" cx="10896600" cy="3390900"/>
        </p:xfrm>
        <a:graphic xmlns:a="http://schemas.openxmlformats.org/drawingml/2006/main">
          <a:graphicData uri="http://schemas.openxmlformats.org/drawingml/2006/table">
            <a:tbl>
              <a:tblPr/>
              <a:tblGrid>
                <a:gridCol w="714375"/>
                <a:gridCol w="1095375"/>
                <a:gridCol w="1524000"/>
                <a:gridCol w="1905000"/>
                <a:gridCol w="1905000"/>
                <a:gridCol w="2324100"/>
                <a:gridCol w="1428750"/>
              </a:tblGrid>
              <a:tr h="571500">
                <a:tc>
                  <a:txBody>
                    <a:bodyPr anchor="ctr"/>
                    <a:lstStyle/>
                    <a:p>
                      <a:pPr algn="ctr"/>
                      <a:r>
                        <a:rPr lang="vi-VN" sz="1400" b="1">
                          <a:solidFill>
                            <a:srgbClr val="FFFFFF"/>
                          </a:solidFill>
                          <a:latin typeface="Noto Sans"/>
                          <a:ea typeface="Noto Sans"/>
                          <a:cs typeface="Noto Sans"/>
                        </a:rPr>
                        <a:t>S</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ctr"/>
                      <a:r>
                        <a:rPr lang="vi-VN" sz="1400" b="1">
                          <a:solidFill>
                            <a:srgbClr val="FFFFFF"/>
                          </a:solidFill>
                          <a:latin typeface="Noto Sans"/>
                          <a:ea typeface="Noto Sans"/>
                          <a:cs typeface="Noto Sans"/>
                        </a:rPr>
                        <a:t>Alpha</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ctr"/>
                      <a:r>
                        <a:rPr lang="vi-VN" sz="1400" b="1">
                          <a:solidFill>
                            <a:srgbClr val="FFFFFF"/>
                          </a:solidFill>
                          <a:latin typeface="Noto Sans"/>
                          <a:ea typeface="Noto Sans"/>
                          <a:cs typeface="Noto Sans"/>
                        </a:rPr>
                        <a:t>MAE CAMS</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ctr"/>
                      <a:r>
                        <a:rPr lang="vi-VN" sz="1400" b="1">
                          <a:solidFill>
                            <a:srgbClr val="FFFFFF"/>
                          </a:solidFill>
                          <a:latin typeface="Noto Sans"/>
                          <a:ea typeface="Noto Sans"/>
                          <a:cs typeface="Noto Sans"/>
                        </a:rPr>
                        <a:t>MAE hiệu chỉnh</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ctr"/>
                      <a:r>
                        <a:rPr lang="vi-VN" sz="1400" b="1">
                          <a:solidFill>
                            <a:srgbClr val="FFFFFF"/>
                          </a:solidFill>
                          <a:latin typeface="Noto Sans"/>
                          <a:ea typeface="Noto Sans"/>
                          <a:cs typeface="Noto Sans"/>
                        </a:rPr>
                        <a:t>RMSE hiệu chỉnh</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ctr"/>
                      <a:r>
                        <a:rPr lang="vi-VN" sz="1400" b="1">
                          <a:solidFill>
                            <a:srgbClr val="FFFFFF"/>
                          </a:solidFill>
                          <a:latin typeface="Noto Sans"/>
                          <a:ea typeface="Noto Sans"/>
                          <a:cs typeface="Noto Sans"/>
                        </a:rPr>
                        <a:t>Độ lệch chuẩn x16</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c>
                  <a:txBody>
                    <a:bodyPr anchor="ctr"/>
                    <a:lstStyle/>
                    <a:p>
                      <a:pPr algn="ctr"/>
                      <a:r>
                        <a:rPr lang="vi-VN" sz="1400" b="1">
                          <a:solidFill>
                            <a:srgbClr val="FFFFFF"/>
                          </a:solidFill>
                          <a:latin typeface="Noto Sans"/>
                          <a:ea typeface="Noto Sans"/>
                          <a:cs typeface="Noto Sans"/>
                        </a:rPr>
                        <a:t>Bão hòa</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0F6E41"/>
                    </a:solidFill>
                  </a:tcPr>
                </a:tc>
              </a:tr>
              <a:tr h="561975">
                <a:tc>
                  <a:txBody>
                    <a:bodyPr anchor="ctr"/>
                    <a:lstStyle/>
                    <a:p>
                      <a:pPr algn="ctr"/>
                      <a:r>
                        <a:rPr lang="vi-VN" sz="1400">
                          <a:solidFill>
                            <a:srgbClr val="17352B"/>
                          </a:solidFill>
                          <a:latin typeface="Noto Sans"/>
                          <a:ea typeface="Noto Sans"/>
                          <a:cs typeface="Noto Sans"/>
                        </a:rPr>
                        <a:t>2</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400">
                          <a:solidFill>
                            <a:srgbClr val="17352B"/>
                          </a:solidFill>
                          <a:latin typeface="Noto Sans"/>
                          <a:ea typeface="Noto Sans"/>
                          <a:cs typeface="Noto Sans"/>
                        </a:rPr>
                        <a:t>1/4</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400">
                          <a:solidFill>
                            <a:srgbClr val="17352B"/>
                          </a:solidFill>
                          <a:latin typeface="Noto Sans"/>
                          <a:ea typeface="Noto Sans"/>
                          <a:cs typeface="Noto Sans"/>
                        </a:rPr>
                        <a:t>15,8884</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400">
                          <a:solidFill>
                            <a:srgbClr val="17352B"/>
                          </a:solidFill>
                          <a:latin typeface="Noto Sans"/>
                          <a:ea typeface="Noto Sans"/>
                          <a:cs typeface="Noto Sans"/>
                        </a:rPr>
                        <a:t>4,2633</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400">
                          <a:solidFill>
                            <a:srgbClr val="17352B"/>
                          </a:solidFill>
                          <a:latin typeface="Noto Sans"/>
                          <a:ea typeface="Noto Sans"/>
                          <a:cs typeface="Noto Sans"/>
                        </a:rPr>
                        <a:t>6,0729</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400">
                          <a:solidFill>
                            <a:srgbClr val="17352B"/>
                          </a:solidFill>
                          <a:latin typeface="Noto Sans"/>
                          <a:ea typeface="Noto Sans"/>
                          <a:cs typeface="Noto Sans"/>
                        </a:rPr>
                        <a:t>71,23</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400">
                          <a:solidFill>
                            <a:srgbClr val="17352B"/>
                          </a:solidFill>
                          <a:latin typeface="Noto Sans"/>
                          <a:ea typeface="Noto Sans"/>
                          <a:cs typeface="Noto Sans"/>
                        </a:rPr>
                        <a:t>83</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r>
              <a:tr h="561975">
                <a:tc>
                  <a:txBody>
                    <a:bodyPr anchor="ctr"/>
                    <a:lstStyle/>
                    <a:p>
                      <a:pPr algn="ctr"/>
                      <a:r>
                        <a:rPr lang="vi-VN" sz="1400" b="1">
                          <a:solidFill>
                            <a:srgbClr val="0F6E41"/>
                          </a:solidFill>
                          <a:latin typeface="Noto Sans"/>
                          <a:ea typeface="Noto Sans"/>
                          <a:cs typeface="Noto Sans"/>
                        </a:rPr>
                        <a:t>3</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ctr"/>
                      <a:r>
                        <a:rPr lang="vi-VN" sz="1400" b="1">
                          <a:solidFill>
                            <a:srgbClr val="0F6E41"/>
                          </a:solidFill>
                          <a:latin typeface="Noto Sans"/>
                          <a:ea typeface="Noto Sans"/>
                          <a:cs typeface="Noto Sans"/>
                        </a:rPr>
                        <a:t>1/8</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ctr"/>
                      <a:r>
                        <a:rPr lang="vi-VN" sz="1400" b="1">
                          <a:solidFill>
                            <a:srgbClr val="0F6E41"/>
                          </a:solidFill>
                          <a:latin typeface="Noto Sans"/>
                          <a:ea typeface="Noto Sans"/>
                          <a:cs typeface="Noto Sans"/>
                        </a:rPr>
                        <a:t>15,8884</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ctr"/>
                      <a:r>
                        <a:rPr lang="vi-VN" sz="1400" b="1">
                          <a:solidFill>
                            <a:srgbClr val="0F6E41"/>
                          </a:solidFill>
                          <a:latin typeface="Noto Sans"/>
                          <a:ea typeface="Noto Sans"/>
                          <a:cs typeface="Noto Sans"/>
                        </a:rPr>
                        <a:t>4,7259</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ctr"/>
                      <a:r>
                        <a:rPr lang="vi-VN" sz="1400" b="1">
                          <a:solidFill>
                            <a:srgbClr val="0F6E41"/>
                          </a:solidFill>
                          <a:latin typeface="Noto Sans"/>
                          <a:ea typeface="Noto Sans"/>
                          <a:cs typeface="Noto Sans"/>
                        </a:rPr>
                        <a:t>6,7801</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ctr"/>
                      <a:r>
                        <a:rPr lang="vi-VN" sz="1400" b="1">
                          <a:solidFill>
                            <a:srgbClr val="0F6E41"/>
                          </a:solidFill>
                          <a:latin typeface="Noto Sans"/>
                          <a:ea typeface="Noto Sans"/>
                          <a:cs typeface="Noto Sans"/>
                        </a:rPr>
                        <a:t>51,75</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ctr"/>
                      <a:r>
                        <a:rPr lang="vi-VN" sz="1400" b="1">
                          <a:solidFill>
                            <a:srgbClr val="0F6E41"/>
                          </a:solidFill>
                          <a:latin typeface="Noto Sans"/>
                          <a:ea typeface="Noto Sans"/>
                          <a:cs typeface="Noto Sans"/>
                        </a:rPr>
                        <a:t>100</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r>
              <a:tr h="561975">
                <a:tc>
                  <a:txBody>
                    <a:bodyPr anchor="ctr"/>
                    <a:lstStyle/>
                    <a:p>
                      <a:pPr algn="ctr"/>
                      <a:r>
                        <a:rPr lang="vi-VN" sz="1400">
                          <a:solidFill>
                            <a:srgbClr val="17352B"/>
                          </a:solidFill>
                          <a:latin typeface="Noto Sans"/>
                          <a:ea typeface="Noto Sans"/>
                          <a:cs typeface="Noto Sans"/>
                        </a:rPr>
                        <a:t>4</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400">
                          <a:solidFill>
                            <a:srgbClr val="17352B"/>
                          </a:solidFill>
                          <a:latin typeface="Noto Sans"/>
                          <a:ea typeface="Noto Sans"/>
                          <a:cs typeface="Noto Sans"/>
                        </a:rPr>
                        <a:t>1/16</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400">
                          <a:solidFill>
                            <a:srgbClr val="17352B"/>
                          </a:solidFill>
                          <a:latin typeface="Noto Sans"/>
                          <a:ea typeface="Noto Sans"/>
                          <a:cs typeface="Noto Sans"/>
                        </a:rPr>
                        <a:t>15,8884</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400">
                          <a:solidFill>
                            <a:srgbClr val="17352B"/>
                          </a:solidFill>
                          <a:latin typeface="Noto Sans"/>
                          <a:ea typeface="Noto Sans"/>
                          <a:cs typeface="Noto Sans"/>
                        </a:rPr>
                        <a:t>4,9440</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400">
                          <a:solidFill>
                            <a:srgbClr val="17352B"/>
                          </a:solidFill>
                          <a:latin typeface="Noto Sans"/>
                          <a:ea typeface="Noto Sans"/>
                          <a:cs typeface="Noto Sans"/>
                        </a:rPr>
                        <a:t>7,1817</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400">
                          <a:solidFill>
                            <a:srgbClr val="17352B"/>
                          </a:solidFill>
                          <a:latin typeface="Noto Sans"/>
                          <a:ea typeface="Noto Sans"/>
                          <a:cs typeface="Noto Sans"/>
                        </a:rPr>
                        <a:t>36,46</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400">
                          <a:solidFill>
                            <a:srgbClr val="17352B"/>
                          </a:solidFill>
                          <a:latin typeface="Noto Sans"/>
                          <a:ea typeface="Noto Sans"/>
                          <a:cs typeface="Noto Sans"/>
                        </a:rPr>
                        <a:t>110</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r>
              <a:tr h="561975">
                <a:tc>
                  <a:txBody>
                    <a:bodyPr anchor="ctr"/>
                    <a:lstStyle/>
                    <a:p>
                      <a:pPr algn="ctr"/>
                      <a:r>
                        <a:rPr lang="vi-VN" sz="1400">
                          <a:solidFill>
                            <a:srgbClr val="17352B"/>
                          </a:solidFill>
                          <a:latin typeface="Noto Sans"/>
                          <a:ea typeface="Noto Sans"/>
                          <a:cs typeface="Noto Sans"/>
                        </a:rPr>
                        <a:t>5</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ctr"/>
                      <a:r>
                        <a:rPr lang="vi-VN" sz="1400">
                          <a:solidFill>
                            <a:srgbClr val="17352B"/>
                          </a:solidFill>
                          <a:latin typeface="Noto Sans"/>
                          <a:ea typeface="Noto Sans"/>
                          <a:cs typeface="Noto Sans"/>
                        </a:rPr>
                        <a:t>1/32</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ctr"/>
                      <a:r>
                        <a:rPr lang="vi-VN" sz="1400">
                          <a:solidFill>
                            <a:srgbClr val="17352B"/>
                          </a:solidFill>
                          <a:latin typeface="Noto Sans"/>
                          <a:ea typeface="Noto Sans"/>
                          <a:cs typeface="Noto Sans"/>
                        </a:rPr>
                        <a:t>15,8884</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ctr"/>
                      <a:r>
                        <a:rPr lang="vi-VN" sz="1400">
                          <a:solidFill>
                            <a:srgbClr val="17352B"/>
                          </a:solidFill>
                          <a:latin typeface="Noto Sans"/>
                          <a:ea typeface="Noto Sans"/>
                          <a:cs typeface="Noto Sans"/>
                        </a:rPr>
                        <a:t>5,3190</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ctr"/>
                      <a:r>
                        <a:rPr lang="vi-VN" sz="1400">
                          <a:solidFill>
                            <a:srgbClr val="17352B"/>
                          </a:solidFill>
                          <a:latin typeface="Noto Sans"/>
                          <a:ea typeface="Noto Sans"/>
                          <a:cs typeface="Noto Sans"/>
                        </a:rPr>
                        <a:t>7,4608</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ctr"/>
                      <a:r>
                        <a:rPr lang="vi-VN" sz="1400">
                          <a:solidFill>
                            <a:srgbClr val="17352B"/>
                          </a:solidFill>
                          <a:latin typeface="Noto Sans"/>
                          <a:ea typeface="Noto Sans"/>
                          <a:cs typeface="Noto Sans"/>
                        </a:rPr>
                        <a:t>26,64</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c>
                  <a:txBody>
                    <a:bodyPr anchor="ctr"/>
                    <a:lstStyle/>
                    <a:p>
                      <a:pPr algn="ctr"/>
                      <a:r>
                        <a:rPr lang="vi-VN" sz="1400">
                          <a:solidFill>
                            <a:srgbClr val="17352B"/>
                          </a:solidFill>
                          <a:latin typeface="Noto Sans"/>
                          <a:ea typeface="Noto Sans"/>
                          <a:cs typeface="Noto Sans"/>
                        </a:rPr>
                        <a:t>129</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EAF5EF"/>
                    </a:solidFill>
                  </a:tcPr>
                </a:tc>
              </a:tr>
              <a:tr h="561975">
                <a:tc>
                  <a:txBody>
                    <a:bodyPr anchor="ctr"/>
                    <a:lstStyle/>
                    <a:p>
                      <a:pPr algn="ctr"/>
                      <a:r>
                        <a:rPr lang="vi-VN" sz="1400">
                          <a:solidFill>
                            <a:srgbClr val="17352B"/>
                          </a:solidFill>
                          <a:latin typeface="Noto Sans"/>
                          <a:ea typeface="Noto Sans"/>
                          <a:cs typeface="Noto Sans"/>
                        </a:rPr>
                        <a:t>6</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400">
                          <a:solidFill>
                            <a:srgbClr val="17352B"/>
                          </a:solidFill>
                          <a:latin typeface="Noto Sans"/>
                          <a:ea typeface="Noto Sans"/>
                          <a:cs typeface="Noto Sans"/>
                        </a:rPr>
                        <a:t>1/64</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400">
                          <a:solidFill>
                            <a:srgbClr val="17352B"/>
                          </a:solidFill>
                          <a:latin typeface="Noto Sans"/>
                          <a:ea typeface="Noto Sans"/>
                          <a:cs typeface="Noto Sans"/>
                        </a:rPr>
                        <a:t>15,8884</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400">
                          <a:solidFill>
                            <a:srgbClr val="17352B"/>
                          </a:solidFill>
                          <a:latin typeface="Noto Sans"/>
                          <a:ea typeface="Noto Sans"/>
                          <a:cs typeface="Noto Sans"/>
                        </a:rPr>
                        <a:t>6,0211</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400">
                          <a:solidFill>
                            <a:srgbClr val="17352B"/>
                          </a:solidFill>
                          <a:latin typeface="Noto Sans"/>
                          <a:ea typeface="Noto Sans"/>
                          <a:cs typeface="Noto Sans"/>
                        </a:rPr>
                        <a:t>7,9180</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400">
                          <a:solidFill>
                            <a:srgbClr val="17352B"/>
                          </a:solidFill>
                          <a:latin typeface="Noto Sans"/>
                          <a:ea typeface="Noto Sans"/>
                          <a:cs typeface="Noto Sans"/>
                        </a:rPr>
                        <a:t>18,63</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c>
                  <a:txBody>
                    <a:bodyPr anchor="ctr"/>
                    <a:lstStyle/>
                    <a:p>
                      <a:pPr algn="ctr"/>
                      <a:r>
                        <a:rPr lang="vi-VN" sz="1400">
                          <a:solidFill>
                            <a:srgbClr val="17352B"/>
                          </a:solidFill>
                          <a:latin typeface="Noto Sans"/>
                          <a:ea typeface="Noto Sans"/>
                          <a:cs typeface="Noto Sans"/>
                        </a:rPr>
                        <a:t>215</a:t>
                      </a:r>
                    </a:p>
                  </a:txBody>
                  <a:tcPr marL="91440" marR="91440" marT="45720" marB="45720">
                    <a:lnL w="12700">
                      <a:solidFill>
                        <a:srgbClr val="C8D8CF"/>
                      </a:solidFill>
                      <a:prstDash val="solid"/>
                    </a:lnL>
                    <a:lnR w="12700">
                      <a:solidFill>
                        <a:srgbClr val="C8D8CF"/>
                      </a:solidFill>
                      <a:prstDash val="solid"/>
                    </a:lnR>
                    <a:lnT w="12700">
                      <a:solidFill>
                        <a:srgbClr val="C8D8CF"/>
                      </a:solidFill>
                      <a:prstDash val="solid"/>
                    </a:lnT>
                    <a:lnB w="12700">
                      <a:solidFill>
                        <a:srgbClr val="C8D8CF"/>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6BE76425-4CC6-4E45-B66C-74B746CA2D2D}"/>
              </a:ext>
            </a:extLst>
          </p:cNvPr>
          <p:cNvSpPr>
            <a:spLocks xmlns:a="http://schemas.openxmlformats.org/drawingml/2006/main" noGrp="1"/>
          </p:cNvSpPr>
          <p:nvPr/>
        </p:nvSpPr>
        <p:spPr>
          <a:xfrm xmlns:a="http://schemas.openxmlformats.org/drawingml/2006/main">
            <a:off x="1162050" y="5600700"/>
            <a:ext cx="9867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0F6E41"/>
                </a:solidFill>
                <a:latin typeface="Noto Sans"/>
                <a:ea typeface="Noto Sans"/>
                <a:cs typeface="Noto Sans"/>
              </a:defRPr>
            </a:pPr>
            <a:r>
              <a:rPr sz="1500" b="1">
                <a:solidFill>
                  <a:srgbClr val="0F6E41"/>
                </a:solidFill>
                <a:latin typeface="Noto Sans"/>
                <a:ea typeface="Noto Sans"/>
                <a:cs typeface="Noto Sans"/>
              </a:rPr>
              <a:t>Phiên bản IP v1 dùng S = 3. S = 2 cho MAE thấp hơn và độ biến động trạng thái lớn hơn trên tập kiểm định này.</a:t>
            </a:r>
          </a:p>
        </p:txBody>
      </p:sp>
    </p:spTree>
    <p:extLst>
      <p:ext uri="{BB962C8B-B14F-4D97-AF65-F5344CB8AC3E}">
        <p14:creationId xmlns:p14="http://schemas.microsoft.com/office/powerpoint/2010/main" val="948222338"/>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C85DA6F-37CE-4207-8752-9A5352850DA9}"/>
              </a:ext>
            </a:extLst>
          </p:cNvPr>
          <p:cNvSpPr>
            <a:spLocks xmlns:a="http://schemas.openxmlformats.org/drawingml/2006/main" noGrp="1"/>
          </p:cNvSpPr>
          <p:nvPr/>
        </p:nvSpPr>
        <p:spPr>
          <a:xfrm xmlns:a="http://schemas.openxmlformats.org/drawingml/2006/main">
            <a:off x="723900" y="314325"/>
            <a:ext cx="857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352B"/>
                </a:solidFill>
                <a:latin typeface="Noto Sans"/>
                <a:ea typeface="Noto Sans"/>
                <a:cs typeface="Noto Sans"/>
              </a:defRPr>
            </a:pPr>
            <a:r>
              <a:rPr sz="3150" b="1">
                <a:solidFill>
                  <a:srgbClr val="17352B"/>
                </a:solidFill>
                <a:latin typeface="Noto Sans"/>
                <a:ea typeface="Noto Sans"/>
                <a:cs typeface="Noto Sans"/>
              </a:rPr>
              <a:t>Phạm vi bằng chứng và giới hạn kỹ thuật</a:t>
            </a:r>
          </a:p>
        </p:txBody>
      </p:sp>
      <p:sp>
        <p:nvSpPr>
          <p:cNvPr id="2" name="">
            <a:extLst xmlns:a="http://schemas.openxmlformats.org/drawingml/2006/main">
              <a:ext uri="{FF2B5EF4-FFF2-40B4-BE49-F238E27FC236}">
                <a16:creationId xmlns:a16="http://schemas.microsoft.com/office/drawing/2014/main" id="{85179C69-58B7-4F24-B51D-934BEDE5155F}"/>
              </a:ext>
            </a:extLst>
          </p:cNvPr>
          <p:cNvSpPr>
            <a:spLocks xmlns:a="http://schemas.openxmlformats.org/drawingml/2006/main" noGrp="1"/>
          </p:cNvSpPr>
          <p:nvPr/>
        </p:nvSpPr>
        <p:spPr>
          <a:xfrm xmlns:a="http://schemas.openxmlformats.org/drawingml/2006/main">
            <a:off x="628650" y="1123950"/>
            <a:ext cx="876300" cy="0"/>
          </a:xfrm>
          <a:prstGeom xmlns:a="http://schemas.openxmlformats.org/drawingml/2006/main" prst="line">
            <a:avLst/>
          </a:prstGeom>
          <a:noFill xmlns:a="http://schemas.openxmlformats.org/drawingml/2006/main"/>
          <a:ln xmlns:a="http://schemas.openxmlformats.org/drawingml/2006/main" w="38100">
            <a:solidFill>
              <a:srgbClr val="0F6E41"/>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d15d9f963bd44ba"/>
          <a:stretch xmlns:a="http://schemas.openxmlformats.org/drawingml/2006/main"/>
        </p:blipFill>
        <p:spPr>
          <a:xfrm xmlns:a="http://schemas.openxmlformats.org/drawingml/2006/main">
            <a:off x="10020300" y="220120"/>
            <a:ext cx="428625" cy="512259"/>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8663e1e597b4faa"/>
          <a:stretch xmlns:a="http://schemas.openxmlformats.org/drawingml/2006/main"/>
        </p:blipFill>
        <p:spPr>
          <a:xfrm xmlns:a="http://schemas.openxmlformats.org/drawingml/2006/main">
            <a:off x="10687050" y="298596"/>
            <a:ext cx="990600" cy="35530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AF97FAE-4FC5-4ACC-B918-DE49CF69ACA6}"/>
              </a:ext>
            </a:extLst>
          </p:cNvPr>
          <p:cNvSpPr>
            <a:spLocks xmlns:a="http://schemas.openxmlformats.org/drawingml/2006/main" noGrp="1"/>
          </p:cNvSpPr>
          <p:nvPr/>
        </p:nvSpPr>
        <p:spPr>
          <a:xfrm xmlns:a="http://schemas.openxmlformats.org/drawingml/2006/main">
            <a:off x="11372850" y="6486525"/>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1">
                <a:solidFill>
                  <a:srgbClr val="17352B"/>
                </a:solidFill>
                <a:latin typeface="Noto Sans"/>
                <a:ea typeface="Noto Sans"/>
                <a:cs typeface="Noto Sans"/>
              </a:defRPr>
            </a:pPr>
            <a:r>
              <a:rPr sz="1050" b="1">
                <a:solidFill>
                  <a:srgbClr val="17352B"/>
                </a:solidFill>
                <a:latin typeface="Noto Sans"/>
                <a:ea typeface="Noto Sans"/>
                <a:cs typeface="Noto Sans"/>
              </a:rPr>
              <a:t>12</a:t>
            </a:r>
          </a:p>
        </p:txBody>
      </p:sp>
      <p:sp>
        <p:nvSpPr>
          <p:cNvPr id="6" name="">
            <a:extLst xmlns:a="http://schemas.openxmlformats.org/drawingml/2006/main">
              <a:ext uri="{FF2B5EF4-FFF2-40B4-BE49-F238E27FC236}">
                <a16:creationId xmlns:a16="http://schemas.microsoft.com/office/drawing/2014/main" id="{D4A930C6-AAD0-40D5-A7C3-1822C1418029}"/>
              </a:ext>
            </a:extLst>
          </p:cNvPr>
          <p:cNvSpPr>
            <a:spLocks xmlns:a="http://schemas.openxmlformats.org/drawingml/2006/main" noGrp="1"/>
          </p:cNvSpPr>
          <p:nvPr/>
        </p:nvSpPr>
        <p:spPr>
          <a:xfrm xmlns:a="http://schemas.openxmlformats.org/drawingml/2006/main">
            <a:off x="971550" y="1504950"/>
            <a:ext cx="400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F6E41"/>
                </a:solidFill>
                <a:latin typeface="Noto Sans"/>
                <a:ea typeface="Noto Sans"/>
                <a:cs typeface="Noto Sans"/>
              </a:defRPr>
            </a:pPr>
            <a:r>
              <a:rPr sz="2175" b="1">
                <a:solidFill>
                  <a:srgbClr val="0F6E41"/>
                </a:solidFill>
                <a:latin typeface="Noto Sans"/>
                <a:ea typeface="Noto Sans"/>
                <a:cs typeface="Noto Sans"/>
              </a:rPr>
              <a:t>Bằng chứng hiện có</a:t>
            </a:r>
          </a:p>
        </p:txBody>
      </p:sp>
      <p:sp>
        <p:nvSpPr>
          <p:cNvPr id="7" name="">
            <a:extLst xmlns:a="http://schemas.openxmlformats.org/drawingml/2006/main">
              <a:ext uri="{FF2B5EF4-FFF2-40B4-BE49-F238E27FC236}">
                <a16:creationId xmlns:a16="http://schemas.microsoft.com/office/drawing/2014/main" id="{DB4B7A74-32BB-4CDA-A1E4-F27C4AE748D5}"/>
              </a:ext>
            </a:extLst>
          </p:cNvPr>
          <p:cNvSpPr>
            <a:spLocks xmlns:a="http://schemas.openxmlformats.org/drawingml/2006/main" noGrp="1"/>
          </p:cNvSpPr>
          <p:nvPr/>
        </p:nvSpPr>
        <p:spPr>
          <a:xfrm xmlns:a="http://schemas.openxmlformats.org/drawingml/2006/main">
            <a:off x="990600" y="2247900"/>
            <a:ext cx="4762500" cy="2905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0">
                <a:solidFill>
                  <a:srgbClr val="17352B"/>
                </a:solidFill>
                <a:latin typeface="Noto Sans"/>
                <a:ea typeface="Noto Sans"/>
                <a:cs typeface="Noto Sans"/>
              </a:defRPr>
            </a:pPr>
            <a:r>
              <a:rPr sz="1650" b="0">
                <a:solidFill>
                  <a:srgbClr val="17352B"/>
                </a:solidFill>
                <a:latin typeface="Noto Sans"/>
                <a:ea typeface="Noto Sans"/>
                <a:cs typeface="Noto Sans"/>
              </a:rPr>
              <a:t>Mô hình và lõi RTL khớp trên 18 vector, 941 mẫu</a:t>
            </a:r>
          </a:p>
          <a:p xmlns:a="http://schemas.openxmlformats.org/drawingml/2006/main">
            <a:r>
              <a:t/>
            </a:r>
          </a:p>
          <a:p xmlns:a="http://schemas.openxmlformats.org/drawingml/2006/main">
            <a:pPr algn="l">
              <a:lnSpc>
                <a:spcPct val="108000"/>
              </a:lnSpc>
              <a:buNone/>
              <a:defRPr sz="1650" b="0">
                <a:solidFill>
                  <a:srgbClr val="17352B"/>
                </a:solidFill>
                <a:latin typeface="Noto Sans"/>
                <a:ea typeface="Noto Sans"/>
                <a:cs typeface="Noto Sans"/>
              </a:defRPr>
            </a:pPr>
            <a:r>
              <a:rPr sz="1650" b="0">
                <a:solidFill>
                  <a:srgbClr val="17352B"/>
                </a:solidFill>
                <a:latin typeface="Noto Sans"/>
                <a:ea typeface="Noto Sans"/>
                <a:cs typeface="Noto Sans"/>
              </a:rPr>
              <a:t>APB3 đạt 89 giao dịch, 325 phép kiểm trong mô phỏng RTL</a:t>
            </a:r>
          </a:p>
          <a:p xmlns:a="http://schemas.openxmlformats.org/drawingml/2006/main">
            <a:r>
              <a:t/>
            </a:r>
          </a:p>
          <a:p xmlns:a="http://schemas.openxmlformats.org/drawingml/2006/main">
            <a:pPr algn="l">
              <a:lnSpc>
                <a:spcPct val="108000"/>
              </a:lnSpc>
              <a:buNone/>
              <a:defRPr sz="1650" b="0">
                <a:solidFill>
                  <a:srgbClr val="17352B"/>
                </a:solidFill>
                <a:latin typeface="Noto Sans"/>
                <a:ea typeface="Noto Sans"/>
                <a:cs typeface="Noto Sans"/>
              </a:defRPr>
            </a:pPr>
            <a:r>
              <a:rPr sz="1650" b="0">
                <a:solidFill>
                  <a:srgbClr val="17352B"/>
                </a:solidFill>
                <a:latin typeface="Noto Sans"/>
                <a:ea typeface="Noto Sans"/>
                <a:cs typeface="Noto Sans"/>
              </a:rPr>
              <a:t>Cấu hình UART đạt timing tại 27 MHz và tạo được bitstream</a:t>
            </a:r>
          </a:p>
          <a:p xmlns:a="http://schemas.openxmlformats.org/drawingml/2006/main">
            <a:r>
              <a:t/>
            </a:r>
          </a:p>
          <a:p xmlns:a="http://schemas.openxmlformats.org/drawingml/2006/main">
            <a:pPr algn="l">
              <a:lnSpc>
                <a:spcPct val="108000"/>
              </a:lnSpc>
              <a:buNone/>
              <a:defRPr sz="1650" b="0">
                <a:solidFill>
                  <a:srgbClr val="17352B"/>
                </a:solidFill>
                <a:latin typeface="Noto Sans"/>
                <a:ea typeface="Noto Sans"/>
                <a:cs typeface="Noto Sans"/>
              </a:defRPr>
            </a:pPr>
            <a:r>
              <a:rPr sz="1650" b="0">
                <a:solidFill>
                  <a:srgbClr val="17352B"/>
                </a:solidFill>
                <a:latin typeface="Noto Sans"/>
                <a:ea typeface="Noto Sans"/>
                <a:cs typeface="Noto Sans"/>
              </a:rPr>
              <a:t>140 phản hồi UART khớp trên Tang Nano 9K</a:t>
            </a:r>
          </a:p>
        </p:txBody>
      </p:sp>
      <p:sp>
        <p:nvSpPr>
          <p:cNvPr id="8" name="">
            <a:extLst xmlns:a="http://schemas.openxmlformats.org/drawingml/2006/main">
              <a:ext uri="{FF2B5EF4-FFF2-40B4-BE49-F238E27FC236}">
                <a16:creationId xmlns:a16="http://schemas.microsoft.com/office/drawing/2014/main" id="{8633A42C-3F6F-4EC8-9E90-4817DE83B7B1}"/>
              </a:ext>
            </a:extLst>
          </p:cNvPr>
          <p:cNvSpPr>
            <a:spLocks xmlns:a="http://schemas.openxmlformats.org/drawingml/2006/main" noGrp="1"/>
          </p:cNvSpPr>
          <p:nvPr/>
        </p:nvSpPr>
        <p:spPr>
          <a:xfrm xmlns:a="http://schemas.openxmlformats.org/drawingml/2006/main">
            <a:off x="6096000" y="1466850"/>
            <a:ext cx="0" cy="4000500"/>
          </a:xfrm>
          <a:prstGeom xmlns:a="http://schemas.openxmlformats.org/drawingml/2006/main" prst="line">
            <a:avLst/>
          </a:prstGeom>
          <a:noFill xmlns:a="http://schemas.openxmlformats.org/drawingml/2006/main"/>
          <a:ln xmlns:a="http://schemas.openxmlformats.org/drawingml/2006/main" w="14288">
            <a:solidFill>
              <a:srgbClr val="C8D8CF"/>
            </a:solidFill>
            <a:prstDash val="solid"/>
          </a:ln>
        </p:spPr>
      </p:sp>
      <p:sp>
        <p:nvSpPr>
          <p:cNvPr id="9" name="">
            <a:extLst xmlns:a="http://schemas.openxmlformats.org/drawingml/2006/main">
              <a:ext uri="{FF2B5EF4-FFF2-40B4-BE49-F238E27FC236}">
                <a16:creationId xmlns:a16="http://schemas.microsoft.com/office/drawing/2014/main" id="{2A58B396-64D7-4749-853E-BE2802536A17}"/>
              </a:ext>
            </a:extLst>
          </p:cNvPr>
          <p:cNvSpPr>
            <a:spLocks xmlns:a="http://schemas.openxmlformats.org/drawingml/2006/main" noGrp="1"/>
          </p:cNvSpPr>
          <p:nvPr/>
        </p:nvSpPr>
        <p:spPr>
          <a:xfrm xmlns:a="http://schemas.openxmlformats.org/drawingml/2006/main">
            <a:off x="6953250" y="1504950"/>
            <a:ext cx="400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D79B2D"/>
                </a:solidFill>
                <a:latin typeface="Noto Sans"/>
                <a:ea typeface="Noto Sans"/>
                <a:cs typeface="Noto Sans"/>
              </a:defRPr>
            </a:pPr>
            <a:r>
              <a:rPr sz="2175" b="1">
                <a:solidFill>
                  <a:srgbClr val="D79B2D"/>
                </a:solidFill>
                <a:latin typeface="Noto Sans"/>
                <a:ea typeface="Noto Sans"/>
                <a:cs typeface="Noto Sans"/>
              </a:rPr>
              <a:t>Giới hạn công bố</a:t>
            </a:r>
          </a:p>
        </p:txBody>
      </p:sp>
      <p:sp>
        <p:nvSpPr>
          <p:cNvPr id="10" name="">
            <a:extLst xmlns:a="http://schemas.openxmlformats.org/drawingml/2006/main">
              <a:ext uri="{FF2B5EF4-FFF2-40B4-BE49-F238E27FC236}">
                <a16:creationId xmlns:a16="http://schemas.microsoft.com/office/drawing/2014/main" id="{549F3774-774F-4A6F-BB3D-11926BD53E03}"/>
              </a:ext>
            </a:extLst>
          </p:cNvPr>
          <p:cNvSpPr>
            <a:spLocks xmlns:a="http://schemas.openxmlformats.org/drawingml/2006/main" noGrp="1"/>
          </p:cNvSpPr>
          <p:nvPr/>
        </p:nvSpPr>
        <p:spPr>
          <a:xfrm xmlns:a="http://schemas.openxmlformats.org/drawingml/2006/main">
            <a:off x="6972300" y="2247900"/>
            <a:ext cx="4286250" cy="2905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0">
                <a:solidFill>
                  <a:srgbClr val="17352B"/>
                </a:solidFill>
                <a:latin typeface="Noto Sans"/>
                <a:ea typeface="Noto Sans"/>
                <a:cs typeface="Noto Sans"/>
              </a:defRPr>
            </a:pPr>
            <a:r>
              <a:rPr sz="1650" b="0">
                <a:solidFill>
                  <a:srgbClr val="17352B"/>
                </a:solidFill>
                <a:latin typeface="Noto Sans"/>
                <a:ea typeface="Noto Sans"/>
                <a:cs typeface="Noto Sans"/>
              </a:rPr>
              <a:t>APB3 chưa có kết quả Gowin, timing, tài nguyên hoặc kiểm chứng bo mạch</a:t>
            </a:r>
          </a:p>
          <a:p xmlns:a="http://schemas.openxmlformats.org/drawingml/2006/main">
            <a:r>
              <a:t/>
            </a:r>
          </a:p>
          <a:p xmlns:a="http://schemas.openxmlformats.org/drawingml/2006/main">
            <a:pPr algn="l">
              <a:lnSpc>
                <a:spcPct val="108000"/>
              </a:lnSpc>
              <a:buNone/>
              <a:defRPr sz="1650" b="0">
                <a:solidFill>
                  <a:srgbClr val="17352B"/>
                </a:solidFill>
                <a:latin typeface="Noto Sans"/>
                <a:ea typeface="Noto Sans"/>
                <a:cs typeface="Noto Sans"/>
              </a:defRPr>
            </a:pPr>
            <a:r>
              <a:rPr sz="1650" b="0">
                <a:solidFill>
                  <a:srgbClr val="17352B"/>
                </a:solidFill>
                <a:latin typeface="Noto Sans"/>
                <a:ea typeface="Noto Sans"/>
                <a:cs typeface="Noto Sans"/>
              </a:rPr>
              <a:t>Kiểm chứng UART có chủ đích, không phải bao phủ hình thức toàn bộ</a:t>
            </a:r>
          </a:p>
          <a:p xmlns:a="http://schemas.openxmlformats.org/drawingml/2006/main">
            <a:r>
              <a:t/>
            </a:r>
          </a:p>
          <a:p xmlns:a="http://schemas.openxmlformats.org/drawingml/2006/main">
            <a:pPr algn="l">
              <a:lnSpc>
                <a:spcPct val="108000"/>
              </a:lnSpc>
              <a:buNone/>
              <a:defRPr sz="1650" b="0">
                <a:solidFill>
                  <a:srgbClr val="17352B"/>
                </a:solidFill>
                <a:latin typeface="Noto Sans"/>
                <a:ea typeface="Noto Sans"/>
                <a:cs typeface="Noto Sans"/>
              </a:defRPr>
            </a:pPr>
            <a:r>
              <a:rPr sz="1650" b="0">
                <a:solidFill>
                  <a:srgbClr val="17352B"/>
                </a:solidFill>
                <a:latin typeface="Noto Sans"/>
                <a:ea typeface="Noto Sans"/>
                <a:cs typeface="Noto Sans"/>
              </a:rPr>
              <a:t>PurpleAir không phải thiết bị đo chuẩn quy định</a:t>
            </a:r>
          </a:p>
          <a:p xmlns:a="http://schemas.openxmlformats.org/drawingml/2006/main">
            <a:r>
              <a:t/>
            </a:r>
          </a:p>
          <a:p xmlns:a="http://schemas.openxmlformats.org/drawingml/2006/main">
            <a:pPr algn="l">
              <a:lnSpc>
                <a:spcPct val="108000"/>
              </a:lnSpc>
              <a:buNone/>
              <a:defRPr sz="1650" b="0">
                <a:solidFill>
                  <a:srgbClr val="17352B"/>
                </a:solidFill>
                <a:latin typeface="Noto Sans"/>
                <a:ea typeface="Noto Sans"/>
                <a:cs typeface="Noto Sans"/>
              </a:defRPr>
            </a:pPr>
            <a:r>
              <a:rPr sz="1650" b="0">
                <a:solidFill>
                  <a:srgbClr val="17352B"/>
                </a:solidFill>
                <a:latin typeface="Noto Sans"/>
                <a:ea typeface="Noto Sans"/>
                <a:cs typeface="Noto Sans"/>
              </a:rPr>
              <a:t>Dữ liệu 10 phút bao phủ khoảng sáu tuần; CAMS thiếu tổng cộng 1.056 giờ</a:t>
            </a:r>
          </a:p>
        </p:txBody>
      </p:sp>
      <p:sp>
        <p:nvSpPr>
          <p:cNvPr id="11" name="">
            <a:extLst xmlns:a="http://schemas.openxmlformats.org/drawingml/2006/main">
              <a:ext uri="{FF2B5EF4-FFF2-40B4-BE49-F238E27FC236}">
                <a16:creationId xmlns:a16="http://schemas.microsoft.com/office/drawing/2014/main" id="{FD3EECD3-50D5-459A-90A3-5195FE3D6122}"/>
              </a:ext>
            </a:extLst>
          </p:cNvPr>
          <p:cNvSpPr>
            <a:spLocks xmlns:a="http://schemas.openxmlformats.org/drawingml/2006/main" noGrp="1"/>
          </p:cNvSpPr>
          <p:nvPr/>
        </p:nvSpPr>
        <p:spPr>
          <a:xfrm xmlns:a="http://schemas.openxmlformats.org/drawingml/2006/main">
            <a:off x="2343150" y="5829300"/>
            <a:ext cx="7505700" cy="514350"/>
          </a:xfrm>
          <a:prstGeom xmlns:a="http://schemas.openxmlformats.org/drawingml/2006/main" prst="roundRect">
            <a:avLst>
              <a:gd name="adj" fmla="val 25926"/>
            </a:avLst>
          </a:prstGeom>
          <a:solidFill xmlns:a="http://schemas.openxmlformats.org/drawingml/2006/main">
            <a:srgbClr val="FFFFFF"/>
          </a:solidFill>
          <a:ln xmlns:a="http://schemas.openxmlformats.org/drawingml/2006/main" w="19050">
            <a:solidFill>
              <a:srgbClr val="0F6E41"/>
            </a:solidFill>
            <a:prstDash val="solid"/>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500" b="1">
                <a:solidFill>
                  <a:srgbClr val="0F6E41"/>
                </a:solidFill>
                <a:latin typeface="Noto Sans"/>
                <a:ea typeface="Noto Sans"/>
                <a:cs typeface="Noto Sans"/>
              </a:defRPr>
            </a:pPr>
            <a:r>
              <a:rPr sz="1500" b="1">
                <a:solidFill>
                  <a:srgbClr val="0F6E41"/>
                </a:solidFill>
                <a:latin typeface="Noto Sans"/>
                <a:ea typeface="Noto Sans"/>
                <a:cs typeface="Noto Sans"/>
              </a:rPr>
              <a:t>Kết luận chỉ áp dụng trong phạm vi dữ liệu và các ca kiểm thử đã công bố</a:t>
            </a:r>
          </a:p>
        </p:txBody>
      </p:sp>
    </p:spTree>
    <p:extLst>
      <p:ext uri="{BB962C8B-B14F-4D97-AF65-F5344CB8AC3E}">
        <p14:creationId xmlns:p14="http://schemas.microsoft.com/office/powerpoint/2010/main" val="12052778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2026-09-09T17:10:32.8830000Z</dcterms:created>
  <dcterms:modified xsi:type="dcterms:W3CDTF">2026-09-09T17:10:32.8830000Z</dcterms:modified>
</coreProperties>
</file>