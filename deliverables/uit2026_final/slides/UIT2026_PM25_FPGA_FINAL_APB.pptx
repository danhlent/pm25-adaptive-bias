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a37816e3c5426f" /><Relationship Type="http://schemas.openxmlformats.org/officeDocument/2006/relationships/extended-properties" Target="/docProps/app.xml" Id="R3c34ebc5a202442b" /><Relationship Type="http://schemas.openxmlformats.org/officeDocument/2006/relationships/officeDocument" Target="/ppt/presentation.xml" Id="R9d27e5669d6949e4" /></Relationships>
</file>

<file path=ppt/presentation.xml><?xml version="1.0" encoding="utf-8"?>
<p:presentation xmlns:p="http://schemas.openxmlformats.org/presentationml/2006/main">
  <p:sldMasterIdLst>
    <p:sldMasterId xmlns:r="http://schemas.openxmlformats.org/officeDocument/2006/relationships" id="2147483648" r:id="R11af893a36b44590"/>
  </p:sldMasterIdLst>
  <p:notesMasterIdLst>
    <p:notesMasterId xmlns:r="http://schemas.openxmlformats.org/officeDocument/2006/relationships" r:id="Rd2701ca01f514412"/>
  </p:notesMasterIdLst>
  <p:sldIdLst>
    <p:sldId xmlns:r="http://schemas.openxmlformats.org/officeDocument/2006/relationships" id="256" r:id="R141f216a52aa4806"/>
    <p:sldId xmlns:r="http://schemas.openxmlformats.org/officeDocument/2006/relationships" id="257" r:id="R4d09736557c74a51"/>
    <p:sldId xmlns:r="http://schemas.openxmlformats.org/officeDocument/2006/relationships" id="258" r:id="R360411e15e794807"/>
    <p:sldId xmlns:r="http://schemas.openxmlformats.org/officeDocument/2006/relationships" id="259" r:id="Raad712d1be654bd1"/>
    <p:sldId xmlns:r="http://schemas.openxmlformats.org/officeDocument/2006/relationships" id="260" r:id="Rad2b97e5876b4517"/>
    <p:sldId xmlns:r="http://schemas.openxmlformats.org/officeDocument/2006/relationships" id="261" r:id="Ra60a7256951d4fcf"/>
    <p:sldId xmlns:r="http://schemas.openxmlformats.org/officeDocument/2006/relationships" id="262" r:id="R7a663b160bed47b0"/>
    <p:sldId xmlns:r="http://schemas.openxmlformats.org/officeDocument/2006/relationships" id="263" r:id="R70625d9d8b40417b"/>
    <p:sldId xmlns:r="http://schemas.openxmlformats.org/officeDocument/2006/relationships" id="264" r:id="R7b5b6f90f87b447c"/>
    <p:sldId xmlns:r="http://schemas.openxmlformats.org/officeDocument/2006/relationships" id="265" r:id="R6fe319266b0a4f90"/>
    <p:sldId xmlns:r="http://schemas.openxmlformats.org/officeDocument/2006/relationships" id="266" r:id="R0c2de9909cf244a8"/>
    <p:sldId xmlns:r="http://schemas.openxmlformats.org/officeDocument/2006/relationships" id="267" r:id="R934600b5dcea4f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89ad91bee04efe" /><Relationship Type="http://schemas.openxmlformats.org/officeDocument/2006/relationships/slideMaster" Target="/ppt/slideMasters/slideMaster1.xml" Id="R11af893a36b44590" /><Relationship Type="http://schemas.openxmlformats.org/officeDocument/2006/relationships/notesMaster" Target="/ppt/notesMasters/notesMaster1.xml" Id="Rd2701ca01f514412" /><Relationship Type="http://schemas.openxmlformats.org/officeDocument/2006/relationships/presProps" Target="/ppt/presProps.xml" Id="Rc77e32e9df034ea0" /><Relationship Type="http://schemas.openxmlformats.org/officeDocument/2006/relationships/tableStyles" Target="/ppt/tableStyles.xml" Id="R80dada58bd88445b" /><Relationship Type="http://schemas.openxmlformats.org/officeDocument/2006/relationships/slide" Target="/ppt/slides/slide1.xml" Id="R141f216a52aa4806" /><Relationship Type="http://schemas.openxmlformats.org/officeDocument/2006/relationships/slide" Target="/ppt/slides/slide2.xml" Id="R4d09736557c74a51" /><Relationship Type="http://schemas.openxmlformats.org/officeDocument/2006/relationships/slide" Target="/ppt/slides/slide3.xml" Id="R360411e15e794807" /><Relationship Type="http://schemas.openxmlformats.org/officeDocument/2006/relationships/slide" Target="/ppt/slides/slide4.xml" Id="Raad712d1be654bd1" /><Relationship Type="http://schemas.openxmlformats.org/officeDocument/2006/relationships/slide" Target="/ppt/slides/slide5.xml" Id="Rad2b97e5876b4517" /><Relationship Type="http://schemas.openxmlformats.org/officeDocument/2006/relationships/slide" Target="/ppt/slides/slide6.xml" Id="Ra60a7256951d4fcf" /><Relationship Type="http://schemas.openxmlformats.org/officeDocument/2006/relationships/slide" Target="/ppt/slides/slide7.xml" Id="R7a663b160bed47b0" /><Relationship Type="http://schemas.openxmlformats.org/officeDocument/2006/relationships/slide" Target="/ppt/slides/slide8.xml" Id="R70625d9d8b40417b" /><Relationship Type="http://schemas.openxmlformats.org/officeDocument/2006/relationships/slide" Target="/ppt/slides/slide9.xml" Id="R7b5b6f90f87b447c" /><Relationship Type="http://schemas.openxmlformats.org/officeDocument/2006/relationships/slide" Target="/ppt/slides/slide10.xml" Id="R6fe319266b0a4f90" /><Relationship Type="http://schemas.openxmlformats.org/officeDocument/2006/relationships/slide" Target="/ppt/slides/slide11.xml" Id="R0c2de9909cf244a8" /><Relationship Type="http://schemas.openxmlformats.org/officeDocument/2006/relationships/slide" Target="/ppt/slides/slide12.xml" Id="R934600b5dcea4f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59191a0e0a41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6b0f669607427d" /><Relationship Type="http://schemas.openxmlformats.org/officeDocument/2006/relationships/notesMaster" Target="/ppt/notesMasters/notesMaster1.xml" Id="R7850f8de38b142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2030f2606740b9" /><Relationship Type="http://schemas.openxmlformats.org/officeDocument/2006/relationships/notesMaster" Target="/ppt/notesMasters/notesMaster1.xml" Id="R23a230b69f894b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34286be0454a71" /><Relationship Type="http://schemas.openxmlformats.org/officeDocument/2006/relationships/notesMaster" Target="/ppt/notesMasters/notesMaster1.xml" Id="Ra175d4e147bf4d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f38538182b4b7e" /><Relationship Type="http://schemas.openxmlformats.org/officeDocument/2006/relationships/notesMaster" Target="/ppt/notesMasters/notesMaster1.xml" Id="Reee3956b1568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a7778cbc4b4aeb" /><Relationship Type="http://schemas.openxmlformats.org/officeDocument/2006/relationships/notesMaster" Target="/ppt/notesMasters/notesMaster1.xml" Id="R7eb8bcf8a7154c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922a0f281c43ef" /><Relationship Type="http://schemas.openxmlformats.org/officeDocument/2006/relationships/notesMaster" Target="/ppt/notesMasters/notesMaster1.xml" Id="R7c4cba7fec4545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776f2b652044f6" /><Relationship Type="http://schemas.openxmlformats.org/officeDocument/2006/relationships/notesMaster" Target="/ppt/notesMasters/notesMaster1.xml" Id="Rb5e7772ace2440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22889291f44270" /><Relationship Type="http://schemas.openxmlformats.org/officeDocument/2006/relationships/notesMaster" Target="/ppt/notesMasters/notesMaster1.xml" Id="Rb2e327132c254a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758048a1fe482c" /><Relationship Type="http://schemas.openxmlformats.org/officeDocument/2006/relationships/notesMaster" Target="/ppt/notesMasters/notesMaster1.xml" Id="R052ebb68b24340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0951051dc94bb1" /><Relationship Type="http://schemas.openxmlformats.org/officeDocument/2006/relationships/notesMaster" Target="/ppt/notesMasters/notesMaster1.xml" Id="Rb788e1f5256b4b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84335f484b4249" /><Relationship Type="http://schemas.openxmlformats.org/officeDocument/2006/relationships/notesMaster" Target="/ppt/notesMasters/notesMaster1.xml" Id="R513ff4494a234e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dc8c557b374349" /><Relationship Type="http://schemas.openxmlformats.org/officeDocument/2006/relationships/notesMaster" Target="/ppt/notesMasters/notesMaster1.xml" Id="Rea318ce16b0c4d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Kính thưa Hội đồng, nhóm trình bày đề tài Thiết kế IP xử lý và cảnh báo bụi mịn PM2.5 trên FPGA. Sản phẩm trung tâm là lõi RTL dùng số học x16. Lõi có giao diện APB3 để tích hợp SoC và giao diện UART riêng để kiểm chứng trên Tang Nano 9K.</a:t>
            </a:r>
          </a:p>
          <a:p xmlns:a="http://schemas.openxmlformats.org/drawingml/2006/main">
            <a:r>
              <a:t/>
            </a:r>
          </a:p>
          <a:p xmlns:a="http://schemas.openxmlformats.org/drawingml/2006/main">
            <a:r>
              <a:t>Nguồn:</a:t>
            </a:r>
          </a:p>
          <a:p xmlns:a="http://schemas.openxmlformats.org/drawingml/2006/main">
            <a:r>
              <a:t>- UIT2026_PM25_FPGA_FINAL_REPORT.pdf, Tóm tắt và mục 1.2</a:t>
            </a:r>
          </a:p>
          <a:p xmlns:a="http://schemas.openxmlformats.org/drawingml/2006/main">
            <a:r>
              <a:t>- PM25_SOC_IP_FINALIZATION_SPEC.md</a:t>
            </a:r>
          </a:p>
          <a:p xmlns:a="http://schemas.openxmlformats.org/drawingml/2006/main">
            <a:r>
              <a:t>- Logo UIT và FCE kế thừa từ UIT2026_PM25_FPGA_FINAL_CE_REFINED.pptx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 CAMS cung cấp nền theo vùng và theo giờ, nhưng có thể chưa phản ánh sát một vị trí cụ thể. PurpleAir quan sát cục bộ mỗi 10 phút, song dữ liệu chỉ được dùng để cập nhật độ lệch khi vượt qua QC. Khi PurpleAir thiếu hoặc không đạt QC, CAMS và trạng thái hiện có vẫn tạo được đầu ra.</a:t>
            </a:r>
          </a:p>
          <a:p xmlns:a="http://schemas.openxmlformats.org/drawingml/2006/main">
            <a:r>
              <a:t/>
            </a:r>
          </a:p>
          <a:p xmlns:a="http://schemas.openxmlformats.org/drawingml/2006/main">
            <a:r>
              <a:t>Nguồn:</a:t>
            </a:r>
          </a:p>
          <a:p xmlns:a="http://schemas.openxmlformats.org/drawingml/2006/main">
            <a:r>
              <a:t>- UIT2026_PM25_FPGA_FINAL_REPORT.pdf, mục 1.1, 2.1 và 2.2</a:t>
            </a:r>
          </a:p>
          <a:p xmlns:a="http://schemas.openxmlformats.org/drawingml/2006/main">
            <a:r>
              <a:t>- https://open-meteo.com/en/docs/air-quality-api</a:t>
            </a:r>
          </a:p>
          <a:p xmlns:a="http://schemas.openxmlformats.org/drawingml/2006/main">
            <a:r>
              <a:t>- https://api.purpleair.com/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1:00-1:50. Thiết kế đặt toàn bộ phép hiệu chỉnh trong một lõi độc lập với giao tiếp. Bộ xử lý SoC dùng APB3 32 bit, còn máy tính dùng UART để kiểm chứng trên Tang Nano 9K. Hai đường này cùng sử dụng một lõi và không nối tiếp nhau. Thiết bị chủ chịu trách nhiệm thu thập, QC và chuyển dữ liệu sang số nguyên x16.</a:t>
            </a:r>
          </a:p>
          <a:p xmlns:a="http://schemas.openxmlformats.org/drawingml/2006/main">
            <a:r>
              <a:t/>
            </a:r>
          </a:p>
          <a:p xmlns:a="http://schemas.openxmlformats.org/drawingml/2006/main">
            <a:r>
              <a:t>Nguồn:</a:t>
            </a:r>
          </a:p>
          <a:p xmlns:a="http://schemas.openxmlformats.org/drawingml/2006/main">
            <a:r>
              <a:t>- UIT2026_PM25_FPGA_FINAL_REPORT.pdf, mục 3.1</a:t>
            </a:r>
          </a:p>
          <a:p xmlns:a="http://schemas.openxmlformats.org/drawingml/2006/main">
            <a:r>
              <a:t>- PM25_SOC_IP_FINALIZATION_SPEC.md</a:t>
            </a:r>
          </a:p>
          <a:p xmlns:a="http://schemas.openxmlformats.org/drawingml/2006/main">
            <a:r>
              <a:t>- docs/ip/ARCHITECTURE.md</a:t>
            </a:r>
          </a:p>
          <a:p xmlns:a="http://schemas.openxmlformats.org/drawingml/2006/main">
            <a:r>
              <a:t>- docs/ip/VERIFICATION.md</a:t>
            </a:r>
          </a:p>
          <a:p xmlns:a="http://schemas.openxmlformats.org/drawingml/2006/main">
            <a:r>
              <a:t>- rtl/core/pm25_alert_core.v</a:t>
            </a:r>
          </a:p>
          <a:p xmlns:a="http://schemas.openxmlformats.org/drawingml/2006/main">
            <a:r>
              <a:t>- rtl/apb/pm25_apb_wrapper.v</a:t>
            </a:r>
          </a:p>
          <a:p xmlns:a="http://schemas.openxmlformats.org/drawingml/2006/main">
            <a:r>
              <a:t>- rtl/top/pm25_uart_demo_top.v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1:50-2:40. Lõi lấy chênh lệch giữa PurpleAir và CAMS, so với trạng thái hiệu chỉnh hiện tại rồi điều chỉnh một phần tám sai số. Giá trị PM2.5 của mẫu hiện tại dùng trạng thái đã có; phần cập nhật chỉ áp dụng từ mẫu kế tiếp. Khi QC không đạt, lõi vẫn tạo đầu ra từ CAMS và trạng thái hiện tại nhưng không thay đổi trạng thái.</a:t>
            </a:r>
          </a:p>
          <a:p xmlns:a="http://schemas.openxmlformats.org/drawingml/2006/main">
            <a:r>
              <a:t/>
            </a:r>
          </a:p>
          <a:p xmlns:a="http://schemas.openxmlformats.org/drawingml/2006/main">
            <a:r>
              <a:t>Nguồn:</a:t>
            </a:r>
          </a:p>
          <a:p xmlns:a="http://schemas.openxmlformats.org/drawingml/2006/main">
            <a:r>
              <a:t>- UIT2026_PM25_FPGA_FINAL_REPORT.pdf, mục 2.3, 2.4 và 3.2</a:t>
            </a:r>
          </a:p>
          <a:p xmlns:a="http://schemas.openxmlformats.org/drawingml/2006/main">
            <a:r>
              <a:t>- rtl/core/pm25_alert_core.v</a:t>
            </a:r>
          </a:p>
          <a:p xmlns:a="http://schemas.openxmlformats.org/drawingml/2006/main">
            <a:r>
              <a:t>- rtl/core/bias_update.v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2:40-3:30. APB3 dùng dữ liệu 32 bit và hoàn tất mỗi giao dịch bus mà không chèn chu kỳ đợi. Phần mềm nạp dữ liệu, phát lệnh PROCESS, theo dõi BUSY và DONE rồi đọc kết quả. Khi nhận lệnh, khối giao tiếp chốt đồng thời toàn bộ đầu vào để các lần ghi sau không thể thay đổi mẫu đang xử lý. Truy cập không hợp lệ hoặc lệnh mới khi lõi đang bận được báo qua PSLVERR. Mô phỏng RTL đạt 89 giao dịch và 325 phép kiểm.</a:t>
            </a:r>
          </a:p>
          <a:p xmlns:a="http://schemas.openxmlformats.org/drawingml/2006/main">
            <a:r>
              <a:t/>
            </a:r>
          </a:p>
          <a:p xmlns:a="http://schemas.openxmlformats.org/drawingml/2006/main">
            <a:r>
              <a:t>Nguồn:</a:t>
            </a:r>
          </a:p>
          <a:p xmlns:a="http://schemas.openxmlformats.org/drawingml/2006/main">
            <a:r>
              <a:t>- UIT2026_PM25_FPGA_FINAL_REPORT.pdf, mục 3.3 và Bảng 4.1</a:t>
            </a:r>
          </a:p>
          <a:p xmlns:a="http://schemas.openxmlformats.org/drawingml/2006/main">
            <a:r>
              <a:t>- PM25_SOC_IP_FINALIZATION_SPEC.md</a:t>
            </a:r>
          </a:p>
          <a:p xmlns:a="http://schemas.openxmlformats.org/drawingml/2006/main">
            <a:r>
              <a:t>- docs/ip/APB3_INTERFACE.md</a:t>
            </a:r>
          </a:p>
          <a:p xmlns:a="http://schemas.openxmlformats.org/drawingml/2006/main">
            <a:r>
              <a:t>- docs/ip/REGISTER_MAP.md</a:t>
            </a:r>
          </a:p>
          <a:p xmlns:a="http://schemas.openxmlformats.org/drawingml/2006/main">
            <a:r>
              <a:t>- docs/ip/VERIFICATION.md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 Tập dữ liệu chốt có 4.137 mẫu PurpleAir 10 phút. Sau tổng hợp có 1.309 giờ chứa bản ghi nguồn, 1.226 giờ tạo được giá trị đại diện và 553 giờ đạt QC nghiêm ngặt. CAMS giữ 13.704 bản ghi giờ. Trong 12.395 giờ thiếu bản ghi PurpleAir, lõi vẫn tạo đầu ra bằng CAMS cộng trạng thái độ lệch hiện tại.</a:t>
            </a:r>
          </a:p>
          <a:p xmlns:a="http://schemas.openxmlformats.org/drawingml/2006/main">
            <a:r>
              <a:t/>
            </a:r>
          </a:p>
          <a:p xmlns:a="http://schemas.openxmlformats.org/drawingml/2006/main">
            <a:r>
              <a:t>Nguồn:</a:t>
            </a:r>
          </a:p>
          <a:p xmlns:a="http://schemas.openxmlformats.org/drawingml/2006/main">
            <a:r>
              <a:t>- UIT2026_PM25_FPGA_FINAL_REPORT.pdf, mục 2.1, 2.2 và Bảng 2.1</a:t>
            </a:r>
          </a:p>
          <a:p xmlns:a="http://schemas.openxmlformats.org/drawingml/2006/main">
            <a:r>
              <a:t>- deliverables/uit2026_final/evidence_snapshot/pm25_data_migration_qc.json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4:10-5:05. Trên 415 giờ kiểm định, CAMS có MAE 15,8884. Cấu hình IP v1 dùng S bằng 3, tương ứng alpha một phần tám, với MAE sau hiệu chỉnh 4,7259 và độ lệch chuẩn trạng thái 51,75 theo x16. Khi S bằng 2, MAE giảm xuống 4,2633 nhưng độ biến động trạng thái tăng lên 71,23 x16. Kết quả thể hiện đánh đổi giữa tốc độ thích nghi và độ ổn định trạng thái.</a:t>
            </a:r>
          </a:p>
          <a:p xmlns:a="http://schemas.openxmlformats.org/drawingml/2006/main">
            <a:r>
              <a:t/>
            </a:r>
          </a:p>
          <a:p xmlns:a="http://schemas.openxmlformats.org/drawingml/2006/main">
            <a:r>
              <a:t>Nguồn:</a:t>
            </a:r>
          </a:p>
          <a:p xmlns:a="http://schemas.openxmlformats.org/drawingml/2006/main">
            <a:r>
              <a:t>- UIT2026_PM25_FPGA_FINAL_REPORT.pdf, mục 4.2 và Bảng 4.2</a:t>
            </a:r>
          </a:p>
          <a:p xmlns:a="http://schemas.openxmlformats.org/drawingml/2006/main">
            <a:r>
              <a:t>- reports/stage3_report_metrics.json</a:t>
            </a:r>
          </a:p>
          <a:p xmlns:a="http://schemas.openxmlformats.org/drawingml/2006/main">
            <a:r>
              <a:t>- data/test_vectors/alpha_shift/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5:05-6:30. Cấu hình UART trên Tang Nano 9K dùng 490 trên 8.640 phần tử logic và 283 trên 6.693 thanh ghi. Tần số cực đại sau định tuyến là 58,705 MHz so với mục tiêu 27 MHz, không có điểm cuối vi phạm thiết lập hoặc giữ. Cả 140 giao dịch UART vật lý đều khớp mô hình tham chiếu. Giao diện APB3 đã đạt 89 giao dịch và 325 phép kiểm trong mô phỏng RTL. Hai kết quả này cùng củng cố khả năng tái sử dụng của lõi, nhưng thuộc hai mức kiểm chứng khác nhau. Xin mời Hội đồng theo dõi phần demo trực tiếp.</a:t>
            </a:r>
          </a:p>
          <a:p xmlns:a="http://schemas.openxmlformats.org/drawingml/2006/main">
            <a:r>
              <a:t/>
            </a:r>
          </a:p>
          <a:p xmlns:a="http://schemas.openxmlformats.org/drawingml/2006/main">
            <a:r>
              <a:t>Nguồn:</a:t>
            </a:r>
          </a:p>
          <a:p xmlns:a="http://schemas.openxmlformats.org/drawingml/2006/main">
            <a:r>
              <a:t>- UIT2026_PM25_FPGA_FINAL_REPORT.pdf, mục 4.1, 4.3, Bảng 4.3 và 4.4</a:t>
            </a:r>
          </a:p>
          <a:p xmlns:a="http://schemas.openxmlformats.org/drawingml/2006/main">
            <a:r>
              <a:t>- reports/fpga/gowin_implementation_summary.json</a:t>
            </a:r>
          </a:p>
          <a:p xmlns:a="http://schemas.openxmlformats.org/drawingml/2006/main">
            <a:r>
              <a:t>- reports/fpga/hardware_validation.json</a:t>
            </a:r>
          </a:p>
          <a:p xmlns:a="http://schemas.openxmlformats.org/drawingml/2006/main">
            <a:r>
              <a:t>- reports/engineering_freeze_v2/PM25_SOC_IP_FREEZE_V2_VERIFICATION.md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 đồ gồm đúng 10 thanh ghi công khai từ 0x00 đến 0x24. Các giá trị CAMS, PurpleAir, kết quả và trạng thái hiệu chỉnh là số nguyên có dấu 32 bit theo hệ số x16. PROCESS tự xóa sau khi phát lệnh, còn DONE được giữ đến lệnh hợp lệ tiếp theo hoặc reset.</a:t>
            </a:r>
          </a:p>
          <a:p xmlns:a="http://schemas.openxmlformats.org/drawingml/2006/main">
            <a:r>
              <a:t/>
            </a:r>
          </a:p>
          <a:p xmlns:a="http://schemas.openxmlformats.org/drawingml/2006/main">
            <a:r>
              <a:t>Nguồn:</a:t>
            </a:r>
          </a:p>
          <a:p xmlns:a="http://schemas.openxmlformats.org/drawingml/2006/main">
            <a:r>
              <a:t>- UIT2026_PM25_FPGA_FINAL_REPORT.pdf, Bảng 3.1</a:t>
            </a:r>
          </a:p>
          <a:p xmlns:a="http://schemas.openxmlformats.org/drawingml/2006/main">
            <a:r>
              <a:t>- PM25_SOC_IP_FINALIZATION_SPEC.md</a:t>
            </a:r>
          </a:p>
          <a:p xmlns:a="http://schemas.openxmlformats.org/drawingml/2006/main">
            <a:r>
              <a:t>- docs/ip/REGISTER_MAP.md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Gói vào dài 9 byte và gói ra dài 10 byte. Các trường 16 bit truyền byte cao trước. Tổng kiểm là tám bit thấp của tổng các byte trước nó. Gói sai tổng kiểm bị loại trước khi tới lõi và không làm thay đổi trạng thái.</a:t>
            </a:r>
          </a:p>
          <a:p xmlns:a="http://schemas.openxmlformats.org/drawingml/2006/main">
            <a:r>
              <a:t/>
            </a:r>
          </a:p>
          <a:p xmlns:a="http://schemas.openxmlformats.org/drawingml/2006/main">
            <a:r>
              <a:t>Nguồn:</a:t>
            </a:r>
          </a:p>
          <a:p xmlns:a="http://schemas.openxmlformats.org/drawingml/2006/main">
            <a:r>
              <a:t>- UIT2026_PM25_FPGA_FINAL_REPORT.pdf, mục 3.4 và Bảng 3.2</a:t>
            </a:r>
          </a:p>
          <a:p xmlns:a="http://schemas.openxmlformats.org/drawingml/2006/main">
            <a:r>
              <a:t>- demo/uart/pm25_uart_feeder.py</a:t>
            </a:r>
          </a:p>
          <a:p xmlns:a="http://schemas.openxmlformats.org/drawingml/2006/main">
            <a:r>
              <a:t>- docs/design_notes/ip/13_uart_laptop_demo_protocol.md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giữ nguyên đầy đủ các số liệu trong báo cáo. Cấu hình IP v1 dùng S bằng 3. Trên tập kiểm định này, S bằng 2 có MAE thấp hơn và độ lệch chuẩn trạng thái lớn hơn, thể hiện đánh đổi giữa tốc độ thích nghi và độ ổn định.</a:t>
            </a:r>
          </a:p>
          <a:p xmlns:a="http://schemas.openxmlformats.org/drawingml/2006/main">
            <a:r>
              <a:t/>
            </a:r>
          </a:p>
          <a:p xmlns:a="http://schemas.openxmlformats.org/drawingml/2006/main">
            <a:r>
              <a:t>Nguồn:</a:t>
            </a:r>
          </a:p>
          <a:p xmlns:a="http://schemas.openxmlformats.org/drawingml/2006/main">
            <a:r>
              <a:t>- UIT2026_PM25_FPGA_FINAL_REPORT.pdf, Bảng 4.2</a:t>
            </a:r>
          </a:p>
          <a:p xmlns:a="http://schemas.openxmlformats.org/drawingml/2006/main">
            <a:r>
              <a:t>- reports/stage3_report_metrics.json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bằng chứng phân biệt mô phỏng RTL của APB3 với kết quả Gowin và kiểm chứng bo mạch của cấu hình UART. Các kết quả dữ liệu chỉ áp dụng cho tập dữ liệu và khoảng thời gian được công bố.</a:t>
            </a:r>
          </a:p>
          <a:p xmlns:a="http://schemas.openxmlformats.org/drawingml/2006/main">
            <a:r>
              <a:t/>
            </a:r>
          </a:p>
          <a:p xmlns:a="http://schemas.openxmlformats.org/drawingml/2006/main">
            <a:r>
              <a:t>Nguồn:</a:t>
            </a:r>
          </a:p>
          <a:p xmlns:a="http://schemas.openxmlformats.org/drawingml/2006/main">
            <a:r>
              <a:t>- UIT2026_PM25_FPGA_FINAL_REPORT.pdf, mục 4.1, 4.3 và 5.2</a:t>
            </a:r>
          </a:p>
          <a:p xmlns:a="http://schemas.openxmlformats.org/drawingml/2006/main">
            <a:r>
              <a:t>- reports/engineering_freeze_v2/PM25_SOC_IP_FREEZE_V2_VERIFICATION.md</a:t>
            </a:r>
          </a:p>
          <a:p xmlns:a="http://schemas.openxmlformats.org/drawingml/2006/main">
            <a:r>
              <a:t>- reports/fpga/gowin_implementation_summary.md</a:t>
            </a:r>
          </a:p>
          <a:p xmlns:a="http://schemas.openxmlformats.org/drawingml/2006/main">
            <a:r>
              <a:t>- reports/fpga/hardware_validation.md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07c920a8024d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1ebdbf3ec14592" /><Relationship Type="http://schemas.openxmlformats.org/officeDocument/2006/relationships/slideLayout" Target="/ppt/slideLayouts/slideLayout1.xml" Id="R596f3a751d7e4c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6f3a751d7e4c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a836916a8640f6" /><Relationship Type="http://schemas.openxmlformats.org/officeDocument/2006/relationships/image" Target="/ppt/media/image.png" Id="Refc300ee6a794196" /><Relationship Type="http://schemas.openxmlformats.org/officeDocument/2006/relationships/image" Target="/ppt/media/image2.png" Id="R23469ab2beb940f8" /><Relationship Type="http://schemas.openxmlformats.org/officeDocument/2006/relationships/notesSlide" Target="/ppt/notesSlides/notesSlide1.xml" Id="R9a6740bb28be44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3e9ca8aaca4aa6" /><Relationship Type="http://schemas.openxmlformats.org/officeDocument/2006/relationships/image" Target="/ppt/media/image3.png" Id="R2e0f9394a95945e1" /><Relationship Type="http://schemas.openxmlformats.org/officeDocument/2006/relationships/image" Target="/ppt/media/image4.png" Id="Re32130c3a27c4374" /><Relationship Type="http://schemas.openxmlformats.org/officeDocument/2006/relationships/notesSlide" Target="/ppt/notesSlides/notesSlide2.xml" Id="Rbea75822027c4b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cef46111554674" /><Relationship Type="http://schemas.openxmlformats.org/officeDocument/2006/relationships/image" Target="/ppt/media/image5.png" Id="R79719ad7a0544cb1" /><Relationship Type="http://schemas.openxmlformats.org/officeDocument/2006/relationships/image" Target="/ppt/media/image6.png" Id="Rae2cd1227d0c4c09" /><Relationship Type="http://schemas.openxmlformats.org/officeDocument/2006/relationships/notesSlide" Target="/ppt/notesSlides/notesSlide3.xml" Id="Rcace2d9b79884a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f11d4a7be34e5f" /><Relationship Type="http://schemas.openxmlformats.org/officeDocument/2006/relationships/image" Target="/ppt/media/image7.png" Id="R4694d55a3d794412" /><Relationship Type="http://schemas.openxmlformats.org/officeDocument/2006/relationships/image" Target="/ppt/media/image8.png" Id="R11158206467146e2" /><Relationship Type="http://schemas.openxmlformats.org/officeDocument/2006/relationships/notesSlide" Target="/ppt/notesSlides/notesSlide4.xml" Id="R0e38f3eae08c44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b0005b985e4b25" /><Relationship Type="http://schemas.openxmlformats.org/officeDocument/2006/relationships/image" Target="/ppt/media/image9.png" Id="Rfd262e5ce9284cae" /><Relationship Type="http://schemas.openxmlformats.org/officeDocument/2006/relationships/image" Target="/ppt/media/image10.png" Id="R323f975e30ca438d" /><Relationship Type="http://schemas.openxmlformats.org/officeDocument/2006/relationships/notesSlide" Target="/ppt/notesSlides/notesSlide5.xml" Id="Rc16f656fb6c448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df843cc21d412e" /><Relationship Type="http://schemas.openxmlformats.org/officeDocument/2006/relationships/image" Target="/ppt/media/image11.png" Id="Rb5d3366ff014410e" /><Relationship Type="http://schemas.openxmlformats.org/officeDocument/2006/relationships/image" Target="/ppt/media/image12.png" Id="R092a3d4ca15e40ad" /><Relationship Type="http://schemas.openxmlformats.org/officeDocument/2006/relationships/notesSlide" Target="/ppt/notesSlides/notesSlide6.xml" Id="R8eb2eeadd73143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302bddb5174ae3" /><Relationship Type="http://schemas.openxmlformats.org/officeDocument/2006/relationships/image" Target="/ppt/media/image13.png" Id="Ree021a7e4c7c4626" /><Relationship Type="http://schemas.openxmlformats.org/officeDocument/2006/relationships/image" Target="/ppt/media/image14.png" Id="Rab12e0f900394c0e" /><Relationship Type="http://schemas.openxmlformats.org/officeDocument/2006/relationships/chart" Target="/ppt/slides/charts/chart1.xml" Id="R77b446b137a94306" /><Relationship Type="http://schemas.openxmlformats.org/officeDocument/2006/relationships/notesSlide" Target="/ppt/notesSlides/notesSlide7.xml" Id="R07eafbe9131842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5cf1638e2342aa" /><Relationship Type="http://schemas.openxmlformats.org/officeDocument/2006/relationships/image" Target="/ppt/media/image15.png" Id="R1f0504a54f134834" /><Relationship Type="http://schemas.openxmlformats.org/officeDocument/2006/relationships/image" Target="/ppt/media/image16.png" Id="R14befebc7e7e4ebf" /><Relationship Type="http://schemas.openxmlformats.org/officeDocument/2006/relationships/notesSlide" Target="/ppt/notesSlides/notesSlide8.xml" Id="R7bae344f26ed44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249312f1864907" /><Relationship Type="http://schemas.openxmlformats.org/officeDocument/2006/relationships/image" Target="/ppt/media/image17.png" Id="R216fc2206a674a99" /><Relationship Type="http://schemas.openxmlformats.org/officeDocument/2006/relationships/image" Target="/ppt/media/image18.png" Id="R5e48abed847243a9" /><Relationship Type="http://schemas.openxmlformats.org/officeDocument/2006/relationships/notesSlide" Target="/ppt/notesSlides/notesSlide9.xml" Id="R23386c356dea4f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be4ea1509c400a" /><Relationship Type="http://schemas.openxmlformats.org/officeDocument/2006/relationships/image" Target="/ppt/media/image19.png" Id="Rca4a2075a3424ab8" /><Relationship Type="http://schemas.openxmlformats.org/officeDocument/2006/relationships/image" Target="/ppt/media/image20.png" Id="R5c033193eb624104" /><Relationship Type="http://schemas.openxmlformats.org/officeDocument/2006/relationships/notesSlide" Target="/ppt/notesSlides/notesSlide10.xml" Id="Rb43cbf37d0b843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22fd6114b942fb" /><Relationship Type="http://schemas.openxmlformats.org/officeDocument/2006/relationships/image" Target="/ppt/media/image21.png" Id="R3a8867aaec20439a" /><Relationship Type="http://schemas.openxmlformats.org/officeDocument/2006/relationships/image" Target="/ppt/media/image22.png" Id="R762cd756d8374f1e" /><Relationship Type="http://schemas.openxmlformats.org/officeDocument/2006/relationships/notesSlide" Target="/ppt/notesSlides/notesSlide11.xml" Id="Rd5b7f81e07f841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019bb9fb914c2c" /><Relationship Type="http://schemas.openxmlformats.org/officeDocument/2006/relationships/image" Target="/ppt/media/image23.png" Id="R901be60b0a564bd8" /><Relationship Type="http://schemas.openxmlformats.org/officeDocument/2006/relationships/image" Target="/ppt/media/image24.png" Id="Rd6a3a0c5dabd42f1" /><Relationship Type="http://schemas.openxmlformats.org/officeDocument/2006/relationships/notesSlide" Target="/ppt/notesSlides/notesSlide12.xml" Id="R7926f8bd35394788" /></Relationships>
</file>

<file path=ppt/slides/charts/chart1.xml><?xml version="1.0" encoding="utf-8"?>
<c:chartSpace xmlns:c="http://schemas.openxmlformats.org/drawingml/2006/chart">
  <c:lang val="en-US"/>
  <c:chart>
    <c:plotArea>
      <c:barChart>
        <c:barDir val="col"/>
        <c:grouping val="clustered"/>
        <c:varyColors val="0"/>
        <c:ser>
          <c:idx val="0"/>
          <c:order val="0"/>
          <c:tx>
            <c:v>MAE CAMS</c:v>
          </c:tx>
          <c:spPr>
            <a:solidFill xmlns:a="http://schemas.openxmlformats.org/drawingml/2006/main">
              <a:srgbClr val="B9DDCA"/>
            </a:solidFill>
          </c:spPr>
          <c:dLbls>
            <c:dLbl>
              <c:idx val="0"/>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s>
          <c:cat>
            <c:numLit>
              <c:formatCode>General</c:formatCode>
              <c:ptCount val="5"/>
              <c:pt idx="0">
                <c:v>2</c:v>
              </c:pt>
              <c:pt idx="1">
                <c:v>3</c:v>
              </c:pt>
              <c:pt idx="2">
                <c:v>4</c:v>
              </c:pt>
              <c:pt idx="3">
                <c:v>5</c:v>
              </c:pt>
              <c:pt idx="4">
                <c:v>6</c:v>
              </c:pt>
            </c:numLit>
          </c:cat>
          <c:val>
            <c:numLit>
              <c:formatCode>0</c:formatCode>
              <c:ptCount val="5"/>
              <c:pt idx="0">
                <c:v>15.8884</c:v>
              </c:pt>
              <c:pt idx="1">
                <c:v>15.8884</c:v>
              </c:pt>
              <c:pt idx="2">
                <c:v>15.8884</c:v>
              </c:pt>
              <c:pt idx="3">
                <c:v>15.8884</c:v>
              </c:pt>
              <c:pt idx="4">
                <c:v>15.8884</c:v>
              </c:pt>
            </c:numLit>
          </c:val>
        </c:ser>
        <c:ser>
          <c:idx val="1"/>
          <c:order val="1"/>
          <c:tx>
            <c:v>MAE sau hiệu chỉnh</c:v>
          </c:tx>
          <c:spPr>
            <a:solidFill xmlns:a="http://schemas.openxmlformats.org/drawingml/2006/main">
              <a:srgbClr val="4E896D"/>
            </a:solidFill>
          </c:spPr>
          <c:dPt>
            <c:idx val="1"/>
            <c:invertIfNegative val="0"/>
            <c:spPr>
              <a:solidFill xmlns:a="http://schemas.openxmlformats.org/drawingml/2006/main">
                <a:srgbClr val="0F6E41"/>
              </a:solidFill>
            </c:spPr>
          </c:dPt>
          <c:dLbls>
            <c:dLbl>
              <c:idx val="0"/>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4,2633</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900" b="1">
                        <a:solidFill>
                          <a:srgbClr val="17352B"/>
                        </a:solidFill>
                        <a:latin typeface="Noto Sans"/>
                        <a:ea typeface="Noto Sans"/>
                        <a:cs typeface="Noto Sans"/>
                      </a:rPr>
                      <a:t>4,7259</a:t>
                    </a:r>
                  </a:p>
                </c:rich>
              </c:tx>
              <c:txPr>
                <a:bodyPr xmlns:a="http://schemas.openxmlformats.org/drawingml/2006/main" anchorCtr="1"/>
                <a:lstStyle xmlns:a="http://schemas.openxmlformats.org/drawingml/2006/main"/>
                <a:p xmlns:a="http://schemas.openxmlformats.org/drawingml/2006/main">
                  <a:pPr>
                    <a:defRPr sz="900" b="1">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4,9440</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5,3190</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6,0211</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s>
          <c:cat>
            <c:numLit>
              <c:formatCode>General</c:formatCode>
              <c:ptCount val="5"/>
              <c:pt idx="0">
                <c:v>2</c:v>
              </c:pt>
              <c:pt idx="1">
                <c:v>3</c:v>
              </c:pt>
              <c:pt idx="2">
                <c:v>4</c:v>
              </c:pt>
              <c:pt idx="3">
                <c:v>5</c:v>
              </c:pt>
              <c:pt idx="4">
                <c:v>6</c:v>
              </c:pt>
            </c:numLit>
          </c:cat>
          <c:val>
            <c:numLit>
              <c:formatCode>0</c:formatCode>
              <c:ptCount val="5"/>
              <c:pt idx="0">
                <c:v>4.2633</c:v>
              </c:pt>
              <c:pt idx="1">
                <c:v>4.7259</c:v>
              </c:pt>
              <c:pt idx="2">
                <c:v>4.944</c:v>
              </c:pt>
              <c:pt idx="3">
                <c:v>5.319</c:v>
              </c:pt>
              <c:pt idx="4">
                <c:v>6.0211</c:v>
              </c:pt>
            </c:numLit>
          </c:val>
        </c:ser>
        <c:dLbls>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17352B"/>
                    </a:solidFill>
                    <a:latin typeface="Noto Sans"/>
                    <a:ea typeface="Noto Sans"/>
                    <a:cs typeface="Noto Sans"/>
                  </a:rPr>
                  <a:t>Giá trị S</a:t>
                </a:r>
              </a:p>
            </c:rich>
          </c:tx>
          <c:overlay val="0"/>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title>
        <c:numFmt formatCode="General"/>
        <c:majorTickMark val="none"/>
        <c:minorTickMark val="none"/>
        <c:spPr>
          <a:ln xmlns:a="http://schemas.openxmlformats.org/drawingml/2006/main" w="9525">
            <a:solidFill>
              <a:srgbClr val="C8D8CF"/>
            </a:solidFill>
            <a:prstDash val="solid"/>
          </a:ln>
        </c:spPr>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crossAx val="48672768"/>
      </c:catAx>
      <c:valAx>
        <c:axId val="48672768"/>
        <c:scaling>
          <c:orientation val="minMax"/>
          <c:max val="18"/>
          <c:min val="0"/>
        </c:scaling>
        <c:delete val="0"/>
        <c:axPos val="l"/>
        <c:majorGridlines>
          <c:spPr>
            <a:ln xmlns:a="http://schemas.openxmlformats.org/drawingml/2006/main" w="7144">
              <a:solidFill>
                <a:srgbClr val="C8D8CF"/>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17352B"/>
                    </a:solidFill>
                    <a:latin typeface="Noto Sans"/>
                    <a:ea typeface="Noto Sans"/>
                    <a:cs typeface="Noto Sans"/>
                  </a:rPr>
                  <a:t>MAE (µg/m³)</a:t>
                </a:r>
              </a:p>
            </c:rich>
          </c:tx>
          <c:overlay val="0"/>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title>
        <c:numFmt formatCode="0"/>
        <c:majorTickMark val="none"/>
        <c:minorTickMark val="none"/>
        <c:spPr>
          <a:ln xmlns:a="http://schemas.openxmlformats.org/drawingml/2006/main" w="9525">
            <a:solidFill>
              <a:srgbClr val="C8D8CF"/>
            </a:solidFill>
            <a:prstDash val="solid"/>
          </a:ln>
        </c:spPr>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crossAx val="48650112"/>
        <c:crossBetween val="between"/>
        <c:majorUnit val="3"/>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BF5E6E-B637-4AA9-8494-5229DEDCE78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F6E41"/>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fc300ee6a794196"/>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3469ab2beb940f8"/>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23DA7C-5BAB-4884-877C-3188DD6A9E73}"/>
              </a:ext>
            </a:extLst>
          </p:cNvPr>
          <p:cNvSpPr>
            <a:spLocks xmlns:a="http://schemas.openxmlformats.org/drawingml/2006/main" noGrp="1"/>
          </p:cNvSpPr>
          <p:nvPr/>
        </p:nvSpPr>
        <p:spPr>
          <a:xfrm xmlns:a="http://schemas.openxmlformats.org/drawingml/2006/main">
            <a:off x="838200" y="8191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F6E41"/>
                </a:solidFill>
                <a:latin typeface="Noto Sans"/>
                <a:ea typeface="Noto Sans"/>
                <a:cs typeface="Noto Sans"/>
              </a:defRPr>
            </a:pPr>
            <a:r>
              <a:rPr sz="1350" b="1">
                <a:solidFill>
                  <a:srgbClr val="0F6E41"/>
                </a:solidFill>
                <a:latin typeface="Noto Sans"/>
                <a:ea typeface="Noto Sans"/>
                <a:cs typeface="Noto Sans"/>
              </a:rPr>
              <a:t>CUỘC THI THIẾT KẾ VI MẠCH UIT LẦN THỨ III, NĂM 2026</a:t>
            </a:r>
          </a:p>
        </p:txBody>
      </p:sp>
      <p:sp>
        <p:nvSpPr>
          <p:cNvPr id="5" name="">
            <a:extLst xmlns:a="http://schemas.openxmlformats.org/drawingml/2006/main">
              <a:ext uri="{FF2B5EF4-FFF2-40B4-BE49-F238E27FC236}">
                <a16:creationId xmlns:a16="http://schemas.microsoft.com/office/drawing/2014/main" id="{11C28310-9680-4166-838B-9DC6672C7E6A}"/>
              </a:ext>
            </a:extLst>
          </p:cNvPr>
          <p:cNvSpPr>
            <a:spLocks xmlns:a="http://schemas.openxmlformats.org/drawingml/2006/main" noGrp="1"/>
          </p:cNvSpPr>
          <p:nvPr/>
        </p:nvSpPr>
        <p:spPr>
          <a:xfrm xmlns:a="http://schemas.openxmlformats.org/drawingml/2006/main">
            <a:off x="838200" y="17335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975" b="1">
                <a:solidFill>
                  <a:srgbClr val="17352B"/>
                </a:solidFill>
                <a:latin typeface="Noto Sans"/>
                <a:ea typeface="Noto Sans"/>
                <a:cs typeface="Noto Sans"/>
              </a:defRPr>
            </a:pPr>
            <a:r>
              <a:rPr sz="3975" b="1">
                <a:solidFill>
                  <a:srgbClr val="17352B"/>
                </a:solidFill>
                <a:latin typeface="Noto Sans"/>
                <a:ea typeface="Noto Sans"/>
                <a:cs typeface="Noto Sans"/>
              </a:rPr>
              <a:t>Thiết kế IP xử lý và cảnh báo</a:t>
            </a:r>
          </a:p>
          <a:p xmlns:a="http://schemas.openxmlformats.org/drawingml/2006/main">
            <a:pPr algn="l">
              <a:lnSpc>
                <a:spcPct val="95000"/>
              </a:lnSpc>
              <a:buNone/>
              <a:defRPr sz="3975" b="1">
                <a:solidFill>
                  <a:srgbClr val="17352B"/>
                </a:solidFill>
                <a:latin typeface="Noto Sans"/>
                <a:ea typeface="Noto Sans"/>
                <a:cs typeface="Noto Sans"/>
              </a:defRPr>
            </a:pPr>
            <a:r>
              <a:rPr sz="3975" b="1">
                <a:solidFill>
                  <a:srgbClr val="17352B"/>
                </a:solidFill>
                <a:latin typeface="Noto Sans"/>
                <a:ea typeface="Noto Sans"/>
                <a:cs typeface="Noto Sans"/>
              </a:rPr>
              <a:t>bụi mịn PM2.5 trên FPGA</a:t>
            </a:r>
          </a:p>
        </p:txBody>
      </p:sp>
      <p:sp>
        <p:nvSpPr>
          <p:cNvPr id="6" name="">
            <a:extLst xmlns:a="http://schemas.openxmlformats.org/drawingml/2006/main">
              <a:ext uri="{FF2B5EF4-FFF2-40B4-BE49-F238E27FC236}">
                <a16:creationId xmlns:a16="http://schemas.microsoft.com/office/drawing/2014/main" id="{E6614A16-EF18-4A81-A86B-101B4B906D34}"/>
              </a:ext>
            </a:extLst>
          </p:cNvPr>
          <p:cNvSpPr>
            <a:spLocks xmlns:a="http://schemas.openxmlformats.org/drawingml/2006/main" noGrp="1"/>
          </p:cNvSpPr>
          <p:nvPr/>
        </p:nvSpPr>
        <p:spPr>
          <a:xfrm xmlns:a="http://schemas.openxmlformats.org/drawingml/2006/main">
            <a:off x="742950" y="3695700"/>
            <a:ext cx="971550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7" name="">
            <a:extLst xmlns:a="http://schemas.openxmlformats.org/drawingml/2006/main">
              <a:ext uri="{FF2B5EF4-FFF2-40B4-BE49-F238E27FC236}">
                <a16:creationId xmlns:a16="http://schemas.microsoft.com/office/drawing/2014/main" id="{D8F76167-6671-44F4-8EB9-2E2874C1BC34}"/>
              </a:ext>
            </a:extLst>
          </p:cNvPr>
          <p:cNvSpPr>
            <a:spLocks xmlns:a="http://schemas.openxmlformats.org/drawingml/2006/main" noGrp="1"/>
          </p:cNvSpPr>
          <p:nvPr/>
        </p:nvSpPr>
        <p:spPr>
          <a:xfrm xmlns:a="http://schemas.openxmlformats.org/drawingml/2006/main">
            <a:off x="838200" y="45148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F6E41"/>
                </a:solidFill>
                <a:latin typeface="Noto Sans"/>
                <a:ea typeface="Noto Sans"/>
                <a:cs typeface="Noto Sans"/>
              </a:defRPr>
            </a:pPr>
            <a:r>
              <a:rPr sz="1275" b="1">
                <a:solidFill>
                  <a:srgbClr val="0F6E41"/>
                </a:solidFill>
                <a:latin typeface="Noto Sans"/>
                <a:ea typeface="Noto Sans"/>
                <a:cs typeface="Noto Sans"/>
              </a:rPr>
              <a:t>SINH VIÊN THỰC HIỆN</a:t>
            </a:r>
          </a:p>
        </p:txBody>
      </p:sp>
      <p:sp>
        <p:nvSpPr>
          <p:cNvPr id="8" name="">
            <a:extLst xmlns:a="http://schemas.openxmlformats.org/drawingml/2006/main">
              <a:ext uri="{FF2B5EF4-FFF2-40B4-BE49-F238E27FC236}">
                <a16:creationId xmlns:a16="http://schemas.microsoft.com/office/drawing/2014/main" id="{84D15261-ECAE-4C2D-9A5B-1F9F5205AEC9}"/>
              </a:ext>
            </a:extLst>
          </p:cNvPr>
          <p:cNvSpPr>
            <a:spLocks xmlns:a="http://schemas.openxmlformats.org/drawingml/2006/main" noGrp="1"/>
          </p:cNvSpPr>
          <p:nvPr/>
        </p:nvSpPr>
        <p:spPr>
          <a:xfrm xmlns:a="http://schemas.openxmlformats.org/drawingml/2006/main">
            <a:off x="838200" y="4953000"/>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52B"/>
                </a:solidFill>
                <a:latin typeface="Noto Sans"/>
                <a:ea typeface="Noto Sans"/>
                <a:cs typeface="Noto Sans"/>
              </a:defRPr>
            </a:pPr>
            <a:r>
              <a:rPr sz="1800" b="1">
                <a:solidFill>
                  <a:srgbClr val="17352B"/>
                </a:solidFill>
                <a:latin typeface="Noto Sans"/>
                <a:ea typeface="Noto Sans"/>
                <a:cs typeface="Noto Sans"/>
              </a:rPr>
              <a:t>Lê Nguyễn Thành Danh - 23520241</a:t>
            </a:r>
          </a:p>
          <a:p xmlns:a="http://schemas.openxmlformats.org/drawingml/2006/main">
            <a:pPr algn="l">
              <a:defRPr sz="1800" b="1">
                <a:solidFill>
                  <a:srgbClr val="17352B"/>
                </a:solidFill>
                <a:latin typeface="Noto Sans"/>
                <a:ea typeface="Noto Sans"/>
                <a:cs typeface="Noto Sans"/>
              </a:defRPr>
            </a:pPr>
            <a:r>
              <a:rPr sz="1800" b="1">
                <a:solidFill>
                  <a:srgbClr val="17352B"/>
                </a:solidFill>
                <a:latin typeface="Noto Sans"/>
                <a:ea typeface="Noto Sans"/>
                <a:cs typeface="Noto Sans"/>
              </a:rPr>
              <a:t>Trần Minh Nhật - 23521100</a:t>
            </a:r>
          </a:p>
        </p:txBody>
      </p:sp>
      <p:sp>
        <p:nvSpPr>
          <p:cNvPr id="9" name="">
            <a:extLst xmlns:a="http://schemas.openxmlformats.org/drawingml/2006/main">
              <a:ext uri="{FF2B5EF4-FFF2-40B4-BE49-F238E27FC236}">
                <a16:creationId xmlns:a16="http://schemas.microsoft.com/office/drawing/2014/main" id="{21326D9A-96AE-4413-8BE3-4F412E39368E}"/>
              </a:ext>
            </a:extLst>
          </p:cNvPr>
          <p:cNvSpPr>
            <a:spLocks xmlns:a="http://schemas.openxmlformats.org/drawingml/2006/main" noGrp="1"/>
          </p:cNvSpPr>
          <p:nvPr/>
        </p:nvSpPr>
        <p:spPr>
          <a:xfrm xmlns:a="http://schemas.openxmlformats.org/drawingml/2006/main">
            <a:off x="6667500" y="45148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F6E41"/>
                </a:solidFill>
                <a:latin typeface="Noto Sans"/>
                <a:ea typeface="Noto Sans"/>
                <a:cs typeface="Noto Sans"/>
              </a:defRPr>
            </a:pPr>
            <a:r>
              <a:rPr sz="1275" b="1">
                <a:solidFill>
                  <a:srgbClr val="0F6E41"/>
                </a:solidFill>
                <a:latin typeface="Noto Sans"/>
                <a:ea typeface="Noto Sans"/>
                <a:cs typeface="Noto Sans"/>
              </a:rPr>
              <a:t>GIẢNG VIÊN HƯỚNG DẪN</a:t>
            </a:r>
          </a:p>
        </p:txBody>
      </p:sp>
      <p:sp>
        <p:nvSpPr>
          <p:cNvPr id="10" name="">
            <a:extLst xmlns:a="http://schemas.openxmlformats.org/drawingml/2006/main">
              <a:ext uri="{FF2B5EF4-FFF2-40B4-BE49-F238E27FC236}">
                <a16:creationId xmlns:a16="http://schemas.microsoft.com/office/drawing/2014/main" id="{36BDC734-93E8-410A-9368-CF6779B23DA2}"/>
              </a:ext>
            </a:extLst>
          </p:cNvPr>
          <p:cNvSpPr>
            <a:spLocks xmlns:a="http://schemas.openxmlformats.org/drawingml/2006/main" noGrp="1"/>
          </p:cNvSpPr>
          <p:nvPr/>
        </p:nvSpPr>
        <p:spPr>
          <a:xfrm xmlns:a="http://schemas.openxmlformats.org/drawingml/2006/main">
            <a:off x="6667500" y="49530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52B"/>
                </a:solidFill>
                <a:latin typeface="Noto Sans"/>
                <a:ea typeface="Noto Sans"/>
                <a:cs typeface="Noto Sans"/>
              </a:defRPr>
            </a:pPr>
            <a:r>
              <a:rPr sz="1800" b="1">
                <a:solidFill>
                  <a:srgbClr val="17352B"/>
                </a:solidFill>
                <a:latin typeface="Noto Sans"/>
                <a:ea typeface="Noto Sans"/>
                <a:cs typeface="Noto Sans"/>
              </a:rPr>
              <a:t>TS. Đoàn Duy</a:t>
            </a:r>
          </a:p>
        </p:txBody>
      </p:sp>
      <p:sp>
        <p:nvSpPr>
          <p:cNvPr id="11" name="">
            <a:extLst xmlns:a="http://schemas.openxmlformats.org/drawingml/2006/main">
              <a:ext uri="{FF2B5EF4-FFF2-40B4-BE49-F238E27FC236}">
                <a16:creationId xmlns:a16="http://schemas.microsoft.com/office/drawing/2014/main" id="{8ED23ABA-2796-4DED-8DCD-87BC768BE6D9}"/>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a:t>
            </a:r>
          </a:p>
        </p:txBody>
      </p:sp>
    </p:spTree>
    <p:extLst>
      <p:ext uri="{BB962C8B-B14F-4D97-AF65-F5344CB8AC3E}">
        <p14:creationId xmlns:p14="http://schemas.microsoft.com/office/powerpoint/2010/main" val="1596564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BB6CE44-8CE3-48ED-B518-2474812747A6}"/>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Bài toán và lựa chọn dữ liệu</a:t>
            </a:r>
          </a:p>
        </p:txBody>
      </p:sp>
      <p:sp>
        <p:nvSpPr>
          <p:cNvPr id="2" name="">
            <a:extLst xmlns:a="http://schemas.openxmlformats.org/drawingml/2006/main">
              <a:ext uri="{FF2B5EF4-FFF2-40B4-BE49-F238E27FC236}">
                <a16:creationId xmlns:a16="http://schemas.microsoft.com/office/drawing/2014/main" id="{A3A57A46-712E-44B9-900F-CA7D19A33B28}"/>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e0f9394a95945e1"/>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32130c3a27c4374"/>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0271F7-3567-4A07-AB8C-A35F5D58A4BC}"/>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2</a:t>
            </a:r>
          </a:p>
        </p:txBody>
      </p:sp>
      <p:sp>
        <p:nvSpPr>
          <p:cNvPr id="6" name="">
            <a:extLst xmlns:a="http://schemas.openxmlformats.org/drawingml/2006/main">
              <a:ext uri="{FF2B5EF4-FFF2-40B4-BE49-F238E27FC236}">
                <a16:creationId xmlns:a16="http://schemas.microsoft.com/office/drawing/2014/main" id="{647466E1-B4B1-454D-A619-20B233E98A99}"/>
              </a:ext>
            </a:extLst>
          </p:cNvPr>
          <p:cNvSpPr>
            <a:spLocks xmlns:a="http://schemas.openxmlformats.org/drawingml/2006/main" noGrp="1"/>
          </p:cNvSpPr>
          <p:nvPr/>
        </p:nvSpPr>
        <p:spPr>
          <a:xfrm xmlns:a="http://schemas.openxmlformats.org/drawingml/2006/main">
            <a:off x="857250" y="1562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F6E41"/>
                </a:solidFill>
                <a:latin typeface="Noto Sans"/>
                <a:ea typeface="Noto Sans"/>
                <a:cs typeface="Noto Sans"/>
              </a:defRPr>
            </a:pPr>
            <a:r>
              <a:rPr sz="2100" b="1">
                <a:solidFill>
                  <a:srgbClr val="0F6E41"/>
                </a:solidFill>
                <a:latin typeface="Noto Sans"/>
                <a:ea typeface="Noto Sans"/>
                <a:cs typeface="Noto Sans"/>
              </a:rPr>
              <a:t>CAMS qua Open-Meteo</a:t>
            </a:r>
          </a:p>
        </p:txBody>
      </p:sp>
      <p:sp>
        <p:nvSpPr>
          <p:cNvPr id="7" name="">
            <a:extLst xmlns:a="http://schemas.openxmlformats.org/drawingml/2006/main">
              <a:ext uri="{FF2B5EF4-FFF2-40B4-BE49-F238E27FC236}">
                <a16:creationId xmlns:a16="http://schemas.microsoft.com/office/drawing/2014/main" id="{0EFE3FBC-103E-45B2-8BBE-2C2DF4EEA241}"/>
              </a:ext>
            </a:extLst>
          </p:cNvPr>
          <p:cNvSpPr>
            <a:spLocks xmlns:a="http://schemas.openxmlformats.org/drawingml/2006/main" noGrp="1"/>
          </p:cNvSpPr>
          <p:nvPr/>
        </p:nvSpPr>
        <p:spPr>
          <a:xfrm xmlns:a="http://schemas.openxmlformats.org/drawingml/2006/main">
            <a:off x="876300" y="21145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Tín hiệu nền theo giờ</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Bao phủ khoảng thời gian dài</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Có thể lệch so với điều kiện tại vị trí đo</a:t>
            </a:r>
          </a:p>
        </p:txBody>
      </p:sp>
      <p:sp>
        <p:nvSpPr>
          <p:cNvPr id="8" name="">
            <a:extLst xmlns:a="http://schemas.openxmlformats.org/drawingml/2006/main">
              <a:ext uri="{FF2B5EF4-FFF2-40B4-BE49-F238E27FC236}">
                <a16:creationId xmlns:a16="http://schemas.microsoft.com/office/drawing/2014/main" id="{1E6E5628-AE2F-4F71-9EFA-6AEE9772AA66}"/>
              </a:ext>
            </a:extLst>
          </p:cNvPr>
          <p:cNvSpPr>
            <a:spLocks xmlns:a="http://schemas.openxmlformats.org/drawingml/2006/main" noGrp="1"/>
          </p:cNvSpPr>
          <p:nvPr/>
        </p:nvSpPr>
        <p:spPr>
          <a:xfrm xmlns:a="http://schemas.openxmlformats.org/drawingml/2006/main">
            <a:off x="7239000" y="1562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F6E41"/>
                </a:solidFill>
                <a:latin typeface="Noto Sans"/>
                <a:ea typeface="Noto Sans"/>
                <a:cs typeface="Noto Sans"/>
              </a:defRPr>
            </a:pPr>
            <a:r>
              <a:rPr sz="2100" b="1">
                <a:solidFill>
                  <a:srgbClr val="0F6E41"/>
                </a:solidFill>
                <a:latin typeface="Noto Sans"/>
                <a:ea typeface="Noto Sans"/>
                <a:cs typeface="Noto Sans"/>
              </a:rPr>
              <a:t>PurpleAir tại VNU-HCM</a:t>
            </a:r>
          </a:p>
        </p:txBody>
      </p:sp>
      <p:sp>
        <p:nvSpPr>
          <p:cNvPr id="9" name="">
            <a:extLst xmlns:a="http://schemas.openxmlformats.org/drawingml/2006/main">
              <a:ext uri="{FF2B5EF4-FFF2-40B4-BE49-F238E27FC236}">
                <a16:creationId xmlns:a16="http://schemas.microsoft.com/office/drawing/2014/main" id="{EBCC2E5D-86FB-4CB9-9D48-A0A206D05B53}"/>
              </a:ext>
            </a:extLst>
          </p:cNvPr>
          <p:cNvSpPr>
            <a:spLocks xmlns:a="http://schemas.openxmlformats.org/drawingml/2006/main" noGrp="1"/>
          </p:cNvSpPr>
          <p:nvPr/>
        </p:nvSpPr>
        <p:spPr>
          <a:xfrm xmlns:a="http://schemas.openxmlformats.org/drawingml/2006/main">
            <a:off x="7258050" y="21145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Quan sát cục bộ mỗi 10 phút</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Phản ánh nhanh tại vị trí cảm biến</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Hai kênh A/B cần vượt qua kiểm tra QC</a:t>
            </a:r>
          </a:p>
        </p:txBody>
      </p:sp>
      <p:sp>
        <p:nvSpPr>
          <p:cNvPr id="10" name="">
            <a:extLst xmlns:a="http://schemas.openxmlformats.org/drawingml/2006/main">
              <a:ext uri="{FF2B5EF4-FFF2-40B4-BE49-F238E27FC236}">
                <a16:creationId xmlns:a16="http://schemas.microsoft.com/office/drawing/2014/main" id="{F56531BF-3324-40EC-AA52-04199D16B066}"/>
              </a:ext>
            </a:extLst>
          </p:cNvPr>
          <p:cNvSpPr>
            <a:spLocks xmlns:a="http://schemas.openxmlformats.org/drawingml/2006/main" noGrp="1"/>
          </p:cNvSpPr>
          <p:nvPr/>
        </p:nvSpPr>
        <p:spPr>
          <a:xfrm xmlns:a="http://schemas.openxmlformats.org/drawingml/2006/main">
            <a:off x="6096000" y="1524000"/>
            <a:ext cx="0" cy="1952625"/>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1" name="">
            <a:extLst xmlns:a="http://schemas.openxmlformats.org/drawingml/2006/main">
              <a:ext uri="{FF2B5EF4-FFF2-40B4-BE49-F238E27FC236}">
                <a16:creationId xmlns:a16="http://schemas.microsoft.com/office/drawing/2014/main" id="{68FD0EB3-5C7B-4CCF-A8F9-DA92E52CC584}"/>
              </a:ext>
            </a:extLst>
          </p:cNvPr>
          <p:cNvSpPr>
            <a:spLocks xmlns:a="http://schemas.openxmlformats.org/drawingml/2006/main" noGrp="1"/>
          </p:cNvSpPr>
          <p:nvPr/>
        </p:nvSpPr>
        <p:spPr>
          <a:xfrm xmlns:a="http://schemas.openxmlformats.org/drawingml/2006/main">
            <a:off x="1047750" y="4191000"/>
            <a:ext cx="2381250" cy="895350"/>
          </a:xfrm>
          <a:prstGeom xmlns:a="http://schemas.openxmlformats.org/drawingml/2006/main" prst="roundRect">
            <a:avLst>
              <a:gd name="adj" fmla="val 14894"/>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725" b="1">
                <a:solidFill>
                  <a:srgbClr val="17352B"/>
                </a:solidFill>
                <a:latin typeface="Noto Sans"/>
                <a:ea typeface="Noto Sans"/>
                <a:cs typeface="Noto Sans"/>
              </a:defRPr>
            </a:pPr>
            <a:r>
              <a:rPr sz="1725" b="1">
                <a:solidFill>
                  <a:srgbClr val="17352B"/>
                </a:solidFill>
                <a:latin typeface="Noto Sans"/>
                <a:ea typeface="Noto Sans"/>
                <a:cs typeface="Noto Sans"/>
              </a:rPr>
              <a:t>CAMS</a:t>
            </a:r>
          </a:p>
          <a:p xmlns:a="http://schemas.openxmlformats.org/drawingml/2006/main">
            <a:pPr algn="ctr">
              <a:defRPr sz="1725" b="1">
                <a:solidFill>
                  <a:srgbClr val="17352B"/>
                </a:solidFill>
                <a:latin typeface="Noto Sans"/>
                <a:ea typeface="Noto Sans"/>
                <a:cs typeface="Noto Sans"/>
              </a:defRPr>
            </a:pPr>
            <a:r>
              <a:rPr sz="1725" b="1">
                <a:solidFill>
                  <a:srgbClr val="17352B"/>
                </a:solidFill>
                <a:latin typeface="Noto Sans"/>
                <a:ea typeface="Noto Sans"/>
                <a:cs typeface="Noto Sans"/>
              </a:rPr>
              <a:t>tín hiệu nền</a:t>
            </a:r>
          </a:p>
        </p:txBody>
      </p:sp>
      <p:sp>
        <p:nvSpPr>
          <p:cNvPr id="12" name="">
            <a:extLst xmlns:a="http://schemas.openxmlformats.org/drawingml/2006/main">
              <a:ext uri="{FF2B5EF4-FFF2-40B4-BE49-F238E27FC236}">
                <a16:creationId xmlns:a16="http://schemas.microsoft.com/office/drawing/2014/main" id="{724C344A-A836-4297-83E1-1E14F44A3874}"/>
              </a:ext>
            </a:extLst>
          </p:cNvPr>
          <p:cNvSpPr>
            <a:spLocks xmlns:a="http://schemas.openxmlformats.org/drawingml/2006/main" noGrp="1"/>
          </p:cNvSpPr>
          <p:nvPr/>
        </p:nvSpPr>
        <p:spPr>
          <a:xfrm xmlns:a="http://schemas.openxmlformats.org/drawingml/2006/main">
            <a:off x="4762500" y="4038600"/>
            <a:ext cx="2667000" cy="1200150"/>
          </a:xfrm>
          <a:prstGeom xmlns:a="http://schemas.openxmlformats.org/drawingml/2006/main" prst="roundRect">
            <a:avLst>
              <a:gd name="adj" fmla="val 11111"/>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Hiệu chỉnh độ lệch</a:t>
            </a:r>
          </a:p>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thích nghi</a:t>
            </a:r>
          </a:p>
        </p:txBody>
      </p:sp>
      <p:sp>
        <p:nvSpPr>
          <p:cNvPr id="13" name="">
            <a:extLst xmlns:a="http://schemas.openxmlformats.org/drawingml/2006/main">
              <a:ext uri="{FF2B5EF4-FFF2-40B4-BE49-F238E27FC236}">
                <a16:creationId xmlns:a16="http://schemas.microsoft.com/office/drawing/2014/main" id="{63550E1A-9730-4C90-8543-DB81D42B92EE}"/>
              </a:ext>
            </a:extLst>
          </p:cNvPr>
          <p:cNvSpPr>
            <a:spLocks xmlns:a="http://schemas.openxmlformats.org/drawingml/2006/main" noGrp="1"/>
          </p:cNvSpPr>
          <p:nvPr/>
        </p:nvSpPr>
        <p:spPr>
          <a:xfrm xmlns:a="http://schemas.openxmlformats.org/drawingml/2006/main">
            <a:off x="8763000" y="4191000"/>
            <a:ext cx="2571750" cy="895350"/>
          </a:xfrm>
          <a:prstGeom xmlns:a="http://schemas.openxmlformats.org/drawingml/2006/main" prst="roundRect">
            <a:avLst>
              <a:gd name="adj" fmla="val 14894"/>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PurpleAir đạt QC</a:t>
            </a:r>
          </a:p>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mới cập nhật trạng thái</a:t>
            </a:r>
          </a:p>
        </p:txBody>
      </p:sp>
      <p:cxnSp>
        <p:nvCxnSpPr>
          <p:cNvPr id="30" name=""/>
          <p:cNvCxnSpPr>
            <a:stCxn xmlns:a="http://schemas.openxmlformats.org/drawingml/2006/main" id="11" idx="3"/>
            <a:endCxn xmlns:a="http://schemas.openxmlformats.org/drawingml/2006/main" id="12" idx="1"/>
          </p:cNvCxnSpPr>
          <p:nvPr/>
        </p:nvCxnSpPr>
        <p:spPr>
          <a:xfrm xmlns:a="http://schemas.openxmlformats.org/drawingml/2006/main">
            <a:off x="3429000" y="4638675"/>
            <a:ext cx="13335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1" name=""/>
          <p:cNvCxnSpPr>
            <a:stCxn xmlns:a="http://schemas.openxmlformats.org/drawingml/2006/main" id="13" idx="1"/>
            <a:endCxn xmlns:a="http://schemas.openxmlformats.org/drawingml/2006/main" id="12" idx="3"/>
          </p:cNvCxnSpPr>
          <p:nvPr/>
        </p:nvCxnSpPr>
        <p:spPr>
          <a:xfrm xmlns:a="http://schemas.openxmlformats.org/drawingml/2006/main" flipH="1">
            <a:off x="7429500" y="4638675"/>
            <a:ext cx="13335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6" name="">
            <a:extLst xmlns:a="http://schemas.openxmlformats.org/drawingml/2006/main">
              <a:ext uri="{FF2B5EF4-FFF2-40B4-BE49-F238E27FC236}">
                <a16:creationId xmlns:a16="http://schemas.microsoft.com/office/drawing/2014/main" id="{4555D755-1D8E-4934-88DE-15803FB94D71}"/>
              </a:ext>
            </a:extLst>
          </p:cNvPr>
          <p:cNvSpPr>
            <a:spLocks xmlns:a="http://schemas.openxmlformats.org/drawingml/2006/main" noGrp="1"/>
          </p:cNvSpPr>
          <p:nvPr/>
        </p:nvSpPr>
        <p:spPr>
          <a:xfrm xmlns:a="http://schemas.openxmlformats.org/drawingml/2006/main">
            <a:off x="3048000" y="5715000"/>
            <a:ext cx="609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0F6E41"/>
                </a:solidFill>
                <a:latin typeface="Noto Sans"/>
                <a:ea typeface="Noto Sans"/>
                <a:cs typeface="Noto Sans"/>
              </a:defRPr>
            </a:pPr>
            <a:r>
              <a:rPr sz="1800" b="1">
                <a:solidFill>
                  <a:srgbClr val="0F6E41"/>
                </a:solidFill>
                <a:latin typeface="Noto Sans"/>
                <a:ea typeface="Noto Sans"/>
                <a:cs typeface="Noto Sans"/>
              </a:rPr>
              <a:t>CAMS vẫn tạo đầu ra khi PurpleAir thiếu hoặc không đạt QC</a:t>
            </a:r>
          </a:p>
        </p:txBody>
      </p:sp>
    </p:spTree>
    <p:extLst>
      <p:ext uri="{BB962C8B-B14F-4D97-AF65-F5344CB8AC3E}">
        <p14:creationId xmlns:p14="http://schemas.microsoft.com/office/powerpoint/2010/main" val="19528228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00F0558-3A2C-4A47-84D0-545D84A6C913}"/>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Kiến trúc IP hoàn chỉnh</a:t>
            </a:r>
          </a:p>
        </p:txBody>
      </p:sp>
      <p:sp>
        <p:nvSpPr>
          <p:cNvPr id="2" name="">
            <a:extLst xmlns:a="http://schemas.openxmlformats.org/drawingml/2006/main">
              <a:ext uri="{FF2B5EF4-FFF2-40B4-BE49-F238E27FC236}">
                <a16:creationId xmlns:a16="http://schemas.microsoft.com/office/drawing/2014/main" id="{680E8FD6-F0D3-4D2A-A920-C190C0963274}"/>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9719ad7a0544cb1"/>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e2cd1227d0c4c09"/>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4DF265-EC48-4F5A-AE3E-A9F233215D0B}"/>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3</a:t>
            </a:r>
          </a:p>
        </p:txBody>
      </p:sp>
      <p:sp>
        <p:nvSpPr>
          <p:cNvPr id="6" name="">
            <a:extLst xmlns:a="http://schemas.openxmlformats.org/drawingml/2006/main">
              <a:ext uri="{FF2B5EF4-FFF2-40B4-BE49-F238E27FC236}">
                <a16:creationId xmlns:a16="http://schemas.microsoft.com/office/drawing/2014/main" id="{177B9B19-FF94-4FFD-82C7-0BC1F6EEFFAD}"/>
              </a:ext>
            </a:extLst>
          </p:cNvPr>
          <p:cNvSpPr>
            <a:spLocks xmlns:a="http://schemas.openxmlformats.org/drawingml/2006/main" noGrp="1"/>
          </p:cNvSpPr>
          <p:nvPr/>
        </p:nvSpPr>
        <p:spPr>
          <a:xfrm xmlns:a="http://schemas.openxmlformats.org/drawingml/2006/main">
            <a:off x="876300" y="1381125"/>
            <a:ext cx="10439400" cy="552450"/>
          </a:xfrm>
          <a:prstGeom xmlns:a="http://schemas.openxmlformats.org/drawingml/2006/main" prst="roundRect">
            <a:avLst>
              <a:gd name="adj" fmla="val 24138"/>
            </a:avLst>
          </a:prstGeom>
          <a:solidFill xmlns:a="http://schemas.openxmlformats.org/drawingml/2006/main">
            <a:srgbClr val="EAF5EF"/>
          </a:solidFill>
          <a:ln xmlns:a="http://schemas.openxmlformats.org/drawingml/2006/main" w="14288">
            <a:solidFill>
              <a:srgbClr val="C8D8CF"/>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0">
                <a:solidFill>
                  <a:srgbClr val="17352B"/>
                </a:solidFill>
                <a:latin typeface="Noto Sans"/>
                <a:ea typeface="Noto Sans"/>
                <a:cs typeface="Noto Sans"/>
              </a:defRPr>
            </a:pPr>
            <a:r>
              <a:rPr sz="1575" b="0">
                <a:solidFill>
                  <a:srgbClr val="17352B"/>
                </a:solidFill>
                <a:latin typeface="Noto Sans"/>
                <a:ea typeface="Noto Sans"/>
                <a:cs typeface="Noto Sans"/>
              </a:rPr>
              <a:t>Thiết bị chủ thu thập dữ liệu, thực hiện QC và chuyển CAMS/PurpleAir sang số nguyên x16</a:t>
            </a:r>
          </a:p>
        </p:txBody>
      </p:sp>
      <p:sp>
        <p:nvSpPr>
          <p:cNvPr id="7" name="">
            <a:extLst xmlns:a="http://schemas.openxmlformats.org/drawingml/2006/main">
              <a:ext uri="{FF2B5EF4-FFF2-40B4-BE49-F238E27FC236}">
                <a16:creationId xmlns:a16="http://schemas.microsoft.com/office/drawing/2014/main" id="{8C71D25D-02D1-45A7-B776-1BF88659CBBC}"/>
              </a:ext>
            </a:extLst>
          </p:cNvPr>
          <p:cNvSpPr>
            <a:spLocks xmlns:a="http://schemas.openxmlformats.org/drawingml/2006/main" noGrp="1"/>
          </p:cNvSpPr>
          <p:nvPr/>
        </p:nvSpPr>
        <p:spPr>
          <a:xfrm xmlns:a="http://schemas.openxmlformats.org/drawingml/2006/main">
            <a:off x="742950" y="21907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F6E41"/>
                </a:solidFill>
                <a:latin typeface="Noto Sans"/>
                <a:ea typeface="Noto Sans"/>
                <a:cs typeface="Noto Sans"/>
              </a:defRPr>
            </a:pPr>
            <a:r>
              <a:rPr sz="1350" b="1">
                <a:solidFill>
                  <a:srgbClr val="0F6E41"/>
                </a:solidFill>
                <a:latin typeface="Noto Sans"/>
                <a:ea typeface="Noto Sans"/>
                <a:cs typeface="Noto Sans"/>
              </a:rPr>
              <a:t>TÍCH HỢP SoC</a:t>
            </a:r>
          </a:p>
        </p:txBody>
      </p:sp>
      <p:sp>
        <p:nvSpPr>
          <p:cNvPr id="8" name="">
            <a:extLst xmlns:a="http://schemas.openxmlformats.org/drawingml/2006/main">
              <a:ext uri="{FF2B5EF4-FFF2-40B4-BE49-F238E27FC236}">
                <a16:creationId xmlns:a16="http://schemas.microsoft.com/office/drawing/2014/main" id="{75F99D11-C322-4C54-BA07-507CDA90D747}"/>
              </a:ext>
            </a:extLst>
          </p:cNvPr>
          <p:cNvSpPr>
            <a:spLocks xmlns:a="http://schemas.openxmlformats.org/drawingml/2006/main" noGrp="1"/>
          </p:cNvSpPr>
          <p:nvPr/>
        </p:nvSpPr>
        <p:spPr>
          <a:xfrm xmlns:a="http://schemas.openxmlformats.org/drawingml/2006/main">
            <a:off x="742950" y="41719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F6E41"/>
                </a:solidFill>
                <a:latin typeface="Noto Sans"/>
                <a:ea typeface="Noto Sans"/>
                <a:cs typeface="Noto Sans"/>
              </a:defRPr>
            </a:pPr>
            <a:r>
              <a:rPr sz="1350" b="1">
                <a:solidFill>
                  <a:srgbClr val="0F6E41"/>
                </a:solidFill>
                <a:latin typeface="Noto Sans"/>
                <a:ea typeface="Noto Sans"/>
                <a:cs typeface="Noto Sans"/>
              </a:rPr>
              <a:t>KIỂM CHỨNG FPGA</a:t>
            </a:r>
          </a:p>
        </p:txBody>
      </p:sp>
      <p:sp>
        <p:nvSpPr>
          <p:cNvPr id="9" name="">
            <a:extLst xmlns:a="http://schemas.openxmlformats.org/drawingml/2006/main">
              <a:ext uri="{FF2B5EF4-FFF2-40B4-BE49-F238E27FC236}">
                <a16:creationId xmlns:a16="http://schemas.microsoft.com/office/drawing/2014/main" id="{69C0FE4A-CBDA-4E66-862E-41FA55106CA9}"/>
              </a:ext>
            </a:extLst>
          </p:cNvPr>
          <p:cNvSpPr>
            <a:spLocks xmlns:a="http://schemas.openxmlformats.org/drawingml/2006/main" noGrp="1"/>
          </p:cNvSpPr>
          <p:nvPr/>
        </p:nvSpPr>
        <p:spPr>
          <a:xfrm xmlns:a="http://schemas.openxmlformats.org/drawingml/2006/main">
            <a:off x="762000" y="2590800"/>
            <a:ext cx="1809750" cy="857250"/>
          </a:xfrm>
          <a:prstGeom xmlns:a="http://schemas.openxmlformats.org/drawingml/2006/main" prst="roundRect">
            <a:avLst>
              <a:gd name="adj" fmla="val 15556"/>
            </a:avLst>
          </a:prstGeom>
          <a:solidFill xmlns:a="http://schemas.openxmlformats.org/drawingml/2006/main">
            <a:srgbClr val="FFFFF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Bộ xử lý</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trong hệ thống SoC</a:t>
            </a:r>
          </a:p>
        </p:txBody>
      </p:sp>
      <p:sp>
        <p:nvSpPr>
          <p:cNvPr id="10" name="">
            <a:extLst xmlns:a="http://schemas.openxmlformats.org/drawingml/2006/main">
              <a:ext uri="{FF2B5EF4-FFF2-40B4-BE49-F238E27FC236}">
                <a16:creationId xmlns:a16="http://schemas.microsoft.com/office/drawing/2014/main" id="{A56B6DE8-F671-45B7-BFC4-71F359634371}"/>
              </a:ext>
            </a:extLst>
          </p:cNvPr>
          <p:cNvSpPr>
            <a:spLocks xmlns:a="http://schemas.openxmlformats.org/drawingml/2006/main" noGrp="1"/>
          </p:cNvSpPr>
          <p:nvPr/>
        </p:nvSpPr>
        <p:spPr>
          <a:xfrm xmlns:a="http://schemas.openxmlformats.org/drawingml/2006/main">
            <a:off x="3048000" y="2590800"/>
            <a:ext cx="219075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Giao tiếp SoC</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APB3, dữ liệu 32 bit</a:t>
            </a:r>
          </a:p>
        </p:txBody>
      </p:sp>
      <p:sp>
        <p:nvSpPr>
          <p:cNvPr id="11" name="">
            <a:extLst xmlns:a="http://schemas.openxmlformats.org/drawingml/2006/main">
              <a:ext uri="{FF2B5EF4-FFF2-40B4-BE49-F238E27FC236}">
                <a16:creationId xmlns:a16="http://schemas.microsoft.com/office/drawing/2014/main" id="{E7C86822-16C6-4169-BA81-9ECE625DDD8D}"/>
              </a:ext>
            </a:extLst>
          </p:cNvPr>
          <p:cNvSpPr>
            <a:spLocks xmlns:a="http://schemas.openxmlformats.org/drawingml/2006/main" noGrp="1"/>
          </p:cNvSpPr>
          <p:nvPr/>
        </p:nvSpPr>
        <p:spPr>
          <a:xfrm xmlns:a="http://schemas.openxmlformats.org/drawingml/2006/main">
            <a:off x="762000" y="4572000"/>
            <a:ext cx="1809750" cy="857250"/>
          </a:xfrm>
          <a:prstGeom xmlns:a="http://schemas.openxmlformats.org/drawingml/2006/main" prst="roundRect">
            <a:avLst>
              <a:gd name="adj" fmla="val 15556"/>
            </a:avLst>
          </a:prstGeom>
          <a:solidFill xmlns:a="http://schemas.openxmlformats.org/drawingml/2006/main">
            <a:srgbClr val="FFFFF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Máy tính</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kiểm thử</a:t>
            </a:r>
          </a:p>
        </p:txBody>
      </p:sp>
      <p:sp>
        <p:nvSpPr>
          <p:cNvPr id="12" name="">
            <a:extLst xmlns:a="http://schemas.openxmlformats.org/drawingml/2006/main">
              <a:ext uri="{FF2B5EF4-FFF2-40B4-BE49-F238E27FC236}">
                <a16:creationId xmlns:a16="http://schemas.microsoft.com/office/drawing/2014/main" id="{5AEA0013-DC0E-4AE4-B00B-7D4287C774F0}"/>
              </a:ext>
            </a:extLst>
          </p:cNvPr>
          <p:cNvSpPr>
            <a:spLocks xmlns:a="http://schemas.openxmlformats.org/drawingml/2006/main" noGrp="1"/>
          </p:cNvSpPr>
          <p:nvPr/>
        </p:nvSpPr>
        <p:spPr>
          <a:xfrm xmlns:a="http://schemas.openxmlformats.org/drawingml/2006/main">
            <a:off x="3048000" y="4572000"/>
            <a:ext cx="219075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Giao tiếp kiểm chứng</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UART 115200 baud</a:t>
            </a:r>
          </a:p>
        </p:txBody>
      </p:sp>
      <p:sp>
        <p:nvSpPr>
          <p:cNvPr id="13" name="">
            <a:extLst xmlns:a="http://schemas.openxmlformats.org/drawingml/2006/main">
              <a:ext uri="{FF2B5EF4-FFF2-40B4-BE49-F238E27FC236}">
                <a16:creationId xmlns:a16="http://schemas.microsoft.com/office/drawing/2014/main" id="{B908DAE9-209A-46C7-8F39-34D21E9DDC43}"/>
              </a:ext>
            </a:extLst>
          </p:cNvPr>
          <p:cNvSpPr>
            <a:spLocks xmlns:a="http://schemas.openxmlformats.org/drawingml/2006/main" noGrp="1"/>
          </p:cNvSpPr>
          <p:nvPr/>
        </p:nvSpPr>
        <p:spPr>
          <a:xfrm xmlns:a="http://schemas.openxmlformats.org/drawingml/2006/main">
            <a:off x="6858000" y="2943225"/>
            <a:ext cx="3429000" cy="1809750"/>
          </a:xfrm>
          <a:prstGeom xmlns:a="http://schemas.openxmlformats.org/drawingml/2006/main" prst="roundRect">
            <a:avLst>
              <a:gd name="adj" fmla="val 7368"/>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Lõi hiệu chỉnh PM2.5</a:t>
            </a:r>
          </a:p>
          <a:p xmlns:a="http://schemas.openxmlformats.org/drawingml/2006/main">
            <a:r>
              <a:t/>
            </a:r>
          </a:p>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Cập nhật độ lệch và</a:t>
            </a:r>
          </a:p>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ổn định cảnh báo</a:t>
            </a:r>
          </a:p>
        </p:txBody>
      </p: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2571750" y="30194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5" name=""/>
          <p:cNvCxnSpPr>
            <a:stCxn xmlns:a="http://schemas.openxmlformats.org/drawingml/2006/main" id="11" idx="3"/>
            <a:endCxn xmlns:a="http://schemas.openxmlformats.org/drawingml/2006/main" id="12" idx="1"/>
          </p:cNvCxnSpPr>
          <p:nvPr/>
        </p:nvCxnSpPr>
        <p:spPr>
          <a:xfrm xmlns:a="http://schemas.openxmlformats.org/drawingml/2006/main">
            <a:off x="2571750" y="50006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6" name=""/>
          <p:cNvCxnSpPr>
            <a:stCxn xmlns:a="http://schemas.openxmlformats.org/drawingml/2006/main" id="10" idx="3"/>
            <a:endCxn xmlns:a="http://schemas.openxmlformats.org/drawingml/2006/main" id="13" idx="1"/>
          </p:cNvCxnSpPr>
          <p:nvPr/>
        </p:nvCxnSpPr>
        <p:spPr>
          <a:xfrm xmlns:a="http://schemas.openxmlformats.org/drawingml/2006/main">
            <a:off x="5238750" y="3019425"/>
            <a:ext cx="1619250" cy="828675"/>
          </a:xfrm>
          <a:prstGeom xmlns:a="http://schemas.openxmlformats.org/drawingml/2006/main" prst="bentConnector3">
            <a:avLst>
              <a:gd name="adj1" fmla="val 50000"/>
            </a:avLst>
          </a:prstGeom>
          <a:ln xmlns:a="http://schemas.openxmlformats.org/drawingml/2006/main" w="19050">
            <a:solidFill>
              <a:srgbClr val="0F6E41"/>
            </a:solidFill>
            <a:prstDash val="solid"/>
            <a:tailEnd type="triangle" w="sm" len="sm"/>
          </a:ln>
        </p:spPr>
      </p:cxnSp>
      <p:cxnSp>
        <p:nvCxnSpPr>
          <p:cNvPr id="37" name=""/>
          <p:cNvCxnSpPr>
            <a:stCxn xmlns:a="http://schemas.openxmlformats.org/drawingml/2006/main" id="12" idx="3"/>
            <a:endCxn xmlns:a="http://schemas.openxmlformats.org/drawingml/2006/main" id="13" idx="1"/>
          </p:cNvCxnSpPr>
          <p:nvPr/>
        </p:nvCxnSpPr>
        <p:spPr>
          <a:xfrm xmlns:a="http://schemas.openxmlformats.org/drawingml/2006/main" flipV="1">
            <a:off x="5238750" y="3848100"/>
            <a:ext cx="1619250" cy="1152525"/>
          </a:xfrm>
          <a:prstGeom xmlns:a="http://schemas.openxmlformats.org/drawingml/2006/main" prst="bentConnector3">
            <a:avLst>
              <a:gd name="adj1" fmla="val 50000"/>
            </a:avLst>
          </a:prstGeom>
          <a:ln xmlns:a="http://schemas.openxmlformats.org/drawingml/2006/main" w="19050">
            <a:solidFill>
              <a:srgbClr val="0F6E41"/>
            </a:solidFill>
            <a:prstDash val="solid"/>
            <a:tailEnd type="triangle" w="sm" len="sm"/>
          </a:ln>
        </p:spPr>
      </p:cxnSp>
      <p:sp>
        <p:nvSpPr>
          <p:cNvPr id="18" name="">
            <a:extLst xmlns:a="http://schemas.openxmlformats.org/drawingml/2006/main">
              <a:ext uri="{FF2B5EF4-FFF2-40B4-BE49-F238E27FC236}">
                <a16:creationId xmlns:a16="http://schemas.microsoft.com/office/drawing/2014/main" id="{5CA2C754-FEAE-44C4-BAB2-EEE354A4F79C}"/>
              </a:ext>
            </a:extLst>
          </p:cNvPr>
          <p:cNvSpPr>
            <a:spLocks xmlns:a="http://schemas.openxmlformats.org/drawingml/2006/main" noGrp="1"/>
          </p:cNvSpPr>
          <p:nvPr/>
        </p:nvSpPr>
        <p:spPr>
          <a:xfrm xmlns:a="http://schemas.openxmlformats.org/drawingml/2006/main">
            <a:off x="3067050" y="3638550"/>
            <a:ext cx="2152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Mô phỏng RTL</a:t>
            </a:r>
          </a:p>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89 giao dịch, 325 phép kiểm</a:t>
            </a:r>
          </a:p>
        </p:txBody>
      </p:sp>
      <p:sp>
        <p:nvSpPr>
          <p:cNvPr id="19" name="">
            <a:extLst xmlns:a="http://schemas.openxmlformats.org/drawingml/2006/main">
              <a:ext uri="{FF2B5EF4-FFF2-40B4-BE49-F238E27FC236}">
                <a16:creationId xmlns:a16="http://schemas.microsoft.com/office/drawing/2014/main" id="{322EAB3E-40B5-483D-BBC7-B6B7654F7669}"/>
              </a:ext>
            </a:extLst>
          </p:cNvPr>
          <p:cNvSpPr>
            <a:spLocks xmlns:a="http://schemas.openxmlformats.org/drawingml/2006/main" noGrp="1"/>
          </p:cNvSpPr>
          <p:nvPr/>
        </p:nvSpPr>
        <p:spPr>
          <a:xfrm xmlns:a="http://schemas.openxmlformats.org/drawingml/2006/main">
            <a:off x="2971800" y="56197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Kiểm chứng vật lý trên Tang Nano 9K</a:t>
            </a:r>
          </a:p>
        </p:txBody>
      </p:sp>
      <p:sp>
        <p:nvSpPr>
          <p:cNvPr id="20" name="">
            <a:extLst xmlns:a="http://schemas.openxmlformats.org/drawingml/2006/main">
              <a:ext uri="{FF2B5EF4-FFF2-40B4-BE49-F238E27FC236}">
                <a16:creationId xmlns:a16="http://schemas.microsoft.com/office/drawing/2014/main" id="{912F20E3-3F07-4B71-9CA7-C4E9EEEB3A8F}"/>
              </a:ext>
            </a:extLst>
          </p:cNvPr>
          <p:cNvSpPr>
            <a:spLocks xmlns:a="http://schemas.openxmlformats.org/drawingml/2006/main" noGrp="1"/>
          </p:cNvSpPr>
          <p:nvPr/>
        </p:nvSpPr>
        <p:spPr>
          <a:xfrm xmlns:a="http://schemas.openxmlformats.org/drawingml/2006/main">
            <a:off x="6191250" y="50958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00" b="1">
                <a:solidFill>
                  <a:srgbClr val="0F6E41"/>
                </a:solidFill>
                <a:latin typeface="Noto Sans"/>
                <a:ea typeface="Noto Sans"/>
                <a:cs typeface="Noto Sans"/>
              </a:defRPr>
            </a:pPr>
            <a:r>
              <a:rPr sz="1500" b="1">
                <a:solidFill>
                  <a:srgbClr val="0F6E41"/>
                </a:solidFill>
                <a:latin typeface="Noto Sans"/>
                <a:ea typeface="Noto Sans"/>
                <a:cs typeface="Noto Sans"/>
              </a:rPr>
              <a:t>APB3 và UART hoạt động độc lập</a:t>
            </a:r>
          </a:p>
          <a:p xmlns:a="http://schemas.openxmlformats.org/drawingml/2006/main">
            <a:pPr algn="ctr">
              <a:lnSpc>
                <a:spcPct val="105000"/>
              </a:lnSpc>
              <a:buNone/>
              <a:defRPr sz="1500" b="1">
                <a:solidFill>
                  <a:srgbClr val="0F6E41"/>
                </a:solidFill>
                <a:latin typeface="Noto Sans"/>
                <a:ea typeface="Noto Sans"/>
                <a:cs typeface="Noto Sans"/>
              </a:defRPr>
            </a:pPr>
            <a:r>
              <a:rPr sz="1500" b="1">
                <a:solidFill>
                  <a:srgbClr val="0F6E41"/>
                </a:solidFill>
                <a:latin typeface="Noto Sans"/>
                <a:ea typeface="Noto Sans"/>
                <a:cs typeface="Noto Sans"/>
              </a:rPr>
              <a:t>nhưng cùng sử dụng một lõi xử lý</a:t>
            </a:r>
          </a:p>
        </p:txBody>
      </p:sp>
    </p:spTree>
    <p:extLst>
      <p:ext uri="{BB962C8B-B14F-4D97-AF65-F5344CB8AC3E}">
        <p14:creationId xmlns:p14="http://schemas.microsoft.com/office/powerpoint/2010/main" val="17685809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ED5E5CD-5A08-4943-8EB1-E7C64EA5CF12}"/>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Lõi xử lý PM2.5</a:t>
            </a:r>
          </a:p>
        </p:txBody>
      </p:sp>
      <p:sp>
        <p:nvSpPr>
          <p:cNvPr id="2" name="">
            <a:extLst xmlns:a="http://schemas.openxmlformats.org/drawingml/2006/main">
              <a:ext uri="{FF2B5EF4-FFF2-40B4-BE49-F238E27FC236}">
                <a16:creationId xmlns:a16="http://schemas.microsoft.com/office/drawing/2014/main" id="{1C34E7CE-97CB-4A39-95C8-4952CBF40231}"/>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694d55a3d794412"/>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1158206467146e2"/>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B6369-BF52-44F8-AA3B-370BBD35414F}"/>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4</a:t>
            </a:r>
          </a:p>
        </p:txBody>
      </p:sp>
      <p:sp>
        <p:nvSpPr>
          <p:cNvPr id="6" name="">
            <a:extLst xmlns:a="http://schemas.openxmlformats.org/drawingml/2006/main">
              <a:ext uri="{FF2B5EF4-FFF2-40B4-BE49-F238E27FC236}">
                <a16:creationId xmlns:a16="http://schemas.microsoft.com/office/drawing/2014/main" id="{61F69332-7F68-43CB-A102-7D195B6C4BF0}"/>
              </a:ext>
            </a:extLst>
          </p:cNvPr>
          <p:cNvSpPr>
            <a:spLocks xmlns:a="http://schemas.openxmlformats.org/drawingml/2006/main" noGrp="1"/>
          </p:cNvSpPr>
          <p:nvPr/>
        </p:nvSpPr>
        <p:spPr>
          <a:xfrm xmlns:a="http://schemas.openxmlformats.org/drawingml/2006/main">
            <a:off x="781050" y="1428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F6E41"/>
                </a:solidFill>
                <a:latin typeface="Noto Sans"/>
                <a:ea typeface="Noto Sans"/>
                <a:cs typeface="Noto Sans"/>
              </a:defRPr>
            </a:pPr>
            <a:r>
              <a:rPr sz="1650" b="1">
                <a:solidFill>
                  <a:srgbClr val="0F6E41"/>
                </a:solidFill>
                <a:latin typeface="Noto Sans"/>
                <a:ea typeface="Noto Sans"/>
                <a:cs typeface="Noto Sans"/>
              </a:rPr>
              <a:t>Cập nhật độ lệch đã học</a:t>
            </a:r>
          </a:p>
        </p:txBody>
      </p:sp>
      <p:sp>
        <p:nvSpPr>
          <p:cNvPr id="7" name="">
            <a:extLst xmlns:a="http://schemas.openxmlformats.org/drawingml/2006/main">
              <a:ext uri="{FF2B5EF4-FFF2-40B4-BE49-F238E27FC236}">
                <a16:creationId xmlns:a16="http://schemas.microsoft.com/office/drawing/2014/main" id="{6B32E69E-3BF8-4F07-9970-D7FAAC96FB02}"/>
              </a:ext>
            </a:extLst>
          </p:cNvPr>
          <p:cNvSpPr>
            <a:spLocks xmlns:a="http://schemas.openxmlformats.org/drawingml/2006/main" noGrp="1"/>
          </p:cNvSpPr>
          <p:nvPr/>
        </p:nvSpPr>
        <p:spPr>
          <a:xfrm xmlns:a="http://schemas.openxmlformats.org/drawingml/2006/main">
            <a:off x="762000" y="1924050"/>
            <a:ext cx="23336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425" b="1">
                <a:solidFill>
                  <a:srgbClr val="17352B"/>
                </a:solidFill>
                <a:latin typeface="Noto Sans"/>
                <a:ea typeface="Noto Sans"/>
                <a:cs typeface="Noto Sans"/>
              </a:defRPr>
            </a:pPr>
            <a:r>
              <a:rPr sz="1425" b="1">
                <a:solidFill>
                  <a:srgbClr val="17352B"/>
                </a:solidFill>
                <a:latin typeface="Noto Sans"/>
                <a:ea typeface="Noto Sans"/>
                <a:cs typeface="Noto Sans"/>
              </a:rPr>
              <a:t>Độ lệch quan sát</a:t>
            </a:r>
          </a:p>
          <a:p xmlns:a="http://schemas.openxmlformats.org/drawingml/2006/main">
            <a:pPr algn="ctr">
              <a:defRPr sz="1425" b="1">
                <a:solidFill>
                  <a:srgbClr val="17352B"/>
                </a:solidFill>
                <a:latin typeface="Noto Sans"/>
                <a:ea typeface="Noto Sans"/>
                <a:cs typeface="Noto Sans"/>
              </a:defRPr>
            </a:pPr>
            <a:r>
              <a:rPr sz="1425" b="1">
                <a:solidFill>
                  <a:srgbClr val="17352B"/>
                </a:solidFill>
                <a:latin typeface="Noto Sans"/>
                <a:ea typeface="Noto Sans"/>
                <a:cs typeface="Noto Sans"/>
              </a:rPr>
              <a:t>PurpleAir − CAMS</a:t>
            </a:r>
          </a:p>
        </p:txBody>
      </p:sp>
      <p:sp>
        <p:nvSpPr>
          <p:cNvPr id="8" name="">
            <a:extLst xmlns:a="http://schemas.openxmlformats.org/drawingml/2006/main">
              <a:ext uri="{FF2B5EF4-FFF2-40B4-BE49-F238E27FC236}">
                <a16:creationId xmlns:a16="http://schemas.microsoft.com/office/drawing/2014/main" id="{F1359A2C-03CF-4D58-8BA5-48329A72152B}"/>
              </a:ext>
            </a:extLst>
          </p:cNvPr>
          <p:cNvSpPr>
            <a:spLocks xmlns:a="http://schemas.openxmlformats.org/drawingml/2006/main" noGrp="1"/>
          </p:cNvSpPr>
          <p:nvPr/>
        </p:nvSpPr>
        <p:spPr>
          <a:xfrm xmlns:a="http://schemas.openxmlformats.org/drawingml/2006/main">
            <a:off x="3476625" y="1924050"/>
            <a:ext cx="23336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So với trạng thái</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hiện tại</a:t>
            </a:r>
          </a:p>
        </p:txBody>
      </p:sp>
      <p:sp>
        <p:nvSpPr>
          <p:cNvPr id="9" name="">
            <a:extLst xmlns:a="http://schemas.openxmlformats.org/drawingml/2006/main">
              <a:ext uri="{FF2B5EF4-FFF2-40B4-BE49-F238E27FC236}">
                <a16:creationId xmlns:a16="http://schemas.microsoft.com/office/drawing/2014/main" id="{F9A7C5EE-5674-400B-88C0-163C52D67B38}"/>
              </a:ext>
            </a:extLst>
          </p:cNvPr>
          <p:cNvSpPr>
            <a:spLocks xmlns:a="http://schemas.openxmlformats.org/drawingml/2006/main" noGrp="1"/>
          </p:cNvSpPr>
          <p:nvPr/>
        </p:nvSpPr>
        <p:spPr>
          <a:xfrm xmlns:a="http://schemas.openxmlformats.org/drawingml/2006/main">
            <a:off x="6191250" y="1924050"/>
            <a:ext cx="23336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Điều chỉnh 1/8</a:t>
            </a:r>
          </a:p>
        </p:txBody>
      </p:sp>
      <p:sp>
        <p:nvSpPr>
          <p:cNvPr id="10" name="">
            <a:extLst xmlns:a="http://schemas.openxmlformats.org/drawingml/2006/main">
              <a:ext uri="{FF2B5EF4-FFF2-40B4-BE49-F238E27FC236}">
                <a16:creationId xmlns:a16="http://schemas.microsoft.com/office/drawing/2014/main" id="{FA855B66-2044-4F06-A3E7-B4447687C6E0}"/>
              </a:ext>
            </a:extLst>
          </p:cNvPr>
          <p:cNvSpPr>
            <a:spLocks xmlns:a="http://schemas.openxmlformats.org/drawingml/2006/main" noGrp="1"/>
          </p:cNvSpPr>
          <p:nvPr/>
        </p:nvSpPr>
        <p:spPr>
          <a:xfrm xmlns:a="http://schemas.openxmlformats.org/drawingml/2006/main">
            <a:off x="8905875" y="1924050"/>
            <a:ext cx="25241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Lưu trạng thái mới</a:t>
            </a:r>
          </a:p>
        </p:txBody>
      </p: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3095625" y="2295525"/>
            <a:ext cx="3810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a:off x="5810250" y="2295525"/>
            <a:ext cx="3810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8524875" y="2295525"/>
            <a:ext cx="3810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4" name="">
            <a:extLst xmlns:a="http://schemas.openxmlformats.org/drawingml/2006/main">
              <a:ext uri="{FF2B5EF4-FFF2-40B4-BE49-F238E27FC236}">
                <a16:creationId xmlns:a16="http://schemas.microsoft.com/office/drawing/2014/main" id="{61DB2FC8-C042-41F4-B857-4FBA7DF80A9B}"/>
              </a:ext>
            </a:extLst>
          </p:cNvPr>
          <p:cNvSpPr>
            <a:spLocks xmlns:a="http://schemas.openxmlformats.org/drawingml/2006/main" noGrp="1"/>
          </p:cNvSpPr>
          <p:nvPr/>
        </p:nvSpPr>
        <p:spPr>
          <a:xfrm xmlns:a="http://schemas.openxmlformats.org/drawingml/2006/main">
            <a:off x="781050" y="3238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F6E41"/>
                </a:solidFill>
                <a:latin typeface="Noto Sans"/>
                <a:ea typeface="Noto Sans"/>
                <a:cs typeface="Noto Sans"/>
              </a:defRPr>
            </a:pPr>
            <a:r>
              <a:rPr sz="1650" b="1">
                <a:solidFill>
                  <a:srgbClr val="0F6E41"/>
                </a:solidFill>
                <a:latin typeface="Noto Sans"/>
                <a:ea typeface="Noto Sans"/>
                <a:cs typeface="Noto Sans"/>
              </a:rPr>
              <a:t>Tạo giá trị PM2.5 hiệu chỉnh</a:t>
            </a:r>
          </a:p>
        </p:txBody>
      </p:sp>
      <p:sp>
        <p:nvSpPr>
          <p:cNvPr id="15" name="">
            <a:extLst xmlns:a="http://schemas.openxmlformats.org/drawingml/2006/main">
              <a:ext uri="{FF2B5EF4-FFF2-40B4-BE49-F238E27FC236}">
                <a16:creationId xmlns:a16="http://schemas.microsoft.com/office/drawing/2014/main" id="{8BBF9803-49ED-4793-9F51-EB9F276AB999}"/>
              </a:ext>
            </a:extLst>
          </p:cNvPr>
          <p:cNvSpPr>
            <a:spLocks xmlns:a="http://schemas.openxmlformats.org/drawingml/2006/main" noGrp="1"/>
          </p:cNvSpPr>
          <p:nvPr/>
        </p:nvSpPr>
        <p:spPr>
          <a:xfrm xmlns:a="http://schemas.openxmlformats.org/drawingml/2006/main">
            <a:off x="1238250" y="3781425"/>
            <a:ext cx="28575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425" b="1">
                <a:solidFill>
                  <a:srgbClr val="17352B"/>
                </a:solidFill>
                <a:latin typeface="Noto Sans"/>
                <a:ea typeface="Noto Sans"/>
                <a:cs typeface="Noto Sans"/>
              </a:defRPr>
            </a:pPr>
            <a:r>
              <a:rPr sz="1425" b="1">
                <a:solidFill>
                  <a:srgbClr val="17352B"/>
                </a:solidFill>
                <a:latin typeface="Noto Sans"/>
                <a:ea typeface="Noto Sans"/>
                <a:cs typeface="Noto Sans"/>
              </a:rPr>
              <a:t>Giá trị nền CAMS +</a:t>
            </a:r>
          </a:p>
          <a:p xmlns:a="http://schemas.openxmlformats.org/drawingml/2006/main">
            <a:pPr algn="ctr">
              <a:defRPr sz="1425" b="1">
                <a:solidFill>
                  <a:srgbClr val="17352B"/>
                </a:solidFill>
                <a:latin typeface="Noto Sans"/>
                <a:ea typeface="Noto Sans"/>
                <a:cs typeface="Noto Sans"/>
              </a:defRPr>
            </a:pPr>
            <a:r>
              <a:rPr sz="1425" b="1">
                <a:solidFill>
                  <a:srgbClr val="17352B"/>
                </a:solidFill>
                <a:latin typeface="Noto Sans"/>
                <a:ea typeface="Noto Sans"/>
                <a:cs typeface="Noto Sans"/>
              </a:rPr>
              <a:t>độ lệch đã học</a:t>
            </a:r>
          </a:p>
        </p:txBody>
      </p:sp>
      <p:sp>
        <p:nvSpPr>
          <p:cNvPr id="16" name="">
            <a:extLst xmlns:a="http://schemas.openxmlformats.org/drawingml/2006/main">
              <a:ext uri="{FF2B5EF4-FFF2-40B4-BE49-F238E27FC236}">
                <a16:creationId xmlns:a16="http://schemas.microsoft.com/office/drawing/2014/main" id="{FC1981A6-4FC8-4DF1-84AE-6FE447C49082}"/>
              </a:ext>
            </a:extLst>
          </p:cNvPr>
          <p:cNvSpPr>
            <a:spLocks xmlns:a="http://schemas.openxmlformats.org/drawingml/2006/main" noGrp="1"/>
          </p:cNvSpPr>
          <p:nvPr/>
        </p:nvSpPr>
        <p:spPr>
          <a:xfrm xmlns:a="http://schemas.openxmlformats.org/drawingml/2006/main">
            <a:off x="4762500" y="3781425"/>
            <a:ext cx="2286000"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Giới hạn trong dải</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0–500 µg/m³</a:t>
            </a:r>
          </a:p>
        </p:txBody>
      </p:sp>
      <p:sp>
        <p:nvSpPr>
          <p:cNvPr id="17" name="">
            <a:extLst xmlns:a="http://schemas.openxmlformats.org/drawingml/2006/main">
              <a:ext uri="{FF2B5EF4-FFF2-40B4-BE49-F238E27FC236}">
                <a16:creationId xmlns:a16="http://schemas.microsoft.com/office/drawing/2014/main" id="{305D6FFF-3CA5-4AD2-AAFE-A0FEF60137D0}"/>
              </a:ext>
            </a:extLst>
          </p:cNvPr>
          <p:cNvSpPr>
            <a:spLocks xmlns:a="http://schemas.openxmlformats.org/drawingml/2006/main" noGrp="1"/>
          </p:cNvSpPr>
          <p:nvPr/>
        </p:nvSpPr>
        <p:spPr>
          <a:xfrm xmlns:a="http://schemas.openxmlformats.org/drawingml/2006/main">
            <a:off x="7715250" y="3781425"/>
            <a:ext cx="2762250" cy="742950"/>
          </a:xfrm>
          <a:prstGeom xmlns:a="http://schemas.openxmlformats.org/drawingml/2006/main" prst="roundRect">
            <a:avLst>
              <a:gd name="adj" fmla="val 17949"/>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FFFFFF"/>
                </a:solidFill>
                <a:latin typeface="Noto Sans"/>
                <a:ea typeface="Noto Sans"/>
                <a:cs typeface="Noto Sans"/>
              </a:defRPr>
            </a:pPr>
            <a:r>
              <a:rPr sz="1575" b="1">
                <a:solidFill>
                  <a:srgbClr val="FFFFFF"/>
                </a:solidFill>
                <a:latin typeface="Noto Sans"/>
                <a:ea typeface="Noto Sans"/>
                <a:cs typeface="Noto Sans"/>
              </a:rPr>
              <a:t>Phân mức và</a:t>
            </a:r>
          </a:p>
          <a:p xmlns:a="http://schemas.openxmlformats.org/drawingml/2006/main">
            <a:pPr algn="ctr">
              <a:defRPr sz="1575" b="1">
                <a:solidFill>
                  <a:srgbClr val="FFFFFF"/>
                </a:solidFill>
                <a:latin typeface="Noto Sans"/>
                <a:ea typeface="Noto Sans"/>
                <a:cs typeface="Noto Sans"/>
              </a:defRPr>
            </a:pPr>
            <a:r>
              <a:rPr sz="1575" b="1">
                <a:solidFill>
                  <a:srgbClr val="FFFFFF"/>
                </a:solidFill>
                <a:latin typeface="Noto Sans"/>
                <a:ea typeface="Noto Sans"/>
                <a:cs typeface="Noto Sans"/>
              </a:rPr>
              <a:t>vùng trễ cảnh báo</a:t>
            </a:r>
          </a:p>
        </p:txBody>
      </p:sp>
      <p:cxnSp>
        <p:nvCxnSpPr>
          <p:cNvPr id="39" name=""/>
          <p:cNvCxnSpPr>
            <a:stCxn xmlns:a="http://schemas.openxmlformats.org/drawingml/2006/main" id="15" idx="3"/>
            <a:endCxn xmlns:a="http://schemas.openxmlformats.org/drawingml/2006/main" id="16" idx="1"/>
          </p:cNvCxnSpPr>
          <p:nvPr/>
        </p:nvCxnSpPr>
        <p:spPr>
          <a:xfrm xmlns:a="http://schemas.openxmlformats.org/drawingml/2006/main">
            <a:off x="4095750" y="4152900"/>
            <a:ext cx="6667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40" name=""/>
          <p:cNvCxnSpPr>
            <a:stCxn xmlns:a="http://schemas.openxmlformats.org/drawingml/2006/main" id="16" idx="3"/>
            <a:endCxn xmlns:a="http://schemas.openxmlformats.org/drawingml/2006/main" id="17" idx="1"/>
          </p:cNvCxnSpPr>
          <p:nvPr/>
        </p:nvCxnSpPr>
        <p:spPr>
          <a:xfrm xmlns:a="http://schemas.openxmlformats.org/drawingml/2006/main">
            <a:off x="7048500" y="4152900"/>
            <a:ext cx="6667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20" name="">
            <a:extLst xmlns:a="http://schemas.openxmlformats.org/drawingml/2006/main">
              <a:ext uri="{FF2B5EF4-FFF2-40B4-BE49-F238E27FC236}">
                <a16:creationId xmlns:a16="http://schemas.microsoft.com/office/drawing/2014/main" id="{2FE58C29-A202-422E-8101-57ED0F007E03}"/>
              </a:ext>
            </a:extLst>
          </p:cNvPr>
          <p:cNvSpPr>
            <a:spLocks xmlns:a="http://schemas.openxmlformats.org/drawingml/2006/main" noGrp="1"/>
          </p:cNvSpPr>
          <p:nvPr/>
        </p:nvSpPr>
        <p:spPr>
          <a:xfrm xmlns:a="http://schemas.openxmlformats.org/drawingml/2006/main">
            <a:off x="2000250" y="5143500"/>
            <a:ext cx="8191500" cy="723900"/>
          </a:xfrm>
          <a:prstGeom xmlns:a="http://schemas.openxmlformats.org/drawingml/2006/main" prst="roundRect">
            <a:avLst>
              <a:gd name="adj" fmla="val 18421"/>
            </a:avLst>
          </a:prstGeom>
          <a:solidFill xmlns:a="http://schemas.openxmlformats.org/drawingml/2006/main">
            <a:srgbClr val="FFFFFF"/>
          </a:solidFill>
          <a:ln xmlns:a="http://schemas.openxmlformats.org/drawingml/2006/main" w="19050">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lnSpc>
                <a:spcPct val="105000"/>
              </a:lnSpc>
              <a:buNone/>
              <a:defRPr sz="1575" b="1">
                <a:solidFill>
                  <a:srgbClr val="0F6E41"/>
                </a:solidFill>
                <a:latin typeface="Noto Sans"/>
                <a:ea typeface="Noto Sans"/>
                <a:cs typeface="Noto Sans"/>
              </a:defRPr>
            </a:pPr>
            <a:r>
              <a:rPr sz="1575" b="1">
                <a:solidFill>
                  <a:srgbClr val="0F6E41"/>
                </a:solidFill>
                <a:latin typeface="Noto Sans"/>
                <a:ea typeface="Noto Sans"/>
                <a:cs typeface="Noto Sans"/>
              </a:rPr>
              <a:t>Kết quả của mẫu hiện tại dùng trạng thái đã có.</a:t>
            </a:r>
          </a:p>
          <a:p xmlns:a="http://schemas.openxmlformats.org/drawingml/2006/main">
            <a:pPr algn="ctr">
              <a:lnSpc>
                <a:spcPct val="105000"/>
              </a:lnSpc>
              <a:buNone/>
              <a:defRPr sz="1575" b="1">
                <a:solidFill>
                  <a:srgbClr val="0F6E41"/>
                </a:solidFill>
                <a:latin typeface="Noto Sans"/>
                <a:ea typeface="Noto Sans"/>
                <a:cs typeface="Noto Sans"/>
              </a:defRPr>
            </a:pPr>
            <a:r>
              <a:rPr sz="1575" b="1">
                <a:solidFill>
                  <a:srgbClr val="0F6E41"/>
                </a:solidFill>
                <a:latin typeface="Noto Sans"/>
                <a:ea typeface="Noto Sans"/>
                <a:cs typeface="Noto Sans"/>
              </a:rPr>
              <a:t>Phần cập nhật áp dụng từ mẫu kế tiếp.</a:t>
            </a:r>
          </a:p>
        </p:txBody>
      </p:sp>
      <p:sp>
        <p:nvSpPr>
          <p:cNvPr id="21" name="">
            <a:extLst xmlns:a="http://schemas.openxmlformats.org/drawingml/2006/main">
              <a:ext uri="{FF2B5EF4-FFF2-40B4-BE49-F238E27FC236}">
                <a16:creationId xmlns:a16="http://schemas.microsoft.com/office/drawing/2014/main" id="{4606CC29-C13E-4186-82F2-FA055174A6D3}"/>
              </a:ext>
            </a:extLst>
          </p:cNvPr>
          <p:cNvSpPr>
            <a:spLocks xmlns:a="http://schemas.openxmlformats.org/drawingml/2006/main" noGrp="1"/>
          </p:cNvSpPr>
          <p:nvPr/>
        </p:nvSpPr>
        <p:spPr>
          <a:xfrm xmlns:a="http://schemas.openxmlformats.org/drawingml/2006/main">
            <a:off x="2000250" y="60007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17352B"/>
                </a:solidFill>
                <a:latin typeface="Noto Sans"/>
                <a:ea typeface="Noto Sans"/>
                <a:cs typeface="Noto Sans"/>
              </a:defRPr>
            </a:pPr>
            <a:r>
              <a:rPr sz="1350" b="1">
                <a:solidFill>
                  <a:srgbClr val="17352B"/>
                </a:solidFill>
                <a:latin typeface="Noto Sans"/>
                <a:ea typeface="Noto Sans"/>
                <a:cs typeface="Noto Sans"/>
              </a:rPr>
              <a:t>Dữ liệu dùng số nguyên x16. Mẫu không đạt QC không làm thay đổi trạng thái.</a:t>
            </a:r>
          </a:p>
        </p:txBody>
      </p:sp>
    </p:spTree>
    <p:extLst>
      <p:ext uri="{BB962C8B-B14F-4D97-AF65-F5344CB8AC3E}">
        <p14:creationId xmlns:p14="http://schemas.microsoft.com/office/powerpoint/2010/main" val="5096645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09CDE02-46C8-4EC6-A2D1-5641E28B663A}"/>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Giao diện APB3 cho tích hợp SoC</a:t>
            </a:r>
          </a:p>
        </p:txBody>
      </p:sp>
      <p:sp>
        <p:nvSpPr>
          <p:cNvPr id="2" name="">
            <a:extLst xmlns:a="http://schemas.openxmlformats.org/drawingml/2006/main">
              <a:ext uri="{FF2B5EF4-FFF2-40B4-BE49-F238E27FC236}">
                <a16:creationId xmlns:a16="http://schemas.microsoft.com/office/drawing/2014/main" id="{BED1DB09-3105-4989-BEBB-84AB0A7EBD22}"/>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d262e5ce9284cae"/>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23f975e30ca438d"/>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A2C3B3-16D2-4B68-BF9D-FFB68DC7A7F8}"/>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5</a:t>
            </a:r>
          </a:p>
        </p:txBody>
      </p:sp>
      <p:sp>
        <p:nvSpPr>
          <p:cNvPr id="6" name="">
            <a:extLst xmlns:a="http://schemas.openxmlformats.org/drawingml/2006/main">
              <a:ext uri="{FF2B5EF4-FFF2-40B4-BE49-F238E27FC236}">
                <a16:creationId xmlns:a16="http://schemas.microsoft.com/office/drawing/2014/main" id="{88CB6AFF-7897-47A3-A0E7-C39B9C414416}"/>
              </a:ext>
            </a:extLst>
          </p:cNvPr>
          <p:cNvSpPr>
            <a:spLocks xmlns:a="http://schemas.openxmlformats.org/drawingml/2006/main" noGrp="1"/>
          </p:cNvSpPr>
          <p:nvPr/>
        </p:nvSpPr>
        <p:spPr>
          <a:xfrm xmlns:a="http://schemas.openxmlformats.org/drawingml/2006/main">
            <a:off x="647700" y="13525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0F6E41"/>
                </a:solidFill>
                <a:latin typeface="Noto Sans"/>
                <a:ea typeface="Noto Sans"/>
                <a:cs typeface="Noto Sans"/>
              </a:defRPr>
            </a:pPr>
            <a:r>
              <a:rPr sz="1575" b="1">
                <a:solidFill>
                  <a:srgbClr val="0F6E41"/>
                </a:solidFill>
                <a:latin typeface="Noto Sans"/>
                <a:ea typeface="Noto Sans"/>
                <a:cs typeface="Noto Sans"/>
              </a:rPr>
              <a:t>Dữ liệu 32 bit</a:t>
            </a:r>
          </a:p>
        </p:txBody>
      </p:sp>
      <p:sp>
        <p:nvSpPr>
          <p:cNvPr id="7" name="">
            <a:extLst xmlns:a="http://schemas.openxmlformats.org/drawingml/2006/main">
              <a:ext uri="{FF2B5EF4-FFF2-40B4-BE49-F238E27FC236}">
                <a16:creationId xmlns:a16="http://schemas.microsoft.com/office/drawing/2014/main" id="{5337F9CE-1BFF-41FE-B47C-536D66583E87}"/>
              </a:ext>
            </a:extLst>
          </p:cNvPr>
          <p:cNvSpPr>
            <a:spLocks xmlns:a="http://schemas.openxmlformats.org/drawingml/2006/main" noGrp="1"/>
          </p:cNvSpPr>
          <p:nvPr/>
        </p:nvSpPr>
        <p:spPr>
          <a:xfrm xmlns:a="http://schemas.openxmlformats.org/drawingml/2006/main">
            <a:off x="3048000" y="12954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Giao dịch không chờ</a:t>
            </a:r>
          </a:p>
        </p:txBody>
      </p:sp>
      <p:sp>
        <p:nvSpPr>
          <p:cNvPr id="8" name="">
            <a:extLst xmlns:a="http://schemas.openxmlformats.org/drawingml/2006/main">
              <a:ext uri="{FF2B5EF4-FFF2-40B4-BE49-F238E27FC236}">
                <a16:creationId xmlns:a16="http://schemas.microsoft.com/office/drawing/2014/main" id="{EFC6A477-EFDD-4D02-9F98-1431E8ABFBE2}"/>
              </a:ext>
            </a:extLst>
          </p:cNvPr>
          <p:cNvSpPr>
            <a:spLocks xmlns:a="http://schemas.openxmlformats.org/drawingml/2006/main" noGrp="1"/>
          </p:cNvSpPr>
          <p:nvPr/>
        </p:nvSpPr>
        <p:spPr>
          <a:xfrm xmlns:a="http://schemas.openxmlformats.org/drawingml/2006/main">
            <a:off x="3048000" y="16097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17352B"/>
                </a:solidFill>
                <a:latin typeface="DejaVu Sans Mono"/>
                <a:ea typeface="DejaVu Sans Mono"/>
                <a:cs typeface="DejaVu Sans Mono"/>
              </a:defRPr>
            </a:pPr>
            <a:r>
              <a:rPr sz="1125" b="1">
                <a:solidFill>
                  <a:srgbClr val="17352B"/>
                </a:solidFill>
                <a:latin typeface="DejaVu Sans Mono"/>
                <a:ea typeface="DejaVu Sans Mono"/>
                <a:cs typeface="DejaVu Sans Mono"/>
              </a:rPr>
              <a:t>PREADY = 1</a:t>
            </a:r>
          </a:p>
        </p:txBody>
      </p:sp>
      <p:sp>
        <p:nvSpPr>
          <p:cNvPr id="9" name="">
            <a:extLst xmlns:a="http://schemas.openxmlformats.org/drawingml/2006/main">
              <a:ext uri="{FF2B5EF4-FFF2-40B4-BE49-F238E27FC236}">
                <a16:creationId xmlns:a16="http://schemas.microsoft.com/office/drawing/2014/main" id="{60C6637E-48F8-4597-8900-50F826EA1741}"/>
              </a:ext>
            </a:extLst>
          </p:cNvPr>
          <p:cNvSpPr>
            <a:spLocks xmlns:a="http://schemas.openxmlformats.org/drawingml/2006/main" noGrp="1"/>
          </p:cNvSpPr>
          <p:nvPr/>
        </p:nvSpPr>
        <p:spPr>
          <a:xfrm xmlns:a="http://schemas.openxmlformats.org/drawingml/2006/main">
            <a:off x="5772150" y="12954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Một miền clock</a:t>
            </a:r>
          </a:p>
        </p:txBody>
      </p:sp>
      <p:sp>
        <p:nvSpPr>
          <p:cNvPr id="10" name="">
            <a:extLst xmlns:a="http://schemas.openxmlformats.org/drawingml/2006/main">
              <a:ext uri="{FF2B5EF4-FFF2-40B4-BE49-F238E27FC236}">
                <a16:creationId xmlns:a16="http://schemas.microsoft.com/office/drawing/2014/main" id="{B6A807A8-EFC1-4E91-8C96-39850901B242}"/>
              </a:ext>
            </a:extLst>
          </p:cNvPr>
          <p:cNvSpPr>
            <a:spLocks xmlns:a="http://schemas.openxmlformats.org/drawingml/2006/main" noGrp="1"/>
          </p:cNvSpPr>
          <p:nvPr/>
        </p:nvSpPr>
        <p:spPr>
          <a:xfrm xmlns:a="http://schemas.openxmlformats.org/drawingml/2006/main">
            <a:off x="5772150" y="16097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17352B"/>
                </a:solidFill>
                <a:latin typeface="DejaVu Sans Mono"/>
                <a:ea typeface="DejaVu Sans Mono"/>
                <a:cs typeface="DejaVu Sans Mono"/>
              </a:defRPr>
            </a:pPr>
            <a:r>
              <a:rPr sz="1125" b="1">
                <a:solidFill>
                  <a:srgbClr val="17352B"/>
                </a:solidFill>
                <a:latin typeface="DejaVu Sans Mono"/>
                <a:ea typeface="DejaVu Sans Mono"/>
                <a:cs typeface="DejaVu Sans Mono"/>
              </a:rPr>
              <a:t>PCLK</a:t>
            </a:r>
          </a:p>
        </p:txBody>
      </p:sp>
      <p:sp>
        <p:nvSpPr>
          <p:cNvPr id="11" name="">
            <a:extLst xmlns:a="http://schemas.openxmlformats.org/drawingml/2006/main">
              <a:ext uri="{FF2B5EF4-FFF2-40B4-BE49-F238E27FC236}">
                <a16:creationId xmlns:a16="http://schemas.microsoft.com/office/drawing/2014/main" id="{540D4D6D-FACB-470B-BBB0-D706575FA5E5}"/>
              </a:ext>
            </a:extLst>
          </p:cNvPr>
          <p:cNvSpPr>
            <a:spLocks xmlns:a="http://schemas.openxmlformats.org/drawingml/2006/main" noGrp="1"/>
          </p:cNvSpPr>
          <p:nvPr/>
        </p:nvSpPr>
        <p:spPr>
          <a:xfrm xmlns:a="http://schemas.openxmlformats.org/drawingml/2006/main">
            <a:off x="8524875" y="130492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F6E41"/>
                </a:solidFill>
                <a:latin typeface="Noto Sans"/>
                <a:ea typeface="Noto Sans"/>
                <a:cs typeface="Noto Sans"/>
              </a:defRPr>
            </a:pPr>
            <a:r>
              <a:rPr sz="1500" b="1">
                <a:solidFill>
                  <a:srgbClr val="0F6E41"/>
                </a:solidFill>
                <a:latin typeface="Noto Sans"/>
                <a:ea typeface="Noto Sans"/>
                <a:cs typeface="Noto Sans"/>
              </a:rPr>
              <a:t>Chốt đồng thời</a:t>
            </a:r>
          </a:p>
          <a:p xmlns:a="http://schemas.openxmlformats.org/drawingml/2006/main">
            <a:pPr algn="ctr">
              <a:lnSpc>
                <a:spcPct val="100000"/>
              </a:lnSpc>
              <a:buNone/>
              <a:defRPr sz="1500" b="1">
                <a:solidFill>
                  <a:srgbClr val="0F6E41"/>
                </a:solidFill>
                <a:latin typeface="Noto Sans"/>
                <a:ea typeface="Noto Sans"/>
                <a:cs typeface="Noto Sans"/>
              </a:defRPr>
            </a:pPr>
            <a:r>
              <a:rPr sz="1500" b="1">
                <a:solidFill>
                  <a:srgbClr val="0F6E41"/>
                </a:solidFill>
                <a:latin typeface="Noto Sans"/>
                <a:ea typeface="Noto Sans"/>
                <a:cs typeface="Noto Sans"/>
              </a:rPr>
              <a:t>dữ liệu đầu vào</a:t>
            </a:r>
          </a:p>
        </p:txBody>
      </p:sp>
      <p:sp>
        <p:nvSpPr>
          <p:cNvPr id="12" name="">
            <a:extLst xmlns:a="http://schemas.openxmlformats.org/drawingml/2006/main">
              <a:ext uri="{FF2B5EF4-FFF2-40B4-BE49-F238E27FC236}">
                <a16:creationId xmlns:a16="http://schemas.microsoft.com/office/drawing/2014/main" id="{5EBA7140-0245-405F-AFA9-24C7FDA2727E}"/>
              </a:ext>
            </a:extLst>
          </p:cNvPr>
          <p:cNvSpPr>
            <a:spLocks xmlns:a="http://schemas.openxmlformats.org/drawingml/2006/main" noGrp="1"/>
          </p:cNvSpPr>
          <p:nvPr/>
        </p:nvSpPr>
        <p:spPr>
          <a:xfrm xmlns:a="http://schemas.openxmlformats.org/drawingml/2006/main">
            <a:off x="666750" y="2171700"/>
            <a:ext cx="228600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21D3F3DE-CC9E-4274-B056-DCC8D56DD8A2}"/>
              </a:ext>
            </a:extLst>
          </p:cNvPr>
          <p:cNvSpPr>
            <a:spLocks xmlns:a="http://schemas.openxmlformats.org/drawingml/2006/main" noGrp="1"/>
          </p:cNvSpPr>
          <p:nvPr/>
        </p:nvSpPr>
        <p:spPr>
          <a:xfrm xmlns:a="http://schemas.openxmlformats.org/drawingml/2006/main">
            <a:off x="781050" y="229552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Nạp dữ liệu đầu vào</a:t>
            </a:r>
          </a:p>
        </p:txBody>
      </p:sp>
      <p:sp>
        <p:nvSpPr>
          <p:cNvPr id="14" name="">
            <a:extLst xmlns:a="http://schemas.openxmlformats.org/drawingml/2006/main">
              <a:ext uri="{FF2B5EF4-FFF2-40B4-BE49-F238E27FC236}">
                <a16:creationId xmlns:a16="http://schemas.microsoft.com/office/drawing/2014/main" id="{E71C06FF-66C2-4826-8FC2-0EBFA834DE79}"/>
              </a:ext>
            </a:extLst>
          </p:cNvPr>
          <p:cNvSpPr>
            <a:spLocks xmlns:a="http://schemas.openxmlformats.org/drawingml/2006/main" noGrp="1"/>
          </p:cNvSpPr>
          <p:nvPr/>
        </p:nvSpPr>
        <p:spPr>
          <a:xfrm xmlns:a="http://schemas.openxmlformats.org/drawingml/2006/main">
            <a:off x="781050" y="264795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F6E41"/>
                </a:solidFill>
                <a:latin typeface="Noto Sans"/>
                <a:ea typeface="Noto Sans"/>
                <a:cs typeface="Noto Sans"/>
              </a:defRPr>
            </a:pPr>
            <a:r>
              <a:rPr sz="1125" b="1">
                <a:solidFill>
                  <a:srgbClr val="0F6E41"/>
                </a:solidFill>
                <a:latin typeface="Noto Sans"/>
                <a:ea typeface="Noto Sans"/>
                <a:cs typeface="Noto Sans"/>
              </a:rPr>
              <a:t>CAMS, PurpleAir, giờ</a:t>
            </a:r>
          </a:p>
        </p:txBody>
      </p:sp>
      <p:sp>
        <p:nvSpPr>
          <p:cNvPr id="15" name="">
            <a:extLst xmlns:a="http://schemas.openxmlformats.org/drawingml/2006/main">
              <a:ext uri="{FF2B5EF4-FFF2-40B4-BE49-F238E27FC236}">
                <a16:creationId xmlns:a16="http://schemas.microsoft.com/office/drawing/2014/main" id="{B20B1F26-FF2E-4544-87F1-BC9B7CEB74D6}"/>
              </a:ext>
            </a:extLst>
          </p:cNvPr>
          <p:cNvSpPr>
            <a:spLocks xmlns:a="http://schemas.openxmlformats.org/drawingml/2006/main" noGrp="1"/>
          </p:cNvSpPr>
          <p:nvPr/>
        </p:nvSpPr>
        <p:spPr>
          <a:xfrm xmlns:a="http://schemas.openxmlformats.org/drawingml/2006/main">
            <a:off x="3429000" y="2171700"/>
            <a:ext cx="228600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F0C04C26-85DA-4A95-AF99-95656CBC9C65}"/>
              </a:ext>
            </a:extLst>
          </p:cNvPr>
          <p:cNvSpPr>
            <a:spLocks xmlns:a="http://schemas.openxmlformats.org/drawingml/2006/main" noGrp="1"/>
          </p:cNvSpPr>
          <p:nvPr/>
        </p:nvSpPr>
        <p:spPr>
          <a:xfrm xmlns:a="http://schemas.openxmlformats.org/drawingml/2006/main">
            <a:off x="3543300" y="229552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Bắt đầu xử lý</a:t>
            </a:r>
          </a:p>
        </p:txBody>
      </p:sp>
      <p:sp>
        <p:nvSpPr>
          <p:cNvPr id="17" name="">
            <a:extLst xmlns:a="http://schemas.openxmlformats.org/drawingml/2006/main">
              <a:ext uri="{FF2B5EF4-FFF2-40B4-BE49-F238E27FC236}">
                <a16:creationId xmlns:a16="http://schemas.microsoft.com/office/drawing/2014/main" id="{1904D850-4E80-411A-9ACC-BB92F2FE3975}"/>
              </a:ext>
            </a:extLst>
          </p:cNvPr>
          <p:cNvSpPr>
            <a:spLocks xmlns:a="http://schemas.openxmlformats.org/drawingml/2006/main" noGrp="1"/>
          </p:cNvSpPr>
          <p:nvPr/>
        </p:nvSpPr>
        <p:spPr>
          <a:xfrm xmlns:a="http://schemas.openxmlformats.org/drawingml/2006/main">
            <a:off x="3543300" y="264795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F6E41"/>
                </a:solidFill>
                <a:latin typeface="DejaVu Sans Mono"/>
                <a:ea typeface="DejaVu Sans Mono"/>
                <a:cs typeface="DejaVu Sans Mono"/>
              </a:defRPr>
            </a:pPr>
            <a:r>
              <a:rPr sz="1125" b="1">
                <a:solidFill>
                  <a:srgbClr val="0F6E41"/>
                </a:solidFill>
                <a:latin typeface="DejaVu Sans Mono"/>
                <a:ea typeface="DejaVu Sans Mono"/>
                <a:cs typeface="DejaVu Sans Mono"/>
              </a:rPr>
              <a:t>PROCESS</a:t>
            </a:r>
          </a:p>
        </p:txBody>
      </p:sp>
      <p:sp>
        <p:nvSpPr>
          <p:cNvPr id="18" name="">
            <a:extLst xmlns:a="http://schemas.openxmlformats.org/drawingml/2006/main">
              <a:ext uri="{FF2B5EF4-FFF2-40B4-BE49-F238E27FC236}">
                <a16:creationId xmlns:a16="http://schemas.microsoft.com/office/drawing/2014/main" id="{59FD581F-7193-4850-B5C3-9B95FDE9D519}"/>
              </a:ext>
            </a:extLst>
          </p:cNvPr>
          <p:cNvSpPr>
            <a:spLocks xmlns:a="http://schemas.openxmlformats.org/drawingml/2006/main" noGrp="1"/>
          </p:cNvSpPr>
          <p:nvPr/>
        </p:nvSpPr>
        <p:spPr>
          <a:xfrm xmlns:a="http://schemas.openxmlformats.org/drawingml/2006/main">
            <a:off x="6191250" y="2171700"/>
            <a:ext cx="228600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55E4D509-A4E8-4EE5-BE15-774D017D6D4F}"/>
              </a:ext>
            </a:extLst>
          </p:cNvPr>
          <p:cNvSpPr>
            <a:spLocks xmlns:a="http://schemas.openxmlformats.org/drawingml/2006/main" noGrp="1"/>
          </p:cNvSpPr>
          <p:nvPr/>
        </p:nvSpPr>
        <p:spPr>
          <a:xfrm xmlns:a="http://schemas.openxmlformats.org/drawingml/2006/main">
            <a:off x="6305550" y="229552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Theo dõi hoàn tất</a:t>
            </a:r>
          </a:p>
        </p:txBody>
      </p:sp>
      <p:sp>
        <p:nvSpPr>
          <p:cNvPr id="20" name="">
            <a:extLst xmlns:a="http://schemas.openxmlformats.org/drawingml/2006/main">
              <a:ext uri="{FF2B5EF4-FFF2-40B4-BE49-F238E27FC236}">
                <a16:creationId xmlns:a16="http://schemas.microsoft.com/office/drawing/2014/main" id="{2C45F5CB-F8AC-40A0-BC81-82B9BBA7117F}"/>
              </a:ext>
            </a:extLst>
          </p:cNvPr>
          <p:cNvSpPr>
            <a:spLocks xmlns:a="http://schemas.openxmlformats.org/drawingml/2006/main" noGrp="1"/>
          </p:cNvSpPr>
          <p:nvPr/>
        </p:nvSpPr>
        <p:spPr>
          <a:xfrm xmlns:a="http://schemas.openxmlformats.org/drawingml/2006/main">
            <a:off x="6305550" y="264795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0F6E41"/>
                </a:solidFill>
                <a:latin typeface="DejaVu Sans Mono"/>
                <a:ea typeface="DejaVu Sans Mono"/>
                <a:cs typeface="DejaVu Sans Mono"/>
              </a:defRPr>
            </a:pPr>
            <a:r>
              <a:rPr sz="1125" b="1">
                <a:solidFill>
                  <a:srgbClr val="0F6E41"/>
                </a:solidFill>
                <a:latin typeface="DejaVu Sans Mono"/>
                <a:ea typeface="DejaVu Sans Mono"/>
                <a:cs typeface="DejaVu Sans Mono"/>
              </a:rPr>
              <a:t>BUSY / DONE</a:t>
            </a:r>
          </a:p>
        </p:txBody>
      </p:sp>
      <p:sp>
        <p:nvSpPr>
          <p:cNvPr id="21" name="">
            <a:extLst xmlns:a="http://schemas.openxmlformats.org/drawingml/2006/main">
              <a:ext uri="{FF2B5EF4-FFF2-40B4-BE49-F238E27FC236}">
                <a16:creationId xmlns:a16="http://schemas.microsoft.com/office/drawing/2014/main" id="{A6E32AC3-8648-4FF0-A72A-A1F2F2EA80F2}"/>
              </a:ext>
            </a:extLst>
          </p:cNvPr>
          <p:cNvSpPr>
            <a:spLocks xmlns:a="http://schemas.openxmlformats.org/drawingml/2006/main" noGrp="1"/>
          </p:cNvSpPr>
          <p:nvPr/>
        </p:nvSpPr>
        <p:spPr>
          <a:xfrm xmlns:a="http://schemas.openxmlformats.org/drawingml/2006/main">
            <a:off x="8953500" y="2171700"/>
            <a:ext cx="2286000" cy="857250"/>
          </a:xfrm>
          <a:prstGeom xmlns:a="http://schemas.openxmlformats.org/drawingml/2006/main" prst="roundRect">
            <a:avLst>
              <a:gd name="adj" fmla="val 15556"/>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EA0BCC57-3292-4779-9A74-68279A388C02}"/>
              </a:ext>
            </a:extLst>
          </p:cNvPr>
          <p:cNvSpPr>
            <a:spLocks xmlns:a="http://schemas.openxmlformats.org/drawingml/2006/main" noGrp="1"/>
          </p:cNvSpPr>
          <p:nvPr/>
        </p:nvSpPr>
        <p:spPr>
          <a:xfrm xmlns:a="http://schemas.openxmlformats.org/drawingml/2006/main">
            <a:off x="9067800" y="2257425"/>
            <a:ext cx="2057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Noto Sans"/>
                <a:ea typeface="Noto Sans"/>
                <a:cs typeface="Noto Sans"/>
              </a:defRPr>
            </a:pPr>
            <a:r>
              <a:rPr sz="1500" b="1">
                <a:solidFill>
                  <a:srgbClr val="FFFFFF"/>
                </a:solidFill>
                <a:latin typeface="Noto Sans"/>
                <a:ea typeface="Noto Sans"/>
                <a:cs typeface="Noto Sans"/>
              </a:rPr>
              <a:t>Đọc kết quả</a:t>
            </a:r>
          </a:p>
          <a:p xmlns:a="http://schemas.openxmlformats.org/drawingml/2006/main">
            <a:pPr algn="ctr">
              <a:lnSpc>
                <a:spcPct val="100000"/>
              </a:lnSpc>
              <a:buNone/>
              <a:defRPr sz="1500" b="1">
                <a:solidFill>
                  <a:srgbClr val="FFFFFF"/>
                </a:solidFill>
                <a:latin typeface="Noto Sans"/>
                <a:ea typeface="Noto Sans"/>
                <a:cs typeface="Noto Sans"/>
              </a:defRPr>
            </a:pPr>
            <a:r>
              <a:rPr sz="1500" b="1">
                <a:solidFill>
                  <a:srgbClr val="FFFFFF"/>
                </a:solidFill>
                <a:latin typeface="Noto Sans"/>
                <a:ea typeface="Noto Sans"/>
                <a:cs typeface="Noto Sans"/>
              </a:rPr>
              <a:t>và cảnh báo</a:t>
            </a:r>
          </a:p>
        </p:txBody>
      </p:sp>
      <p:sp>
        <p:nvSpPr>
          <p:cNvPr id="23" name="">
            <a:extLst xmlns:a="http://schemas.openxmlformats.org/drawingml/2006/main">
              <a:ext uri="{FF2B5EF4-FFF2-40B4-BE49-F238E27FC236}">
                <a16:creationId xmlns:a16="http://schemas.microsoft.com/office/drawing/2014/main" id="{34800DA9-39CD-4715-9F13-A677DE86F3EB}"/>
              </a:ext>
            </a:extLst>
          </p:cNvPr>
          <p:cNvSpPr>
            <a:spLocks xmlns:a="http://schemas.openxmlformats.org/drawingml/2006/main" noGrp="1"/>
          </p:cNvSpPr>
          <p:nvPr/>
        </p:nvSpPr>
        <p:spPr>
          <a:xfrm xmlns:a="http://schemas.openxmlformats.org/drawingml/2006/main">
            <a:off x="9067800" y="264795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DejaVu Sans Mono"/>
                <a:ea typeface="DejaVu Sans Mono"/>
                <a:cs typeface="DejaVu Sans Mono"/>
              </a:defRPr>
            </a:pPr>
            <a:r>
              <a:rPr sz="1050" b="1">
                <a:solidFill>
                  <a:srgbClr val="FFFFFF"/>
                </a:solidFill>
                <a:latin typeface="DejaVu Sans Mono"/>
                <a:ea typeface="DejaVu Sans Mono"/>
                <a:cs typeface="DejaVu Sans Mono"/>
              </a:rPr>
              <a:t>RESULT / BIAS / ALERT</a:t>
            </a:r>
          </a:p>
        </p:txBody>
      </p:sp>
      <p:cxnSp>
        <p:nvCxnSpPr>
          <p:cNvPr id="60" name=""/>
          <p:cNvCxnSpPr>
            <a:stCxn xmlns:a="http://schemas.openxmlformats.org/drawingml/2006/main" id="12" idx="3"/>
            <a:endCxn xmlns:a="http://schemas.openxmlformats.org/drawingml/2006/main" id="15" idx="1"/>
          </p:cNvCxnSpPr>
          <p:nvPr/>
        </p:nvCxnSpPr>
        <p:spPr>
          <a:xfrm xmlns:a="http://schemas.openxmlformats.org/drawingml/2006/main">
            <a:off x="2952750" y="26003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61" name=""/>
          <p:cNvCxnSpPr>
            <a:stCxn xmlns:a="http://schemas.openxmlformats.org/drawingml/2006/main" id="15" idx="3"/>
            <a:endCxn xmlns:a="http://schemas.openxmlformats.org/drawingml/2006/main" id="18" idx="1"/>
          </p:cNvCxnSpPr>
          <p:nvPr/>
        </p:nvCxnSpPr>
        <p:spPr>
          <a:xfrm xmlns:a="http://schemas.openxmlformats.org/drawingml/2006/main">
            <a:off x="5715000" y="26003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62" name=""/>
          <p:cNvCxnSpPr>
            <a:stCxn xmlns:a="http://schemas.openxmlformats.org/drawingml/2006/main" id="18" idx="3"/>
            <a:endCxn xmlns:a="http://schemas.openxmlformats.org/drawingml/2006/main" id="21" idx="1"/>
          </p:cNvCxnSpPr>
          <p:nvPr/>
        </p:nvCxnSpPr>
        <p:spPr>
          <a:xfrm xmlns:a="http://schemas.openxmlformats.org/drawingml/2006/main">
            <a:off x="8477250" y="26003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27" name="">
            <a:extLst xmlns:a="http://schemas.openxmlformats.org/drawingml/2006/main">
              <a:ext uri="{FF2B5EF4-FFF2-40B4-BE49-F238E27FC236}">
                <a16:creationId xmlns:a16="http://schemas.microsoft.com/office/drawing/2014/main" id="{2B67226E-F41B-48FE-9E56-6642EBC4B2E2}"/>
              </a:ext>
            </a:extLst>
          </p:cNvPr>
          <p:cNvSpPr>
            <a:spLocks xmlns:a="http://schemas.openxmlformats.org/drawingml/2006/main" noGrp="1"/>
          </p:cNvSpPr>
          <p:nvPr/>
        </p:nvSpPr>
        <p:spPr>
          <a:xfrm xmlns:a="http://schemas.openxmlformats.org/drawingml/2006/main">
            <a:off x="781050" y="3667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Noto Sans"/>
                <a:ea typeface="Noto Sans"/>
                <a:cs typeface="Noto Sans"/>
              </a:defRPr>
            </a:pPr>
            <a:r>
              <a:rPr sz="1200" b="1">
                <a:solidFill>
                  <a:srgbClr val="0F6E41"/>
                </a:solidFill>
                <a:latin typeface="Noto Sans"/>
                <a:ea typeface="Noto Sans"/>
                <a:cs typeface="Noto Sans"/>
              </a:rPr>
              <a:t>NHẬN DẠNG VÀ CẤU HÌNH</a:t>
            </a:r>
          </a:p>
        </p:txBody>
      </p:sp>
      <p:sp>
        <p:nvSpPr>
          <p:cNvPr id="28" name="">
            <a:extLst xmlns:a="http://schemas.openxmlformats.org/drawingml/2006/main">
              <a:ext uri="{FF2B5EF4-FFF2-40B4-BE49-F238E27FC236}">
                <a16:creationId xmlns:a16="http://schemas.microsoft.com/office/drawing/2014/main" id="{8C302824-BAF0-4E7D-B489-4C508D5C7017}"/>
              </a:ext>
            </a:extLst>
          </p:cNvPr>
          <p:cNvSpPr>
            <a:spLocks xmlns:a="http://schemas.openxmlformats.org/drawingml/2006/main" noGrp="1"/>
          </p:cNvSpPr>
          <p:nvPr/>
        </p:nvSpPr>
        <p:spPr>
          <a:xfrm xmlns:a="http://schemas.openxmlformats.org/drawingml/2006/main">
            <a:off x="781050" y="402907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0x00 IP_ID   0x04 VERSION   0x24 CONFIG</a:t>
            </a:r>
          </a:p>
        </p:txBody>
      </p:sp>
      <p:sp>
        <p:nvSpPr>
          <p:cNvPr id="29" name="">
            <a:extLst xmlns:a="http://schemas.openxmlformats.org/drawingml/2006/main">
              <a:ext uri="{FF2B5EF4-FFF2-40B4-BE49-F238E27FC236}">
                <a16:creationId xmlns:a16="http://schemas.microsoft.com/office/drawing/2014/main" id="{008D1C06-5549-41CA-AA54-64E9378BB9C1}"/>
              </a:ext>
            </a:extLst>
          </p:cNvPr>
          <p:cNvSpPr>
            <a:spLocks xmlns:a="http://schemas.openxmlformats.org/drawingml/2006/main" noGrp="1"/>
          </p:cNvSpPr>
          <p:nvPr/>
        </p:nvSpPr>
        <p:spPr>
          <a:xfrm xmlns:a="http://schemas.openxmlformats.org/drawingml/2006/main">
            <a:off x="4476750" y="36671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Noto Sans"/>
                <a:ea typeface="Noto Sans"/>
                <a:cs typeface="Noto Sans"/>
              </a:defRPr>
            </a:pPr>
            <a:r>
              <a:rPr sz="1200" b="1">
                <a:solidFill>
                  <a:srgbClr val="0F6E41"/>
                </a:solidFill>
                <a:latin typeface="Noto Sans"/>
                <a:ea typeface="Noto Sans"/>
                <a:cs typeface="Noto Sans"/>
              </a:rPr>
              <a:t>DỮ LIỆU VÀ LỆNH</a:t>
            </a:r>
          </a:p>
        </p:txBody>
      </p:sp>
      <p:sp>
        <p:nvSpPr>
          <p:cNvPr id="30" name="">
            <a:extLst xmlns:a="http://schemas.openxmlformats.org/drawingml/2006/main">
              <a:ext uri="{FF2B5EF4-FFF2-40B4-BE49-F238E27FC236}">
                <a16:creationId xmlns:a16="http://schemas.microsoft.com/office/drawing/2014/main" id="{E4DC0889-467B-4B6A-965E-8DE9492F93F9}"/>
              </a:ext>
            </a:extLst>
          </p:cNvPr>
          <p:cNvSpPr>
            <a:spLocks xmlns:a="http://schemas.openxmlformats.org/drawingml/2006/main" noGrp="1"/>
          </p:cNvSpPr>
          <p:nvPr/>
        </p:nvSpPr>
        <p:spPr>
          <a:xfrm xmlns:a="http://schemas.openxmlformats.org/drawingml/2006/main">
            <a:off x="4476750" y="402907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0x08 CONTROL   0x0C CAMS</a:t>
            </a:r>
          </a:p>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0x10 PA        0x14 HOUR</a:t>
            </a:r>
          </a:p>
        </p:txBody>
      </p:sp>
      <p:sp>
        <p:nvSpPr>
          <p:cNvPr id="31" name="">
            <a:extLst xmlns:a="http://schemas.openxmlformats.org/drawingml/2006/main">
              <a:ext uri="{FF2B5EF4-FFF2-40B4-BE49-F238E27FC236}">
                <a16:creationId xmlns:a16="http://schemas.microsoft.com/office/drawing/2014/main" id="{61C3E87F-C7B9-4614-A566-BAC865F80A2B}"/>
              </a:ext>
            </a:extLst>
          </p:cNvPr>
          <p:cNvSpPr>
            <a:spLocks xmlns:a="http://schemas.openxmlformats.org/drawingml/2006/main" noGrp="1"/>
          </p:cNvSpPr>
          <p:nvPr/>
        </p:nvSpPr>
        <p:spPr>
          <a:xfrm xmlns:a="http://schemas.openxmlformats.org/drawingml/2006/main">
            <a:off x="8096250" y="3667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Noto Sans"/>
                <a:ea typeface="Noto Sans"/>
                <a:cs typeface="Noto Sans"/>
              </a:defRPr>
            </a:pPr>
            <a:r>
              <a:rPr sz="1200" b="1">
                <a:solidFill>
                  <a:srgbClr val="0F6E41"/>
                </a:solidFill>
                <a:latin typeface="Noto Sans"/>
                <a:ea typeface="Noto Sans"/>
                <a:cs typeface="Noto Sans"/>
              </a:rPr>
              <a:t>TRẠNG THÁI VÀ KẾT QUẢ</a:t>
            </a:r>
          </a:p>
        </p:txBody>
      </p:sp>
      <p:sp>
        <p:nvSpPr>
          <p:cNvPr id="32" name="">
            <a:extLst xmlns:a="http://schemas.openxmlformats.org/drawingml/2006/main">
              <a:ext uri="{FF2B5EF4-FFF2-40B4-BE49-F238E27FC236}">
                <a16:creationId xmlns:a16="http://schemas.microsoft.com/office/drawing/2014/main" id="{053CF188-B901-4507-B0C1-07524CC20487}"/>
              </a:ext>
            </a:extLst>
          </p:cNvPr>
          <p:cNvSpPr>
            <a:spLocks xmlns:a="http://schemas.openxmlformats.org/drawingml/2006/main" noGrp="1"/>
          </p:cNvSpPr>
          <p:nvPr/>
        </p:nvSpPr>
        <p:spPr>
          <a:xfrm xmlns:a="http://schemas.openxmlformats.org/drawingml/2006/main">
            <a:off x="8096250" y="40290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0x18 STATUS   0x1C RESULT</a:t>
            </a:r>
          </a:p>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0x20 BIAS</a:t>
            </a:r>
          </a:p>
        </p:txBody>
      </p:sp>
      <p:sp>
        <p:nvSpPr>
          <p:cNvPr id="33" name="">
            <a:extLst xmlns:a="http://schemas.openxmlformats.org/drawingml/2006/main">
              <a:ext uri="{FF2B5EF4-FFF2-40B4-BE49-F238E27FC236}">
                <a16:creationId xmlns:a16="http://schemas.microsoft.com/office/drawing/2014/main" id="{CC4521D8-670F-428E-A3C9-5A5167E6F742}"/>
              </a:ext>
            </a:extLst>
          </p:cNvPr>
          <p:cNvSpPr>
            <a:spLocks xmlns:a="http://schemas.openxmlformats.org/drawingml/2006/main" noGrp="1"/>
          </p:cNvSpPr>
          <p:nvPr/>
        </p:nvSpPr>
        <p:spPr>
          <a:xfrm xmlns:a="http://schemas.openxmlformats.org/drawingml/2006/main">
            <a:off x="781050" y="4953000"/>
            <a:ext cx="1038225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34" name="">
            <a:extLst xmlns:a="http://schemas.openxmlformats.org/drawingml/2006/main">
              <a:ext uri="{FF2B5EF4-FFF2-40B4-BE49-F238E27FC236}">
                <a16:creationId xmlns:a16="http://schemas.microsoft.com/office/drawing/2014/main" id="{762810D8-ADD0-45B0-B74D-D0193D122006}"/>
              </a:ext>
            </a:extLst>
          </p:cNvPr>
          <p:cNvSpPr>
            <a:spLocks xmlns:a="http://schemas.openxmlformats.org/drawingml/2006/main" noGrp="1"/>
          </p:cNvSpPr>
          <p:nvPr/>
        </p:nvSpPr>
        <p:spPr>
          <a:xfrm xmlns:a="http://schemas.openxmlformats.org/drawingml/2006/main">
            <a:off x="781050" y="51244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7352B"/>
                </a:solidFill>
                <a:latin typeface="Noto Sans"/>
                <a:ea typeface="Noto Sans"/>
                <a:cs typeface="Noto Sans"/>
              </a:defRPr>
            </a:pPr>
            <a:r>
              <a:rPr sz="1425" b="1">
                <a:solidFill>
                  <a:srgbClr val="17352B"/>
                </a:solidFill>
                <a:latin typeface="Noto Sans"/>
                <a:ea typeface="Noto Sans"/>
                <a:cs typeface="Noto Sans"/>
              </a:rPr>
              <a:t>APB3 báo lỗi cho truy cập không hợp lệ hoặc lệnh mới khi lõi đang bận.</a:t>
            </a:r>
          </a:p>
        </p:txBody>
      </p:sp>
      <p:sp>
        <p:nvSpPr>
          <p:cNvPr id="35" name="">
            <a:extLst xmlns:a="http://schemas.openxmlformats.org/drawingml/2006/main">
              <a:ext uri="{FF2B5EF4-FFF2-40B4-BE49-F238E27FC236}">
                <a16:creationId xmlns:a16="http://schemas.microsoft.com/office/drawing/2014/main" id="{EDCD0EA7-26EE-45D9-ADBD-2ED4375BE65C}"/>
              </a:ext>
            </a:extLst>
          </p:cNvPr>
          <p:cNvSpPr>
            <a:spLocks xmlns:a="http://schemas.openxmlformats.org/drawingml/2006/main" noGrp="1"/>
          </p:cNvSpPr>
          <p:nvPr/>
        </p:nvSpPr>
        <p:spPr>
          <a:xfrm xmlns:a="http://schemas.openxmlformats.org/drawingml/2006/main">
            <a:off x="781050" y="55149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DejaVu Sans Mono"/>
                <a:ea typeface="DejaVu Sans Mono"/>
                <a:cs typeface="DejaVu Sans Mono"/>
              </a:defRPr>
            </a:pPr>
            <a:r>
              <a:rPr sz="1200" b="1">
                <a:solidFill>
                  <a:srgbClr val="0F6E41"/>
                </a:solidFill>
                <a:latin typeface="DejaVu Sans Mono"/>
                <a:ea typeface="DejaVu Sans Mono"/>
                <a:cs typeface="DejaVu Sans Mono"/>
              </a:rPr>
              <a:t>PSLVERR</a:t>
            </a:r>
          </a:p>
        </p:txBody>
      </p:sp>
      <p:sp>
        <p:nvSpPr>
          <p:cNvPr id="36" name="">
            <a:extLst xmlns:a="http://schemas.openxmlformats.org/drawingml/2006/main">
              <a:ext uri="{FF2B5EF4-FFF2-40B4-BE49-F238E27FC236}">
                <a16:creationId xmlns:a16="http://schemas.microsoft.com/office/drawing/2014/main" id="{EA2EAFD5-F537-409A-96B8-34DE1794F762}"/>
              </a:ext>
            </a:extLst>
          </p:cNvPr>
          <p:cNvSpPr>
            <a:spLocks xmlns:a="http://schemas.openxmlformats.org/drawingml/2006/main" noGrp="1"/>
          </p:cNvSpPr>
          <p:nvPr/>
        </p:nvSpPr>
        <p:spPr>
          <a:xfrm xmlns:a="http://schemas.openxmlformats.org/drawingml/2006/main">
            <a:off x="9048750" y="5067300"/>
            <a:ext cx="209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0F6E41"/>
                </a:solidFill>
                <a:latin typeface="Noto Sans"/>
                <a:ea typeface="Noto Sans"/>
                <a:cs typeface="Noto Sans"/>
              </a:defRPr>
            </a:pPr>
            <a:r>
              <a:rPr sz="2100" b="1">
                <a:solidFill>
                  <a:srgbClr val="0F6E41"/>
                </a:solidFill>
                <a:latin typeface="Noto Sans"/>
                <a:ea typeface="Noto Sans"/>
                <a:cs typeface="Noto Sans"/>
              </a:rPr>
              <a:t>89 giao dịch</a:t>
            </a:r>
          </a:p>
          <a:p xmlns:a="http://schemas.openxmlformats.org/drawingml/2006/main">
            <a:pPr algn="ctr">
              <a:defRPr sz="2100" b="1">
                <a:solidFill>
                  <a:srgbClr val="0F6E41"/>
                </a:solidFill>
                <a:latin typeface="Noto Sans"/>
                <a:ea typeface="Noto Sans"/>
                <a:cs typeface="Noto Sans"/>
              </a:defRPr>
            </a:pPr>
            <a:r>
              <a:rPr sz="2100" b="1">
                <a:solidFill>
                  <a:srgbClr val="0F6E41"/>
                </a:solidFill>
                <a:latin typeface="Noto Sans"/>
                <a:ea typeface="Noto Sans"/>
                <a:cs typeface="Noto Sans"/>
              </a:rPr>
              <a:t>325 phép kiểm</a:t>
            </a:r>
          </a:p>
        </p:txBody>
      </p:sp>
    </p:spTree>
    <p:extLst>
      <p:ext uri="{BB962C8B-B14F-4D97-AF65-F5344CB8AC3E}">
        <p14:creationId xmlns:p14="http://schemas.microsoft.com/office/powerpoint/2010/main" val="8776561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E1BE6D-CE99-4E52-914C-7587F5F65E34}"/>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Dữ liệu và kiểm soát chất lượng</a:t>
            </a:r>
          </a:p>
        </p:txBody>
      </p:sp>
      <p:sp>
        <p:nvSpPr>
          <p:cNvPr id="2" name="">
            <a:extLst xmlns:a="http://schemas.openxmlformats.org/drawingml/2006/main">
              <a:ext uri="{FF2B5EF4-FFF2-40B4-BE49-F238E27FC236}">
                <a16:creationId xmlns:a16="http://schemas.microsoft.com/office/drawing/2014/main" id="{60D300C0-A4B0-4968-9E0A-A4AB2CCE9320}"/>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5d3366ff014410e"/>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92a3d4ca15e40ad"/>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BFEBEF-F06E-4AAD-B76D-F83E4D62B4DB}"/>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6</a:t>
            </a:r>
          </a:p>
        </p:txBody>
      </p:sp>
      <p:sp>
        <p:nvSpPr>
          <p:cNvPr id="6" name="">
            <a:extLst xmlns:a="http://schemas.openxmlformats.org/drawingml/2006/main">
              <a:ext uri="{FF2B5EF4-FFF2-40B4-BE49-F238E27FC236}">
                <a16:creationId xmlns:a16="http://schemas.microsoft.com/office/drawing/2014/main" id="{3A6E0996-E62C-4547-825B-C4C5AF7B8263}"/>
              </a:ext>
            </a:extLst>
          </p:cNvPr>
          <p:cNvSpPr>
            <a:spLocks xmlns:a="http://schemas.openxmlformats.org/drawingml/2006/main" noGrp="1"/>
          </p:cNvSpPr>
          <p:nvPr/>
        </p:nvSpPr>
        <p:spPr>
          <a:xfrm xmlns:a="http://schemas.openxmlformats.org/drawingml/2006/main">
            <a:off x="781050" y="1409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F6E41"/>
                </a:solidFill>
                <a:latin typeface="Noto Sans"/>
                <a:ea typeface="Noto Sans"/>
                <a:cs typeface="Noto Sans"/>
              </a:defRPr>
            </a:pPr>
            <a:r>
              <a:rPr sz="1650" b="1">
                <a:solidFill>
                  <a:srgbClr val="0F6E41"/>
                </a:solidFill>
                <a:latin typeface="Noto Sans"/>
                <a:ea typeface="Noto Sans"/>
                <a:cs typeface="Noto Sans"/>
              </a:rPr>
              <a:t>Chuỗi PurpleAir dùng cho đánh giá</a:t>
            </a:r>
          </a:p>
        </p:txBody>
      </p:sp>
      <p:sp>
        <p:nvSpPr>
          <p:cNvPr id="7" name="">
            <a:extLst xmlns:a="http://schemas.openxmlformats.org/drawingml/2006/main">
              <a:ext uri="{FF2B5EF4-FFF2-40B4-BE49-F238E27FC236}">
                <a16:creationId xmlns:a16="http://schemas.microsoft.com/office/drawing/2014/main" id="{69280E58-C78D-4FDC-8B1A-51A32DE12CD4}"/>
              </a:ext>
            </a:extLst>
          </p:cNvPr>
          <p:cNvSpPr>
            <a:spLocks xmlns:a="http://schemas.openxmlformats.org/drawingml/2006/main" noGrp="1"/>
          </p:cNvSpPr>
          <p:nvPr/>
        </p:nvSpPr>
        <p:spPr>
          <a:xfrm xmlns:a="http://schemas.openxmlformats.org/drawingml/2006/main">
            <a:off x="685800" y="2095500"/>
            <a:ext cx="2362200" cy="1066800"/>
          </a:xfrm>
          <a:prstGeom xmlns:a="http://schemas.openxmlformats.org/drawingml/2006/main" prst="roundRect">
            <a:avLst>
              <a:gd name="adj" fmla="val 12500"/>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100" b="1">
                <a:solidFill>
                  <a:srgbClr val="17352B"/>
                </a:solidFill>
                <a:latin typeface="Noto Sans"/>
                <a:ea typeface="Noto Sans"/>
                <a:cs typeface="Noto Sans"/>
              </a:defRPr>
            </a:pPr>
            <a:r>
              <a:rPr sz="2100" b="1">
                <a:solidFill>
                  <a:srgbClr val="17352B"/>
                </a:solidFill>
                <a:latin typeface="Noto Sans"/>
                <a:ea typeface="Noto Sans"/>
                <a:cs typeface="Noto Sans"/>
              </a:rPr>
              <a:t>4.137</a:t>
            </a:r>
          </a:p>
          <a:p xmlns:a="http://schemas.openxmlformats.org/drawingml/2006/main">
            <a:pPr algn="ctr">
              <a:defRPr sz="2100" b="1">
                <a:solidFill>
                  <a:srgbClr val="17352B"/>
                </a:solidFill>
                <a:latin typeface="Noto Sans"/>
                <a:ea typeface="Noto Sans"/>
                <a:cs typeface="Noto Sans"/>
              </a:defRPr>
            </a:pPr>
            <a:r>
              <a:rPr sz="2100" b="1">
                <a:solidFill>
                  <a:srgbClr val="17352B"/>
                </a:solidFill>
                <a:latin typeface="Noto Sans"/>
                <a:ea typeface="Noto Sans"/>
                <a:cs typeface="Noto Sans"/>
              </a:rPr>
              <a:t>mẫu 10 phút</a:t>
            </a:r>
          </a:p>
        </p:txBody>
      </p:sp>
      <p:sp>
        <p:nvSpPr>
          <p:cNvPr id="8" name="">
            <a:extLst xmlns:a="http://schemas.openxmlformats.org/drawingml/2006/main">
              <a:ext uri="{FF2B5EF4-FFF2-40B4-BE49-F238E27FC236}">
                <a16:creationId xmlns:a16="http://schemas.microsoft.com/office/drawing/2014/main" id="{0D354D9E-52FE-48A2-ADDA-00ED955BEED4}"/>
              </a:ext>
            </a:extLst>
          </p:cNvPr>
          <p:cNvSpPr>
            <a:spLocks xmlns:a="http://schemas.openxmlformats.org/drawingml/2006/main" noGrp="1"/>
          </p:cNvSpPr>
          <p:nvPr/>
        </p:nvSpPr>
        <p:spPr>
          <a:xfrm xmlns:a="http://schemas.openxmlformats.org/drawingml/2006/main">
            <a:off x="3476625" y="2095500"/>
            <a:ext cx="2362200" cy="1066800"/>
          </a:xfrm>
          <a:prstGeom xmlns:a="http://schemas.openxmlformats.org/drawingml/2006/main" prst="roundRect">
            <a:avLst>
              <a:gd name="adj" fmla="val 12500"/>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17352B"/>
                </a:solidFill>
                <a:latin typeface="Noto Sans"/>
                <a:ea typeface="Noto Sans"/>
                <a:cs typeface="Noto Sans"/>
              </a:defRPr>
            </a:pPr>
            <a:r>
              <a:rPr sz="1875" b="1">
                <a:solidFill>
                  <a:srgbClr val="17352B"/>
                </a:solidFill>
                <a:latin typeface="Noto Sans"/>
                <a:ea typeface="Noto Sans"/>
                <a:cs typeface="Noto Sans"/>
              </a:rPr>
              <a:t>1.309</a:t>
            </a:r>
          </a:p>
          <a:p xmlns:a="http://schemas.openxmlformats.org/drawingml/2006/main">
            <a:pPr algn="ctr">
              <a:defRPr sz="1875" b="1">
                <a:solidFill>
                  <a:srgbClr val="17352B"/>
                </a:solidFill>
                <a:latin typeface="Noto Sans"/>
                <a:ea typeface="Noto Sans"/>
                <a:cs typeface="Noto Sans"/>
              </a:defRPr>
            </a:pPr>
            <a:r>
              <a:rPr sz="1875" b="1">
                <a:solidFill>
                  <a:srgbClr val="17352B"/>
                </a:solidFill>
                <a:latin typeface="Noto Sans"/>
                <a:ea typeface="Noto Sans"/>
                <a:cs typeface="Noto Sans"/>
              </a:rPr>
              <a:t>giờ có bản ghi nguồn</a:t>
            </a:r>
          </a:p>
        </p:txBody>
      </p:sp>
      <p:sp>
        <p:nvSpPr>
          <p:cNvPr id="9" name="">
            <a:extLst xmlns:a="http://schemas.openxmlformats.org/drawingml/2006/main">
              <a:ext uri="{FF2B5EF4-FFF2-40B4-BE49-F238E27FC236}">
                <a16:creationId xmlns:a16="http://schemas.microsoft.com/office/drawing/2014/main" id="{B8EE6F75-C65B-4E27-934B-DF6D50C4AC72}"/>
              </a:ext>
            </a:extLst>
          </p:cNvPr>
          <p:cNvSpPr>
            <a:spLocks xmlns:a="http://schemas.openxmlformats.org/drawingml/2006/main" noGrp="1"/>
          </p:cNvSpPr>
          <p:nvPr/>
        </p:nvSpPr>
        <p:spPr>
          <a:xfrm xmlns:a="http://schemas.openxmlformats.org/drawingml/2006/main">
            <a:off x="6267450" y="2095500"/>
            <a:ext cx="2362200" cy="1066800"/>
          </a:xfrm>
          <a:prstGeom xmlns:a="http://schemas.openxmlformats.org/drawingml/2006/main" prst="roundRect">
            <a:avLst>
              <a:gd name="adj" fmla="val 12500"/>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00" b="1">
                <a:solidFill>
                  <a:srgbClr val="17352B"/>
                </a:solidFill>
                <a:latin typeface="Noto Sans"/>
                <a:ea typeface="Noto Sans"/>
                <a:cs typeface="Noto Sans"/>
              </a:defRPr>
            </a:pPr>
            <a:r>
              <a:rPr sz="1800" b="1">
                <a:solidFill>
                  <a:srgbClr val="17352B"/>
                </a:solidFill>
                <a:latin typeface="Noto Sans"/>
                <a:ea typeface="Noto Sans"/>
                <a:cs typeface="Noto Sans"/>
              </a:rPr>
              <a:t>1.226</a:t>
            </a:r>
          </a:p>
          <a:p xmlns:a="http://schemas.openxmlformats.org/drawingml/2006/main">
            <a:pPr algn="ctr">
              <a:defRPr sz="1800" b="1">
                <a:solidFill>
                  <a:srgbClr val="17352B"/>
                </a:solidFill>
                <a:latin typeface="Noto Sans"/>
                <a:ea typeface="Noto Sans"/>
                <a:cs typeface="Noto Sans"/>
              </a:defRPr>
            </a:pPr>
            <a:r>
              <a:rPr sz="1800" b="1">
                <a:solidFill>
                  <a:srgbClr val="17352B"/>
                </a:solidFill>
                <a:latin typeface="Noto Sans"/>
                <a:ea typeface="Noto Sans"/>
                <a:cs typeface="Noto Sans"/>
              </a:rPr>
              <a:t>giờ có giá trị đại diện</a:t>
            </a:r>
          </a:p>
        </p:txBody>
      </p:sp>
      <p:sp>
        <p:nvSpPr>
          <p:cNvPr id="10" name="">
            <a:extLst xmlns:a="http://schemas.openxmlformats.org/drawingml/2006/main">
              <a:ext uri="{FF2B5EF4-FFF2-40B4-BE49-F238E27FC236}">
                <a16:creationId xmlns:a16="http://schemas.microsoft.com/office/drawing/2014/main" id="{E416C8AD-F053-4FE1-8A90-5BBCDD7395AC}"/>
              </a:ext>
            </a:extLst>
          </p:cNvPr>
          <p:cNvSpPr>
            <a:spLocks xmlns:a="http://schemas.openxmlformats.org/drawingml/2006/main" noGrp="1"/>
          </p:cNvSpPr>
          <p:nvPr/>
        </p:nvSpPr>
        <p:spPr>
          <a:xfrm xmlns:a="http://schemas.openxmlformats.org/drawingml/2006/main">
            <a:off x="9058275" y="2095500"/>
            <a:ext cx="2362200" cy="1066800"/>
          </a:xfrm>
          <a:prstGeom xmlns:a="http://schemas.openxmlformats.org/drawingml/2006/main" prst="roundRect">
            <a:avLst>
              <a:gd name="adj" fmla="val 12500"/>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553</a:t>
            </a:r>
          </a:p>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giờ đạt QC nghiêm ngặt</a:t>
            </a:r>
          </a:p>
        </p:txBody>
      </p: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3048000" y="2628900"/>
            <a:ext cx="428625"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5838825" y="2628900"/>
            <a:ext cx="428625"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8629650" y="2628900"/>
            <a:ext cx="428625"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4" name="">
            <a:extLst xmlns:a="http://schemas.openxmlformats.org/drawingml/2006/main">
              <a:ext uri="{FF2B5EF4-FFF2-40B4-BE49-F238E27FC236}">
                <a16:creationId xmlns:a16="http://schemas.microsoft.com/office/drawing/2014/main" id="{AA1D66F9-42FE-4EE0-B39A-CABD636DF6CE}"/>
              </a:ext>
            </a:extLst>
          </p:cNvPr>
          <p:cNvSpPr>
            <a:spLocks xmlns:a="http://schemas.openxmlformats.org/drawingml/2006/main" noGrp="1"/>
          </p:cNvSpPr>
          <p:nvPr/>
        </p:nvSpPr>
        <p:spPr>
          <a:xfrm xmlns:a="http://schemas.openxmlformats.org/drawingml/2006/main">
            <a:off x="7219950" y="33718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0F6E41"/>
                </a:solidFill>
                <a:latin typeface="Noto Sans"/>
                <a:ea typeface="Noto Sans"/>
                <a:cs typeface="Noto Sans"/>
              </a:defRPr>
            </a:pPr>
            <a:r>
              <a:rPr sz="1425" b="1">
                <a:solidFill>
                  <a:srgbClr val="0F6E41"/>
                </a:solidFill>
                <a:latin typeface="Noto Sans"/>
                <a:ea typeface="Noto Sans"/>
                <a:cs typeface="Noto Sans"/>
              </a:rPr>
              <a:t>QC theo giờ: ít nhất 4 mẫu tốt và độ phủ tối thiểu 30 phút</a:t>
            </a:r>
          </a:p>
        </p:txBody>
      </p:sp>
      <p:sp>
        <p:nvSpPr>
          <p:cNvPr id="15" name="">
            <a:extLst xmlns:a="http://schemas.openxmlformats.org/drawingml/2006/main">
              <a:ext uri="{FF2B5EF4-FFF2-40B4-BE49-F238E27FC236}">
                <a16:creationId xmlns:a16="http://schemas.microsoft.com/office/drawing/2014/main" id="{C5CF429D-C312-4A63-8B95-4C172AF400D1}"/>
              </a:ext>
            </a:extLst>
          </p:cNvPr>
          <p:cNvSpPr>
            <a:spLocks xmlns:a="http://schemas.openxmlformats.org/drawingml/2006/main" noGrp="1"/>
          </p:cNvSpPr>
          <p:nvPr/>
        </p:nvSpPr>
        <p:spPr>
          <a:xfrm xmlns:a="http://schemas.openxmlformats.org/drawingml/2006/main">
            <a:off x="781050" y="4143375"/>
            <a:ext cx="1038225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6" name="">
            <a:extLst xmlns:a="http://schemas.openxmlformats.org/drawingml/2006/main">
              <a:ext uri="{FF2B5EF4-FFF2-40B4-BE49-F238E27FC236}">
                <a16:creationId xmlns:a16="http://schemas.microsoft.com/office/drawing/2014/main" id="{F30198A1-1C43-4D9A-BDDB-84C62DF8D5A6}"/>
              </a:ext>
            </a:extLst>
          </p:cNvPr>
          <p:cNvSpPr>
            <a:spLocks xmlns:a="http://schemas.openxmlformats.org/drawingml/2006/main" noGrp="1"/>
          </p:cNvSpPr>
          <p:nvPr/>
        </p:nvSpPr>
        <p:spPr>
          <a:xfrm xmlns:a="http://schemas.openxmlformats.org/drawingml/2006/main">
            <a:off x="1257300" y="4610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F6E41"/>
                </a:solidFill>
                <a:latin typeface="Noto Sans"/>
                <a:ea typeface="Noto Sans"/>
                <a:cs typeface="Noto Sans"/>
              </a:defRPr>
            </a:pPr>
            <a:r>
              <a:rPr sz="3300" b="1">
                <a:solidFill>
                  <a:srgbClr val="0F6E41"/>
                </a:solidFill>
                <a:latin typeface="Noto Sans"/>
                <a:ea typeface="Noto Sans"/>
                <a:cs typeface="Noto Sans"/>
              </a:rPr>
              <a:t>13.704</a:t>
            </a:r>
          </a:p>
        </p:txBody>
      </p:sp>
      <p:sp>
        <p:nvSpPr>
          <p:cNvPr id="17" name="">
            <a:extLst xmlns:a="http://schemas.openxmlformats.org/drawingml/2006/main">
              <a:ext uri="{FF2B5EF4-FFF2-40B4-BE49-F238E27FC236}">
                <a16:creationId xmlns:a16="http://schemas.microsoft.com/office/drawing/2014/main" id="{28404EDD-5EE8-4DD2-96CB-F21B6539402C}"/>
              </a:ext>
            </a:extLst>
          </p:cNvPr>
          <p:cNvSpPr>
            <a:spLocks xmlns:a="http://schemas.openxmlformats.org/drawingml/2006/main" noGrp="1"/>
          </p:cNvSpPr>
          <p:nvPr/>
        </p:nvSpPr>
        <p:spPr>
          <a:xfrm xmlns:a="http://schemas.openxmlformats.org/drawingml/2006/main">
            <a:off x="1257300" y="5210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352B"/>
                </a:solidFill>
                <a:latin typeface="Noto Sans"/>
                <a:ea typeface="Noto Sans"/>
                <a:cs typeface="Noto Sans"/>
              </a:defRPr>
            </a:pPr>
            <a:r>
              <a:rPr sz="1650" b="0">
                <a:solidFill>
                  <a:srgbClr val="17352B"/>
                </a:solidFill>
                <a:latin typeface="Noto Sans"/>
                <a:ea typeface="Noto Sans"/>
                <a:cs typeface="Noto Sans"/>
              </a:rPr>
              <a:t>giờ CAMS trên trục thời gian</a:t>
            </a:r>
          </a:p>
        </p:txBody>
      </p:sp>
      <p:sp>
        <p:nvSpPr>
          <p:cNvPr id="18" name="">
            <a:extLst xmlns:a="http://schemas.openxmlformats.org/drawingml/2006/main">
              <a:ext uri="{FF2B5EF4-FFF2-40B4-BE49-F238E27FC236}">
                <a16:creationId xmlns:a16="http://schemas.microsoft.com/office/drawing/2014/main" id="{C173AC9A-2F05-40D7-8E23-9D0BE5A2D181}"/>
              </a:ext>
            </a:extLst>
          </p:cNvPr>
          <p:cNvSpPr>
            <a:spLocks xmlns:a="http://schemas.openxmlformats.org/drawingml/2006/main" noGrp="1"/>
          </p:cNvSpPr>
          <p:nvPr/>
        </p:nvSpPr>
        <p:spPr>
          <a:xfrm xmlns:a="http://schemas.openxmlformats.org/drawingml/2006/main">
            <a:off x="6096000" y="4476750"/>
            <a:ext cx="0" cy="121920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9" name="">
            <a:extLst xmlns:a="http://schemas.openxmlformats.org/drawingml/2006/main">
              <a:ext uri="{FF2B5EF4-FFF2-40B4-BE49-F238E27FC236}">
                <a16:creationId xmlns:a16="http://schemas.microsoft.com/office/drawing/2014/main" id="{3BEE9DA9-C3FE-41E7-BD28-4FE74579CA13}"/>
              </a:ext>
            </a:extLst>
          </p:cNvPr>
          <p:cNvSpPr>
            <a:spLocks xmlns:a="http://schemas.openxmlformats.org/drawingml/2006/main" noGrp="1"/>
          </p:cNvSpPr>
          <p:nvPr/>
        </p:nvSpPr>
        <p:spPr>
          <a:xfrm xmlns:a="http://schemas.openxmlformats.org/drawingml/2006/main">
            <a:off x="7162800" y="4610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F6E41"/>
                </a:solidFill>
                <a:latin typeface="Noto Sans"/>
                <a:ea typeface="Noto Sans"/>
                <a:cs typeface="Noto Sans"/>
              </a:defRPr>
            </a:pPr>
            <a:r>
              <a:rPr sz="3300" b="1">
                <a:solidFill>
                  <a:srgbClr val="0F6E41"/>
                </a:solidFill>
                <a:latin typeface="Noto Sans"/>
                <a:ea typeface="Noto Sans"/>
                <a:cs typeface="Noto Sans"/>
              </a:rPr>
              <a:t>12.395</a:t>
            </a:r>
          </a:p>
        </p:txBody>
      </p:sp>
      <p:sp>
        <p:nvSpPr>
          <p:cNvPr id="20" name="">
            <a:extLst xmlns:a="http://schemas.openxmlformats.org/drawingml/2006/main">
              <a:ext uri="{FF2B5EF4-FFF2-40B4-BE49-F238E27FC236}">
                <a16:creationId xmlns:a16="http://schemas.microsoft.com/office/drawing/2014/main" id="{F01EEA44-15FA-424E-900F-6476FB480F41}"/>
              </a:ext>
            </a:extLst>
          </p:cNvPr>
          <p:cNvSpPr>
            <a:spLocks xmlns:a="http://schemas.openxmlformats.org/drawingml/2006/main" noGrp="1"/>
          </p:cNvSpPr>
          <p:nvPr/>
        </p:nvSpPr>
        <p:spPr>
          <a:xfrm xmlns:a="http://schemas.openxmlformats.org/drawingml/2006/main">
            <a:off x="7162800" y="521017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52B"/>
                </a:solidFill>
                <a:latin typeface="Noto Sans"/>
                <a:ea typeface="Noto Sans"/>
                <a:cs typeface="Noto Sans"/>
              </a:defRPr>
            </a:pPr>
            <a:r>
              <a:rPr sz="1575" b="0">
                <a:solidFill>
                  <a:srgbClr val="17352B"/>
                </a:solidFill>
                <a:latin typeface="Noto Sans"/>
                <a:ea typeface="Noto Sans"/>
                <a:cs typeface="Noto Sans"/>
              </a:rPr>
              <a:t>giờ thiếu bản ghi PurpleAir</a:t>
            </a:r>
          </a:p>
          <a:p xmlns:a="http://schemas.openxmlformats.org/drawingml/2006/main">
            <a:pPr algn="l">
              <a:defRPr sz="1575" b="0">
                <a:solidFill>
                  <a:srgbClr val="17352B"/>
                </a:solidFill>
                <a:latin typeface="Noto Sans"/>
                <a:ea typeface="Noto Sans"/>
                <a:cs typeface="Noto Sans"/>
              </a:defRPr>
            </a:pPr>
            <a:r>
              <a:rPr sz="1575" b="0">
                <a:solidFill>
                  <a:srgbClr val="17352B"/>
                </a:solidFill>
                <a:latin typeface="Noto Sans"/>
                <a:ea typeface="Noto Sans"/>
                <a:cs typeface="Noto Sans"/>
              </a:rPr>
              <a:t>vẫn tạo đầu ra từ CAMS và trạng thái hiện có</a:t>
            </a:r>
          </a:p>
        </p:txBody>
      </p:sp>
    </p:spTree>
    <p:extLst>
      <p:ext uri="{BB962C8B-B14F-4D97-AF65-F5344CB8AC3E}">
        <p14:creationId xmlns:p14="http://schemas.microsoft.com/office/powerpoint/2010/main" val="17964202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71D478-9151-425A-A740-5BAC18FD9A51}"/>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Đánh giá hệ số thích nghi</a:t>
            </a:r>
          </a:p>
        </p:txBody>
      </p:sp>
      <p:sp>
        <p:nvSpPr>
          <p:cNvPr id="2" name="">
            <a:extLst xmlns:a="http://schemas.openxmlformats.org/drawingml/2006/main">
              <a:ext uri="{FF2B5EF4-FFF2-40B4-BE49-F238E27FC236}">
                <a16:creationId xmlns:a16="http://schemas.microsoft.com/office/drawing/2014/main" id="{5A55D408-9B3A-4DD6-9487-BF821DE91166}"/>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e021a7e4c7c4626"/>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b12e0f900394c0e"/>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7AA8D4-6278-4756-AD2C-CB99424BDB87}"/>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7</a:t>
            </a:r>
          </a:p>
        </p:txBody>
      </p:sp>
      <p:sp>
        <p:nvSpPr>
          <p:cNvPr id="6" name="">
            <a:extLst xmlns:a="http://schemas.openxmlformats.org/drawingml/2006/main">
              <a:ext uri="{FF2B5EF4-FFF2-40B4-BE49-F238E27FC236}">
                <a16:creationId xmlns:a16="http://schemas.microsoft.com/office/drawing/2014/main" id="{089126D7-AB45-468C-8BED-D874C506C401}"/>
              </a:ext>
            </a:extLst>
          </p:cNvPr>
          <p:cNvSpPr>
            <a:spLocks xmlns:a="http://schemas.openxmlformats.org/drawingml/2006/main" noGrp="1"/>
          </p:cNvSpPr>
          <p:nvPr/>
        </p:nvSpPr>
        <p:spPr>
          <a:xfrm xmlns:a="http://schemas.openxmlformats.org/drawingml/2006/main">
            <a:off x="742950" y="12573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415 giờ kiểm định trong 4 đoạn thời gian liên tiếp</a:t>
            </a:r>
          </a:p>
        </p:txBody>
      </p:sp>
      <p:graphicFrame>
        <p:nvGraphicFramePr>
          <p:cNvPr id="19" name="Chart"/>
          <p:cNvGraphicFramePr/>
          <p:nvPr/>
        </p:nvGraphicFramePr>
        <p:xfrm>
          <a:off xmlns:a="http://schemas.openxmlformats.org/drawingml/2006/main" x="590550" y="1695450"/>
          <a:ext xmlns:a="http://schemas.openxmlformats.org/drawingml/2006/main" cx="7239000" cy="3790950"/>
        </p:xfrm>
        <a:graphic xmlns:a="http://schemas.openxmlformats.org/drawingml/2006/main">
          <a:graphicData uri="http://schemas.openxmlformats.org/drawingml/2006/chart">
            <c:chart xmlns:r="http://schemas.openxmlformats.org/officeDocument/2006/relationships" xmlns:c="http://schemas.openxmlformats.org/drawingml/2006/chart" r:id="R77b446b137a94306"/>
          </a:graphicData>
        </a:graphic>
      </p:graphicFrame>
      <p:sp>
        <p:nvSpPr>
          <p:cNvPr id="8" name="">
            <a:extLst xmlns:a="http://schemas.openxmlformats.org/drawingml/2006/main">
              <a:ext uri="{FF2B5EF4-FFF2-40B4-BE49-F238E27FC236}">
                <a16:creationId xmlns:a16="http://schemas.microsoft.com/office/drawing/2014/main" id="{E5CC7D5F-9834-4C9F-A692-96C087121944}"/>
              </a:ext>
            </a:extLst>
          </p:cNvPr>
          <p:cNvSpPr>
            <a:spLocks xmlns:a="http://schemas.openxmlformats.org/drawingml/2006/main" noGrp="1"/>
          </p:cNvSpPr>
          <p:nvPr/>
        </p:nvSpPr>
        <p:spPr>
          <a:xfrm xmlns:a="http://schemas.openxmlformats.org/drawingml/2006/main">
            <a:off x="8305800" y="195262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F6E41"/>
                </a:solidFill>
                <a:latin typeface="Noto Sans"/>
                <a:ea typeface="Noto Sans"/>
                <a:cs typeface="Noto Sans"/>
              </a:defRPr>
            </a:pPr>
            <a:r>
              <a:rPr sz="2100" b="1">
                <a:solidFill>
                  <a:srgbClr val="0F6E41"/>
                </a:solidFill>
                <a:latin typeface="Noto Sans"/>
                <a:ea typeface="Noto Sans"/>
                <a:cs typeface="Noto Sans"/>
              </a:rPr>
              <a:t>Cấu hình IP v1: S = 3</a:t>
            </a:r>
          </a:p>
        </p:txBody>
      </p:sp>
      <p:sp>
        <p:nvSpPr>
          <p:cNvPr id="9" name="">
            <a:extLst xmlns:a="http://schemas.openxmlformats.org/drawingml/2006/main">
              <a:ext uri="{FF2B5EF4-FFF2-40B4-BE49-F238E27FC236}">
                <a16:creationId xmlns:a16="http://schemas.microsoft.com/office/drawing/2014/main" id="{4E01A95B-CB15-4104-804C-0E52636C78CB}"/>
              </a:ext>
            </a:extLst>
          </p:cNvPr>
          <p:cNvSpPr>
            <a:spLocks xmlns:a="http://schemas.openxmlformats.org/drawingml/2006/main" noGrp="1"/>
          </p:cNvSpPr>
          <p:nvPr/>
        </p:nvSpPr>
        <p:spPr>
          <a:xfrm xmlns:a="http://schemas.openxmlformats.org/drawingml/2006/main">
            <a:off x="8324850" y="255270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17352B"/>
                </a:solidFill>
                <a:latin typeface="Noto Sans"/>
                <a:ea typeface="Noto Sans"/>
                <a:cs typeface="Noto Sans"/>
              </a:defRPr>
            </a:pPr>
            <a:r>
              <a:rPr sz="1650" b="1">
                <a:solidFill>
                  <a:srgbClr val="17352B"/>
                </a:solidFill>
                <a:latin typeface="Noto Sans"/>
                <a:ea typeface="Noto Sans"/>
                <a:cs typeface="Noto Sans"/>
              </a:rPr>
              <a:t>α = 1/8</a:t>
            </a:r>
          </a:p>
          <a:p xmlns:a="http://schemas.openxmlformats.org/drawingml/2006/main">
            <a:pPr algn="l">
              <a:lnSpc>
                <a:spcPct val="115000"/>
              </a:lnSpc>
              <a:buNone/>
              <a:defRPr sz="1650" b="1">
                <a:solidFill>
                  <a:srgbClr val="17352B"/>
                </a:solidFill>
                <a:latin typeface="Noto Sans"/>
                <a:ea typeface="Noto Sans"/>
                <a:cs typeface="Noto Sans"/>
              </a:defRPr>
            </a:pPr>
            <a:r>
              <a:rPr sz="1650" b="1">
                <a:solidFill>
                  <a:srgbClr val="17352B"/>
                </a:solidFill>
                <a:latin typeface="Noto Sans"/>
                <a:ea typeface="Noto Sans"/>
                <a:cs typeface="Noto Sans"/>
              </a:rPr>
              <a:t>MAE 4,7259 µg/m³</a:t>
            </a:r>
          </a:p>
          <a:p xmlns:a="http://schemas.openxmlformats.org/drawingml/2006/main">
            <a:pPr algn="l">
              <a:lnSpc>
                <a:spcPct val="115000"/>
              </a:lnSpc>
              <a:buNone/>
              <a:defRPr sz="1650" b="1">
                <a:solidFill>
                  <a:srgbClr val="17352B"/>
                </a:solidFill>
                <a:latin typeface="Noto Sans"/>
                <a:ea typeface="Noto Sans"/>
                <a:cs typeface="Noto Sans"/>
              </a:defRPr>
            </a:pPr>
            <a:r>
              <a:rPr sz="1650" b="1">
                <a:solidFill>
                  <a:srgbClr val="17352B"/>
                </a:solidFill>
                <a:latin typeface="Noto Sans"/>
                <a:ea typeface="Noto Sans"/>
                <a:cs typeface="Noto Sans"/>
              </a:rPr>
              <a:t>Độ lệch chuẩn trạng thái 51,75 x16</a:t>
            </a:r>
          </a:p>
        </p:txBody>
      </p:sp>
      <p:sp>
        <p:nvSpPr>
          <p:cNvPr id="10" name="">
            <a:extLst xmlns:a="http://schemas.openxmlformats.org/drawingml/2006/main">
              <a:ext uri="{FF2B5EF4-FFF2-40B4-BE49-F238E27FC236}">
                <a16:creationId xmlns:a16="http://schemas.microsoft.com/office/drawing/2014/main" id="{806D2A6C-EB4C-4214-9C71-66D0C8155C35}"/>
              </a:ext>
            </a:extLst>
          </p:cNvPr>
          <p:cNvSpPr>
            <a:spLocks xmlns:a="http://schemas.openxmlformats.org/drawingml/2006/main" noGrp="1"/>
          </p:cNvSpPr>
          <p:nvPr/>
        </p:nvSpPr>
        <p:spPr>
          <a:xfrm xmlns:a="http://schemas.openxmlformats.org/drawingml/2006/main">
            <a:off x="8305800" y="3848100"/>
            <a:ext cx="285750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1" name="">
            <a:extLst xmlns:a="http://schemas.openxmlformats.org/drawingml/2006/main">
              <a:ext uri="{FF2B5EF4-FFF2-40B4-BE49-F238E27FC236}">
                <a16:creationId xmlns:a16="http://schemas.microsoft.com/office/drawing/2014/main" id="{56F96802-F3D8-46FE-97C6-B90E495FE94E}"/>
              </a:ext>
            </a:extLst>
          </p:cNvPr>
          <p:cNvSpPr>
            <a:spLocks xmlns:a="http://schemas.openxmlformats.org/drawingml/2006/main" noGrp="1"/>
          </p:cNvSpPr>
          <p:nvPr/>
        </p:nvSpPr>
        <p:spPr>
          <a:xfrm xmlns:a="http://schemas.openxmlformats.org/drawingml/2006/main">
            <a:off x="8305800" y="41719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F6E41"/>
                </a:solidFill>
                <a:latin typeface="Noto Sans"/>
                <a:ea typeface="Noto Sans"/>
                <a:cs typeface="Noto Sans"/>
              </a:defRPr>
            </a:pPr>
            <a:r>
              <a:rPr sz="1875" b="1">
                <a:solidFill>
                  <a:srgbClr val="0F6E41"/>
                </a:solidFill>
                <a:latin typeface="Noto Sans"/>
                <a:ea typeface="Noto Sans"/>
                <a:cs typeface="Noto Sans"/>
              </a:rPr>
              <a:t>Quan sát khi S = 2</a:t>
            </a:r>
          </a:p>
        </p:txBody>
      </p:sp>
      <p:sp>
        <p:nvSpPr>
          <p:cNvPr id="12" name="">
            <a:extLst xmlns:a="http://schemas.openxmlformats.org/drawingml/2006/main">
              <a:ext uri="{FF2B5EF4-FFF2-40B4-BE49-F238E27FC236}">
                <a16:creationId xmlns:a16="http://schemas.microsoft.com/office/drawing/2014/main" id="{78AE237F-79B1-4AB3-9442-91C551BBA46F}"/>
              </a:ext>
            </a:extLst>
          </p:cNvPr>
          <p:cNvSpPr>
            <a:spLocks xmlns:a="http://schemas.openxmlformats.org/drawingml/2006/main" noGrp="1"/>
          </p:cNvSpPr>
          <p:nvPr/>
        </p:nvSpPr>
        <p:spPr>
          <a:xfrm xmlns:a="http://schemas.openxmlformats.org/drawingml/2006/main">
            <a:off x="8324850" y="468630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17352B"/>
                </a:solidFill>
                <a:latin typeface="Noto Sans"/>
                <a:ea typeface="Noto Sans"/>
                <a:cs typeface="Noto Sans"/>
              </a:defRPr>
            </a:pPr>
            <a:r>
              <a:rPr sz="1575" b="0">
                <a:solidFill>
                  <a:srgbClr val="17352B"/>
                </a:solidFill>
                <a:latin typeface="Noto Sans"/>
                <a:ea typeface="Noto Sans"/>
                <a:cs typeface="Noto Sans"/>
              </a:rPr>
              <a:t>MAE giảm còn 4,2633 µg/m³</a:t>
            </a:r>
          </a:p>
          <a:p xmlns:a="http://schemas.openxmlformats.org/drawingml/2006/main">
            <a:pPr algn="l">
              <a:lnSpc>
                <a:spcPct val="115000"/>
              </a:lnSpc>
              <a:buNone/>
              <a:defRPr sz="1575" b="0">
                <a:solidFill>
                  <a:srgbClr val="17352B"/>
                </a:solidFill>
                <a:latin typeface="Noto Sans"/>
                <a:ea typeface="Noto Sans"/>
                <a:cs typeface="Noto Sans"/>
              </a:defRPr>
            </a:pPr>
            <a:r>
              <a:rPr sz="1575" b="0">
                <a:solidFill>
                  <a:srgbClr val="17352B"/>
                </a:solidFill>
                <a:latin typeface="Noto Sans"/>
                <a:ea typeface="Noto Sans"/>
                <a:cs typeface="Noto Sans"/>
              </a:rPr>
              <a:t>Độ lệch chuẩn trạng thái tăng lên 71,23 x16</a:t>
            </a:r>
          </a:p>
        </p:txBody>
      </p:sp>
    </p:spTree>
    <p:extLst>
      <p:ext uri="{BB962C8B-B14F-4D97-AF65-F5344CB8AC3E}">
        <p14:creationId xmlns:p14="http://schemas.microsoft.com/office/powerpoint/2010/main" val="176099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D998DF9-7F9F-4299-BB78-22F16F1FB172}"/>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Kết quả triển khai và mức sẵn sàng</a:t>
            </a:r>
          </a:p>
        </p:txBody>
      </p:sp>
      <p:sp>
        <p:nvSpPr>
          <p:cNvPr id="2" name="">
            <a:extLst xmlns:a="http://schemas.openxmlformats.org/drawingml/2006/main">
              <a:ext uri="{FF2B5EF4-FFF2-40B4-BE49-F238E27FC236}">
                <a16:creationId xmlns:a16="http://schemas.microsoft.com/office/drawing/2014/main" id="{8E3CF50E-EEFC-413C-A57B-3606E8947D6B}"/>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f0504a54f134834"/>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4befebc7e7e4ebf"/>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1544DA-FEA2-421E-AEEA-0F6CE85F520C}"/>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8</a:t>
            </a:r>
          </a:p>
        </p:txBody>
      </p:sp>
      <p:sp>
        <p:nvSpPr>
          <p:cNvPr id="6" name="">
            <a:extLst xmlns:a="http://schemas.openxmlformats.org/drawingml/2006/main">
              <a:ext uri="{FF2B5EF4-FFF2-40B4-BE49-F238E27FC236}">
                <a16:creationId xmlns:a16="http://schemas.microsoft.com/office/drawing/2014/main" id="{9D10D84C-6086-44E7-AC73-F9CF9C829EAF}"/>
              </a:ext>
            </a:extLst>
          </p:cNvPr>
          <p:cNvSpPr>
            <a:spLocks xmlns:a="http://schemas.openxmlformats.org/drawingml/2006/main" noGrp="1"/>
          </p:cNvSpPr>
          <p:nvPr/>
        </p:nvSpPr>
        <p:spPr>
          <a:xfrm xmlns:a="http://schemas.openxmlformats.org/drawingml/2006/main">
            <a:off x="800100" y="158115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F6E41"/>
                </a:solidFill>
                <a:latin typeface="Noto Sans"/>
                <a:ea typeface="Noto Sans"/>
                <a:cs typeface="Noto Sans"/>
              </a:defRPr>
            </a:pPr>
            <a:r>
              <a:rPr sz="5400" b="1">
                <a:solidFill>
                  <a:srgbClr val="0F6E41"/>
                </a:solidFill>
                <a:latin typeface="Noto Sans"/>
                <a:ea typeface="Noto Sans"/>
                <a:cs typeface="Noto Sans"/>
              </a:rPr>
              <a:t>140/140</a:t>
            </a:r>
          </a:p>
        </p:txBody>
      </p:sp>
      <p:sp>
        <p:nvSpPr>
          <p:cNvPr id="7" name="">
            <a:extLst xmlns:a="http://schemas.openxmlformats.org/drawingml/2006/main">
              <a:ext uri="{FF2B5EF4-FFF2-40B4-BE49-F238E27FC236}">
                <a16:creationId xmlns:a16="http://schemas.microsoft.com/office/drawing/2014/main" id="{98EBC86A-E236-4BB6-8753-564DEBBF05E0}"/>
              </a:ext>
            </a:extLst>
          </p:cNvPr>
          <p:cNvSpPr>
            <a:spLocks xmlns:a="http://schemas.openxmlformats.org/drawingml/2006/main" noGrp="1"/>
          </p:cNvSpPr>
          <p:nvPr/>
        </p:nvSpPr>
        <p:spPr>
          <a:xfrm xmlns:a="http://schemas.openxmlformats.org/drawingml/2006/main">
            <a:off x="838200" y="257175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17352B"/>
                </a:solidFill>
                <a:latin typeface="Noto Sans"/>
                <a:ea typeface="Noto Sans"/>
                <a:cs typeface="Noto Sans"/>
              </a:defRPr>
            </a:pPr>
            <a:r>
              <a:rPr sz="2100" b="1">
                <a:solidFill>
                  <a:srgbClr val="17352B"/>
                </a:solidFill>
                <a:latin typeface="Noto Sans"/>
                <a:ea typeface="Noto Sans"/>
                <a:cs typeface="Noto Sans"/>
              </a:rPr>
              <a:t>giao dịch UART trên Tang Nano 9K</a:t>
            </a:r>
          </a:p>
          <a:p xmlns:a="http://schemas.openxmlformats.org/drawingml/2006/main">
            <a:pPr algn="l">
              <a:lnSpc>
                <a:spcPct val="105000"/>
              </a:lnSpc>
              <a:buNone/>
              <a:defRPr sz="2100" b="1">
                <a:solidFill>
                  <a:srgbClr val="17352B"/>
                </a:solidFill>
                <a:latin typeface="Noto Sans"/>
                <a:ea typeface="Noto Sans"/>
                <a:cs typeface="Noto Sans"/>
              </a:defRPr>
            </a:pPr>
            <a:r>
              <a:rPr sz="2100" b="1">
                <a:solidFill>
                  <a:srgbClr val="17352B"/>
                </a:solidFill>
                <a:latin typeface="Noto Sans"/>
                <a:ea typeface="Noto Sans"/>
                <a:cs typeface="Noto Sans"/>
              </a:rPr>
              <a:t>khớp mô hình tham chiếu</a:t>
            </a:r>
          </a:p>
        </p:txBody>
      </p:sp>
      <p:sp>
        <p:nvSpPr>
          <p:cNvPr id="8" name="">
            <a:extLst xmlns:a="http://schemas.openxmlformats.org/drawingml/2006/main">
              <a:ext uri="{FF2B5EF4-FFF2-40B4-BE49-F238E27FC236}">
                <a16:creationId xmlns:a16="http://schemas.microsoft.com/office/drawing/2014/main" id="{DDF99199-2602-4EED-A50E-C93E00CA6C57}"/>
              </a:ext>
            </a:extLst>
          </p:cNvPr>
          <p:cNvSpPr>
            <a:spLocks xmlns:a="http://schemas.openxmlformats.org/drawingml/2006/main" noGrp="1"/>
          </p:cNvSpPr>
          <p:nvPr/>
        </p:nvSpPr>
        <p:spPr>
          <a:xfrm xmlns:a="http://schemas.openxmlformats.org/drawingml/2006/main">
            <a:off x="781050" y="3676650"/>
            <a:ext cx="495300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9" name="">
            <a:extLst xmlns:a="http://schemas.openxmlformats.org/drawingml/2006/main">
              <a:ext uri="{FF2B5EF4-FFF2-40B4-BE49-F238E27FC236}">
                <a16:creationId xmlns:a16="http://schemas.microsoft.com/office/drawing/2014/main" id="{FAD78C9B-7AA4-4A1B-A6C2-13015B0DA6A3}"/>
              </a:ext>
            </a:extLst>
          </p:cNvPr>
          <p:cNvSpPr>
            <a:spLocks xmlns:a="http://schemas.openxmlformats.org/drawingml/2006/main" noGrp="1"/>
          </p:cNvSpPr>
          <p:nvPr/>
        </p:nvSpPr>
        <p:spPr>
          <a:xfrm xmlns:a="http://schemas.openxmlformats.org/drawingml/2006/main">
            <a:off x="857250" y="40386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52B"/>
                </a:solidFill>
                <a:latin typeface="Noto Sans"/>
                <a:ea typeface="Noto Sans"/>
                <a:cs typeface="Noto Sans"/>
              </a:defRPr>
            </a:pPr>
            <a:r>
              <a:rPr sz="2325" b="1">
                <a:solidFill>
                  <a:srgbClr val="17352B"/>
                </a:solidFill>
                <a:latin typeface="Noto Sans"/>
                <a:ea typeface="Noto Sans"/>
                <a:cs typeface="Noto Sans"/>
              </a:rPr>
              <a:t>490 / 8.640</a:t>
            </a:r>
          </a:p>
        </p:txBody>
      </p:sp>
      <p:sp>
        <p:nvSpPr>
          <p:cNvPr id="10" name="">
            <a:extLst xmlns:a="http://schemas.openxmlformats.org/drawingml/2006/main">
              <a:ext uri="{FF2B5EF4-FFF2-40B4-BE49-F238E27FC236}">
                <a16:creationId xmlns:a16="http://schemas.microsoft.com/office/drawing/2014/main" id="{A2937356-3926-4DA4-B160-C78623E851AD}"/>
              </a:ext>
            </a:extLst>
          </p:cNvPr>
          <p:cNvSpPr>
            <a:spLocks xmlns:a="http://schemas.openxmlformats.org/drawingml/2006/main" noGrp="1"/>
          </p:cNvSpPr>
          <p:nvPr/>
        </p:nvSpPr>
        <p:spPr>
          <a:xfrm xmlns:a="http://schemas.openxmlformats.org/drawingml/2006/main">
            <a:off x="857250" y="45720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phần tử logic, 6%</a:t>
            </a:r>
          </a:p>
        </p:txBody>
      </p:sp>
      <p:sp>
        <p:nvSpPr>
          <p:cNvPr id="11" name="">
            <a:extLst xmlns:a="http://schemas.openxmlformats.org/drawingml/2006/main">
              <a:ext uri="{FF2B5EF4-FFF2-40B4-BE49-F238E27FC236}">
                <a16:creationId xmlns:a16="http://schemas.microsoft.com/office/drawing/2014/main" id="{3E52CA52-3107-46D3-A3DA-35191B7EF713}"/>
              </a:ext>
            </a:extLst>
          </p:cNvPr>
          <p:cNvSpPr>
            <a:spLocks xmlns:a="http://schemas.openxmlformats.org/drawingml/2006/main" noGrp="1"/>
          </p:cNvSpPr>
          <p:nvPr/>
        </p:nvSpPr>
        <p:spPr>
          <a:xfrm xmlns:a="http://schemas.openxmlformats.org/drawingml/2006/main">
            <a:off x="3381375" y="40386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52B"/>
                </a:solidFill>
                <a:latin typeface="Noto Sans"/>
                <a:ea typeface="Noto Sans"/>
                <a:cs typeface="Noto Sans"/>
              </a:defRPr>
            </a:pPr>
            <a:r>
              <a:rPr sz="2325" b="1">
                <a:solidFill>
                  <a:srgbClr val="17352B"/>
                </a:solidFill>
                <a:latin typeface="Noto Sans"/>
                <a:ea typeface="Noto Sans"/>
                <a:cs typeface="Noto Sans"/>
              </a:rPr>
              <a:t>283 / 6.693</a:t>
            </a:r>
          </a:p>
        </p:txBody>
      </p:sp>
      <p:sp>
        <p:nvSpPr>
          <p:cNvPr id="12" name="">
            <a:extLst xmlns:a="http://schemas.openxmlformats.org/drawingml/2006/main">
              <a:ext uri="{FF2B5EF4-FFF2-40B4-BE49-F238E27FC236}">
                <a16:creationId xmlns:a16="http://schemas.microsoft.com/office/drawing/2014/main" id="{DE95C003-573D-4A89-BCC4-402075F0DAF6}"/>
              </a:ext>
            </a:extLst>
          </p:cNvPr>
          <p:cNvSpPr>
            <a:spLocks xmlns:a="http://schemas.openxmlformats.org/drawingml/2006/main" noGrp="1"/>
          </p:cNvSpPr>
          <p:nvPr/>
        </p:nvSpPr>
        <p:spPr>
          <a:xfrm xmlns:a="http://schemas.openxmlformats.org/drawingml/2006/main">
            <a:off x="3381375" y="45720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thanh ghi, 5%</a:t>
            </a:r>
          </a:p>
        </p:txBody>
      </p:sp>
      <p:sp>
        <p:nvSpPr>
          <p:cNvPr id="13" name="">
            <a:extLst xmlns:a="http://schemas.openxmlformats.org/drawingml/2006/main">
              <a:ext uri="{FF2B5EF4-FFF2-40B4-BE49-F238E27FC236}">
                <a16:creationId xmlns:a16="http://schemas.microsoft.com/office/drawing/2014/main" id="{90416CFB-582B-4A96-B07F-5D2C669B7C0E}"/>
              </a:ext>
            </a:extLst>
          </p:cNvPr>
          <p:cNvSpPr>
            <a:spLocks xmlns:a="http://schemas.openxmlformats.org/drawingml/2006/main" noGrp="1"/>
          </p:cNvSpPr>
          <p:nvPr/>
        </p:nvSpPr>
        <p:spPr>
          <a:xfrm xmlns:a="http://schemas.openxmlformats.org/drawingml/2006/main">
            <a:off x="6667500" y="1562100"/>
            <a:ext cx="0" cy="369570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4" name="">
            <a:extLst xmlns:a="http://schemas.openxmlformats.org/drawingml/2006/main">
              <a:ext uri="{FF2B5EF4-FFF2-40B4-BE49-F238E27FC236}">
                <a16:creationId xmlns:a16="http://schemas.microsoft.com/office/drawing/2014/main" id="{40BA22F7-D53C-4CD1-9553-EE3F1FF669C3}"/>
              </a:ext>
            </a:extLst>
          </p:cNvPr>
          <p:cNvSpPr>
            <a:spLocks xmlns:a="http://schemas.openxmlformats.org/drawingml/2006/main" noGrp="1"/>
          </p:cNvSpPr>
          <p:nvPr/>
        </p:nvSpPr>
        <p:spPr>
          <a:xfrm xmlns:a="http://schemas.openxmlformats.org/drawingml/2006/main">
            <a:off x="7334250" y="16002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F6E41"/>
                </a:solidFill>
                <a:latin typeface="Noto Sans"/>
                <a:ea typeface="Noto Sans"/>
                <a:cs typeface="Noto Sans"/>
              </a:defRPr>
            </a:pPr>
            <a:r>
              <a:rPr sz="1575" b="1">
                <a:solidFill>
                  <a:srgbClr val="0F6E41"/>
                </a:solidFill>
                <a:latin typeface="Noto Sans"/>
                <a:ea typeface="Noto Sans"/>
                <a:cs typeface="Noto Sans"/>
              </a:rPr>
              <a:t>GW1NR-LV9QN88PC6/I5</a:t>
            </a:r>
          </a:p>
        </p:txBody>
      </p:sp>
      <p:sp>
        <p:nvSpPr>
          <p:cNvPr id="15" name="">
            <a:extLst xmlns:a="http://schemas.openxmlformats.org/drawingml/2006/main">
              <a:ext uri="{FF2B5EF4-FFF2-40B4-BE49-F238E27FC236}">
                <a16:creationId xmlns:a16="http://schemas.microsoft.com/office/drawing/2014/main" id="{4F1AD70A-62F4-41F0-ACD9-2B508575D9C3}"/>
              </a:ext>
            </a:extLst>
          </p:cNvPr>
          <p:cNvSpPr>
            <a:spLocks xmlns:a="http://schemas.openxmlformats.org/drawingml/2006/main" noGrp="1"/>
          </p:cNvSpPr>
          <p:nvPr/>
        </p:nvSpPr>
        <p:spPr>
          <a:xfrm xmlns:a="http://schemas.openxmlformats.org/drawingml/2006/main">
            <a:off x="7334250" y="21526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352B"/>
                </a:solidFill>
                <a:latin typeface="Noto Sans"/>
                <a:ea typeface="Noto Sans"/>
                <a:cs typeface="Noto Sans"/>
              </a:defRPr>
            </a:pPr>
            <a:r>
              <a:rPr sz="2925" b="1">
                <a:solidFill>
                  <a:srgbClr val="17352B"/>
                </a:solidFill>
                <a:latin typeface="Noto Sans"/>
                <a:ea typeface="Noto Sans"/>
                <a:cs typeface="Noto Sans"/>
              </a:rPr>
              <a:t>27 MHz</a:t>
            </a:r>
          </a:p>
        </p:txBody>
      </p:sp>
      <p:sp>
        <p:nvSpPr>
          <p:cNvPr id="16" name="">
            <a:extLst xmlns:a="http://schemas.openxmlformats.org/drawingml/2006/main">
              <a:ext uri="{FF2B5EF4-FFF2-40B4-BE49-F238E27FC236}">
                <a16:creationId xmlns:a16="http://schemas.microsoft.com/office/drawing/2014/main" id="{3B8701E9-2C90-4562-8EBD-4F20808815D3}"/>
              </a:ext>
            </a:extLst>
          </p:cNvPr>
          <p:cNvSpPr>
            <a:spLocks xmlns:a="http://schemas.openxmlformats.org/drawingml/2006/main" noGrp="1"/>
          </p:cNvSpPr>
          <p:nvPr/>
        </p:nvSpPr>
        <p:spPr>
          <a:xfrm xmlns:a="http://schemas.openxmlformats.org/drawingml/2006/main">
            <a:off x="7334250" y="26860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xung nhịp mục tiêu</a:t>
            </a:r>
          </a:p>
        </p:txBody>
      </p:sp>
      <p:sp>
        <p:nvSpPr>
          <p:cNvPr id="17" name="">
            <a:extLst xmlns:a="http://schemas.openxmlformats.org/drawingml/2006/main">
              <a:ext uri="{FF2B5EF4-FFF2-40B4-BE49-F238E27FC236}">
                <a16:creationId xmlns:a16="http://schemas.microsoft.com/office/drawing/2014/main" id="{80299C6B-5E92-402E-A8A8-1CE52C231F21}"/>
              </a:ext>
            </a:extLst>
          </p:cNvPr>
          <p:cNvSpPr>
            <a:spLocks xmlns:a="http://schemas.openxmlformats.org/drawingml/2006/main" noGrp="1"/>
          </p:cNvSpPr>
          <p:nvPr/>
        </p:nvSpPr>
        <p:spPr>
          <a:xfrm xmlns:a="http://schemas.openxmlformats.org/drawingml/2006/main">
            <a:off x="7334250" y="32956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352B"/>
                </a:solidFill>
                <a:latin typeface="Noto Sans"/>
                <a:ea typeface="Noto Sans"/>
                <a:cs typeface="Noto Sans"/>
              </a:defRPr>
            </a:pPr>
            <a:r>
              <a:rPr sz="2925" b="1">
                <a:solidFill>
                  <a:srgbClr val="17352B"/>
                </a:solidFill>
                <a:latin typeface="Noto Sans"/>
                <a:ea typeface="Noto Sans"/>
                <a:cs typeface="Noto Sans"/>
              </a:rPr>
              <a:t>58,705 MHz</a:t>
            </a:r>
          </a:p>
        </p:txBody>
      </p:sp>
      <p:sp>
        <p:nvSpPr>
          <p:cNvPr id="18" name="">
            <a:extLst xmlns:a="http://schemas.openxmlformats.org/drawingml/2006/main">
              <a:ext uri="{FF2B5EF4-FFF2-40B4-BE49-F238E27FC236}">
                <a16:creationId xmlns:a16="http://schemas.microsoft.com/office/drawing/2014/main" id="{03E1F44E-89E8-4E02-AC04-A62C1EEAB4DA}"/>
              </a:ext>
            </a:extLst>
          </p:cNvPr>
          <p:cNvSpPr>
            <a:spLocks xmlns:a="http://schemas.openxmlformats.org/drawingml/2006/main" noGrp="1"/>
          </p:cNvSpPr>
          <p:nvPr/>
        </p:nvSpPr>
        <p:spPr>
          <a:xfrm xmlns:a="http://schemas.openxmlformats.org/drawingml/2006/main">
            <a:off x="7334250" y="38290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tần số cực đại sau định tuyến</a:t>
            </a:r>
          </a:p>
        </p:txBody>
      </p:sp>
      <p:sp>
        <p:nvSpPr>
          <p:cNvPr id="19" name="">
            <a:extLst xmlns:a="http://schemas.openxmlformats.org/drawingml/2006/main">
              <a:ext uri="{FF2B5EF4-FFF2-40B4-BE49-F238E27FC236}">
                <a16:creationId xmlns:a16="http://schemas.microsoft.com/office/drawing/2014/main" id="{60C86601-0A44-49AA-821B-ED19DE2BD50B}"/>
              </a:ext>
            </a:extLst>
          </p:cNvPr>
          <p:cNvSpPr>
            <a:spLocks xmlns:a="http://schemas.openxmlformats.org/drawingml/2006/main" noGrp="1"/>
          </p:cNvSpPr>
          <p:nvPr/>
        </p:nvSpPr>
        <p:spPr>
          <a:xfrm xmlns:a="http://schemas.openxmlformats.org/drawingml/2006/main">
            <a:off x="7334250" y="44577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F6E41"/>
                </a:solidFill>
                <a:latin typeface="Noto Sans"/>
                <a:ea typeface="Noto Sans"/>
                <a:cs typeface="Noto Sans"/>
              </a:defRPr>
            </a:pPr>
            <a:r>
              <a:rPr sz="2925" b="1">
                <a:solidFill>
                  <a:srgbClr val="0F6E41"/>
                </a:solidFill>
                <a:latin typeface="Noto Sans"/>
                <a:ea typeface="Noto Sans"/>
                <a:cs typeface="Noto Sans"/>
              </a:rPr>
              <a:t>0/0</a:t>
            </a:r>
          </a:p>
        </p:txBody>
      </p:sp>
      <p:sp>
        <p:nvSpPr>
          <p:cNvPr id="20" name="">
            <a:extLst xmlns:a="http://schemas.openxmlformats.org/drawingml/2006/main">
              <a:ext uri="{FF2B5EF4-FFF2-40B4-BE49-F238E27FC236}">
                <a16:creationId xmlns:a16="http://schemas.microsoft.com/office/drawing/2014/main" id="{549EB0A6-1E51-4216-A7AE-2225C695AF24}"/>
              </a:ext>
            </a:extLst>
          </p:cNvPr>
          <p:cNvSpPr>
            <a:spLocks xmlns:a="http://schemas.openxmlformats.org/drawingml/2006/main" noGrp="1"/>
          </p:cNvSpPr>
          <p:nvPr/>
        </p:nvSpPr>
        <p:spPr>
          <a:xfrm xmlns:a="http://schemas.openxmlformats.org/drawingml/2006/main">
            <a:off x="7334250" y="49911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điểm cuối vi phạm thiết lập/giữ</a:t>
            </a:r>
          </a:p>
        </p:txBody>
      </p:sp>
      <p:sp>
        <p:nvSpPr>
          <p:cNvPr id="21" name="">
            <a:extLst xmlns:a="http://schemas.openxmlformats.org/drawingml/2006/main">
              <a:ext uri="{FF2B5EF4-FFF2-40B4-BE49-F238E27FC236}">
                <a16:creationId xmlns:a16="http://schemas.microsoft.com/office/drawing/2014/main" id="{322578C1-1C11-4FCA-B8D4-D9B0ABAF4147}"/>
              </a:ext>
            </a:extLst>
          </p:cNvPr>
          <p:cNvSpPr>
            <a:spLocks xmlns:a="http://schemas.openxmlformats.org/drawingml/2006/main" noGrp="1"/>
          </p:cNvSpPr>
          <p:nvPr/>
        </p:nvSpPr>
        <p:spPr>
          <a:xfrm xmlns:a="http://schemas.openxmlformats.org/drawingml/2006/main">
            <a:off x="2343150" y="5676900"/>
            <a:ext cx="7505700" cy="552450"/>
          </a:xfrm>
          <a:prstGeom xmlns:a="http://schemas.openxmlformats.org/drawingml/2006/main" prst="roundRect">
            <a:avLst>
              <a:gd name="adj" fmla="val 24138"/>
            </a:avLst>
          </a:prstGeom>
          <a:solidFill xmlns:a="http://schemas.openxmlformats.org/drawingml/2006/main">
            <a:srgbClr val="EAF5EF"/>
          </a:solidFill>
          <a:ln xmlns:a="http://schemas.openxmlformats.org/drawingml/2006/main" w="14288">
            <a:solidFill>
              <a:srgbClr val="C8D8CF"/>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0F6E41"/>
                </a:solidFill>
                <a:latin typeface="Noto Sans"/>
                <a:ea typeface="Noto Sans"/>
                <a:cs typeface="Noto Sans"/>
              </a:defRPr>
            </a:pPr>
            <a:r>
              <a:rPr sz="1575" b="1">
                <a:solidFill>
                  <a:srgbClr val="0F6E41"/>
                </a:solidFill>
                <a:latin typeface="Noto Sans"/>
                <a:ea typeface="Noto Sans"/>
                <a:cs typeface="Noto Sans"/>
              </a:rPr>
              <a:t>APB3: 89 giao dịch / 325 phép kiểm ở mô phỏng RTL</a:t>
            </a:r>
          </a:p>
        </p:txBody>
      </p:sp>
    </p:spTree>
    <p:extLst>
      <p:ext uri="{BB962C8B-B14F-4D97-AF65-F5344CB8AC3E}">
        <p14:creationId xmlns:p14="http://schemas.microsoft.com/office/powerpoint/2010/main" val="477243198"/>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2FECE5-3B43-41B6-BE1E-2A06A578E401}"/>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Ánh xạ thanh ghi APB3</a:t>
            </a:r>
          </a:p>
        </p:txBody>
      </p:sp>
      <p:sp>
        <p:nvSpPr>
          <p:cNvPr id="2" name="">
            <a:extLst xmlns:a="http://schemas.openxmlformats.org/drawingml/2006/main">
              <a:ext uri="{FF2B5EF4-FFF2-40B4-BE49-F238E27FC236}">
                <a16:creationId xmlns:a16="http://schemas.microsoft.com/office/drawing/2014/main" id="{310DE5CB-F5B6-4339-9487-239C13DB4724}"/>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16fc2206a674a99"/>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48abed847243a9"/>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52BA74-D385-4E18-BEE9-5E6BA61E6AFA}"/>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9</a:t>
            </a:r>
          </a:p>
        </p:txBody>
      </p:sp>
      <p:graphicFrame>
        <p:nvGraphicFramePr>
          <p:cNvPr id="13" name=""/>
          <p:cNvGraphicFramePr/>
          <p:nvPr/>
        </p:nvGraphicFramePr>
        <p:xfrm>
          <a:off xmlns:a="http://schemas.openxmlformats.org/drawingml/2006/main" x="685800" y="1428750"/>
          <a:ext xmlns:a="http://schemas.openxmlformats.org/drawingml/2006/main" cx="10820400" cy="4438650"/>
        </p:xfrm>
        <a:graphic xmlns:a="http://schemas.openxmlformats.org/drawingml/2006/main">
          <a:graphicData uri="http://schemas.openxmlformats.org/drawingml/2006/table">
            <a:tbl>
              <a:tblPr/>
              <a:tblGrid>
                <a:gridCol w="1047750"/>
                <a:gridCol w="2476500"/>
                <a:gridCol w="1285875"/>
                <a:gridCol w="6010275"/>
              </a:tblGrid>
              <a:tr h="400050">
                <a:tc>
                  <a:txBody>
                    <a:bodyPr anchor="ctr"/>
                    <a:lstStyle/>
                    <a:p>
                      <a:pPr algn="ctr"/>
                      <a:r>
                        <a:rPr lang="vi-VN" sz="1325" b="1">
                          <a:solidFill>
                            <a:srgbClr val="FFFFFF"/>
                          </a:solidFill>
                          <a:latin typeface="Noto Sans"/>
                          <a:ea typeface="Noto Sans"/>
                          <a:cs typeface="Noto Sans"/>
                        </a:rPr>
                        <a:t>Địa chỉ</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l"/>
                      <a:r>
                        <a:rPr lang="vi-VN" sz="1325" b="1">
                          <a:solidFill>
                            <a:srgbClr val="FFFFFF"/>
                          </a:solidFill>
                          <a:latin typeface="Noto Sans"/>
                          <a:ea typeface="Noto Sans"/>
                          <a:cs typeface="Noto Sans"/>
                        </a:rPr>
                        <a:t>Thanh ghi</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325" b="1">
                          <a:solidFill>
                            <a:srgbClr val="FFFFFF"/>
                          </a:solidFill>
                          <a:latin typeface="Noto Sans"/>
                          <a:ea typeface="Noto Sans"/>
                          <a:cs typeface="Noto Sans"/>
                        </a:rPr>
                        <a:t>Quyền</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l"/>
                      <a:r>
                        <a:rPr lang="vi-VN" sz="1325" b="1">
                          <a:solidFill>
                            <a:srgbClr val="FFFFFF"/>
                          </a:solidFill>
                          <a:latin typeface="Noto Sans"/>
                          <a:ea typeface="Noto Sans"/>
                          <a:cs typeface="Noto Sans"/>
                        </a:rPr>
                        <a:t>Mục đích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400050">
                <a:tc>
                  <a:txBody>
                    <a:bodyPr anchor="ctr"/>
                    <a:lstStyle/>
                    <a:p>
                      <a:pPr algn="ctr"/>
                      <a:r>
                        <a:rPr lang="vi-VN" sz="1325">
                          <a:solidFill>
                            <a:srgbClr val="17352B"/>
                          </a:solidFill>
                          <a:latin typeface="Noto Sans"/>
                          <a:ea typeface="Noto Sans"/>
                          <a:cs typeface="Noto Sans"/>
                        </a:rPr>
                        <a:t>0x00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IP_ID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0x504D3235 (PM25)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0x04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VERSION</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0x00010000, phiên bản 1.0.0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0x08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CONTROL</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RW/lệnh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PROCESS, SAMPLE_VALID, QC_OK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0x0C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CAMS_PM25_X16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RW</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Đầu vào CAMS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0x10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PA_PM25_X16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RW</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Đầu vào PurpleAir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0x14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HOUR</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RW</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Thông tin giờ ở 5 bit thấp</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0x18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STATUS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BUSY, DONE, RESULT_VALID, ACCEPTED, ALERT</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0x1C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PM25_RESULT_X16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Kết quả fused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0x20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BIAS_STATE_X16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Bias sau lệnh,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0x24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CONFIG</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ALPHA_SHIFT và hệ số biểu diễn 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bl>
          </a:graphicData>
        </a:graphic>
      </p:graphicFrame>
      <p:sp>
        <p:nvSpPr>
          <p:cNvPr id="7" name="">
            <a:extLst xmlns:a="http://schemas.openxmlformats.org/drawingml/2006/main">
              <a:ext uri="{FF2B5EF4-FFF2-40B4-BE49-F238E27FC236}">
                <a16:creationId xmlns:a16="http://schemas.microsoft.com/office/drawing/2014/main" id="{6E19BE9D-E960-410D-B22E-2F2CE3B47294}"/>
              </a:ext>
            </a:extLst>
          </p:cNvPr>
          <p:cNvSpPr>
            <a:spLocks xmlns:a="http://schemas.openxmlformats.org/drawingml/2006/main" noGrp="1"/>
          </p:cNvSpPr>
          <p:nvPr/>
        </p:nvSpPr>
        <p:spPr>
          <a:xfrm xmlns:a="http://schemas.openxmlformats.org/drawingml/2006/main">
            <a:off x="762000" y="6038850"/>
            <a:ext cx="1062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F6E41"/>
                </a:solidFill>
                <a:latin typeface="Noto Sans"/>
                <a:ea typeface="Noto Sans"/>
                <a:cs typeface="Noto Sans"/>
              </a:defRPr>
            </a:pPr>
            <a:r>
              <a:rPr sz="1350" b="1">
                <a:solidFill>
                  <a:srgbClr val="0F6E41"/>
                </a:solidFill>
                <a:latin typeface="Noto Sans"/>
                <a:ea typeface="Noto Sans"/>
                <a:cs typeface="Noto Sans"/>
              </a:rPr>
              <a:t>PROCESS là lệnh write-one, tự xóa. DONE giữ đến lệnh hợp lệ tiếp theo hoặc reset.</a:t>
            </a:r>
          </a:p>
        </p:txBody>
      </p:sp>
    </p:spTree>
    <p:extLst>
      <p:ext uri="{BB962C8B-B14F-4D97-AF65-F5344CB8AC3E}">
        <p14:creationId xmlns:p14="http://schemas.microsoft.com/office/powerpoint/2010/main" val="1533376863"/>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E5DEFD-F9EE-460B-93AA-87FF2BE0493E}"/>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Cấu trúc gói UART</a:t>
            </a:r>
          </a:p>
        </p:txBody>
      </p:sp>
      <p:sp>
        <p:nvSpPr>
          <p:cNvPr id="2" name="">
            <a:extLst xmlns:a="http://schemas.openxmlformats.org/drawingml/2006/main">
              <a:ext uri="{FF2B5EF4-FFF2-40B4-BE49-F238E27FC236}">
                <a16:creationId xmlns:a16="http://schemas.microsoft.com/office/drawing/2014/main" id="{BB597736-1D21-4B0F-B709-8488B7D6C8C9}"/>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a4a2075a3424ab8"/>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c033193eb624104"/>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A5A9B7-F8CA-4636-96F3-EAA7BA26417F}"/>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10</a:t>
            </a:r>
          </a:p>
        </p:txBody>
      </p:sp>
      <p:sp>
        <p:nvSpPr>
          <p:cNvPr id="6" name="">
            <a:extLst xmlns:a="http://schemas.openxmlformats.org/drawingml/2006/main">
              <a:ext uri="{FF2B5EF4-FFF2-40B4-BE49-F238E27FC236}">
                <a16:creationId xmlns:a16="http://schemas.microsoft.com/office/drawing/2014/main" id="{82A8A528-44D7-4D19-B846-22460C950A71}"/>
              </a:ext>
            </a:extLst>
          </p:cNvPr>
          <p:cNvSpPr>
            <a:spLocks xmlns:a="http://schemas.openxmlformats.org/drawingml/2006/main" noGrp="1"/>
          </p:cNvSpPr>
          <p:nvPr/>
        </p:nvSpPr>
        <p:spPr>
          <a:xfrm xmlns:a="http://schemas.openxmlformats.org/drawingml/2006/main">
            <a:off x="838200" y="13811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F6E41"/>
                </a:solidFill>
                <a:latin typeface="Noto Sans"/>
                <a:ea typeface="Noto Sans"/>
                <a:cs typeface="Noto Sans"/>
              </a:defRPr>
            </a:pPr>
            <a:r>
              <a:rPr sz="1950" b="1">
                <a:solidFill>
                  <a:srgbClr val="0F6E41"/>
                </a:solidFill>
                <a:latin typeface="Noto Sans"/>
                <a:ea typeface="Noto Sans"/>
                <a:cs typeface="Noto Sans"/>
              </a:rPr>
              <a:t>Máy tính gửi đến FPGA</a:t>
            </a:r>
          </a:p>
        </p:txBody>
      </p:sp>
      <p:graphicFrame>
        <p:nvGraphicFramePr>
          <p:cNvPr id="21" name=""/>
          <p:cNvGraphicFramePr/>
          <p:nvPr/>
        </p:nvGraphicFramePr>
        <p:xfrm>
          <a:off xmlns:a="http://schemas.openxmlformats.org/drawingml/2006/main" x="838200" y="1885950"/>
          <a:ext xmlns:a="http://schemas.openxmlformats.org/drawingml/2006/main" cx="9858375" cy="952500"/>
        </p:xfrm>
        <a:graphic xmlns:a="http://schemas.openxmlformats.org/drawingml/2006/main">
          <a:graphicData uri="http://schemas.openxmlformats.org/drawingml/2006/table">
            <a:tbl>
              <a:tblPr/>
              <a:tblGrid>
                <a:gridCol w="1143000"/>
                <a:gridCol w="1619250"/>
                <a:gridCol w="1238250"/>
                <a:gridCol w="1238250"/>
                <a:gridCol w="1714500"/>
                <a:gridCol w="1714500"/>
                <a:gridCol w="1190625"/>
              </a:tblGrid>
              <a:tr h="476250">
                <a:tc>
                  <a:txBody>
                    <a:bodyPr anchor="ctr"/>
                    <a:lstStyle/>
                    <a:p>
                      <a:pPr algn="ctr"/>
                      <a:r>
                        <a:rPr lang="vi-VN" sz="1250" b="1">
                          <a:solidFill>
                            <a:srgbClr val="FFFFFF"/>
                          </a:solidFill>
                          <a:latin typeface="Noto Sans"/>
                          <a:ea typeface="Noto Sans"/>
                          <a:cs typeface="Noto Sans"/>
                        </a:rPr>
                        <a:t>SYNC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SAMPLE_VALID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QC_OK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HOUR</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CAMS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PA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CHK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476250">
                <a:tc>
                  <a:txBody>
                    <a:bodyPr anchor="ctr"/>
                    <a:lstStyle/>
                    <a:p>
                      <a:pPr algn="ctr"/>
                      <a:r>
                        <a:rPr lang="vi-VN" sz="1250">
                          <a:solidFill>
                            <a:srgbClr val="17352B"/>
                          </a:solidFill>
                          <a:latin typeface="Noto Sans"/>
                          <a:ea typeface="Noto Sans"/>
                          <a:cs typeface="Noto Sans"/>
                        </a:rPr>
                        <a:t>0xA5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080189E-8F4A-482A-9CDF-C3ABB2A07BDD}"/>
              </a:ext>
            </a:extLst>
          </p:cNvPr>
          <p:cNvSpPr>
            <a:spLocks xmlns:a="http://schemas.openxmlformats.org/drawingml/2006/main" noGrp="1"/>
          </p:cNvSpPr>
          <p:nvPr/>
        </p:nvSpPr>
        <p:spPr>
          <a:xfrm xmlns:a="http://schemas.openxmlformats.org/drawingml/2006/main">
            <a:off x="10858500" y="217170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1">
                <a:solidFill>
                  <a:srgbClr val="17352B"/>
                </a:solidFill>
                <a:latin typeface="Noto Sans"/>
                <a:ea typeface="Noto Sans"/>
                <a:cs typeface="Noto Sans"/>
              </a:defRPr>
            </a:pPr>
            <a:r>
              <a:rPr sz="1650" b="1">
                <a:solidFill>
                  <a:srgbClr val="17352B"/>
                </a:solidFill>
                <a:latin typeface="Noto Sans"/>
                <a:ea typeface="Noto Sans"/>
                <a:cs typeface="Noto Sans"/>
              </a:rPr>
              <a:t>9 byte</a:t>
            </a:r>
          </a:p>
        </p:txBody>
      </p:sp>
      <p:sp>
        <p:nvSpPr>
          <p:cNvPr id="9" name="">
            <a:extLst xmlns:a="http://schemas.openxmlformats.org/drawingml/2006/main">
              <a:ext uri="{FF2B5EF4-FFF2-40B4-BE49-F238E27FC236}">
                <a16:creationId xmlns:a16="http://schemas.microsoft.com/office/drawing/2014/main" id="{E66F0DD1-E2D9-47F7-87F5-62B8D38A0E68}"/>
              </a:ext>
            </a:extLst>
          </p:cNvPr>
          <p:cNvSpPr>
            <a:spLocks xmlns:a="http://schemas.openxmlformats.org/drawingml/2006/main" noGrp="1"/>
          </p:cNvSpPr>
          <p:nvPr/>
        </p:nvSpPr>
        <p:spPr>
          <a:xfrm xmlns:a="http://schemas.openxmlformats.org/drawingml/2006/main">
            <a:off x="838200" y="33337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F6E41"/>
                </a:solidFill>
                <a:latin typeface="Noto Sans"/>
                <a:ea typeface="Noto Sans"/>
                <a:cs typeface="Noto Sans"/>
              </a:defRPr>
            </a:pPr>
            <a:r>
              <a:rPr sz="1950" b="1">
                <a:solidFill>
                  <a:srgbClr val="0F6E41"/>
                </a:solidFill>
                <a:latin typeface="Noto Sans"/>
                <a:ea typeface="Noto Sans"/>
                <a:cs typeface="Noto Sans"/>
              </a:rPr>
              <a:t>FPGA trả về máy tính</a:t>
            </a:r>
          </a:p>
        </p:txBody>
      </p:sp>
      <p:graphicFrame>
        <p:nvGraphicFramePr>
          <p:cNvPr id="24" name=""/>
          <p:cNvGraphicFramePr/>
          <p:nvPr/>
        </p:nvGraphicFramePr>
        <p:xfrm>
          <a:off xmlns:a="http://schemas.openxmlformats.org/drawingml/2006/main" x="838200" y="3838575"/>
          <a:ext xmlns:a="http://schemas.openxmlformats.org/drawingml/2006/main" cx="10001250" cy="952500"/>
        </p:xfrm>
        <a:graphic xmlns:a="http://schemas.openxmlformats.org/drawingml/2006/main">
          <a:graphicData uri="http://schemas.openxmlformats.org/drawingml/2006/table">
            <a:tbl>
              <a:tblPr/>
              <a:tblGrid>
                <a:gridCol w="1047750"/>
                <a:gridCol w="1238250"/>
                <a:gridCol w="1333500"/>
                <a:gridCol w="1238250"/>
                <a:gridCol w="1238250"/>
                <a:gridCol w="1428750"/>
                <a:gridCol w="1428750"/>
                <a:gridCol w="1047750"/>
              </a:tblGrid>
              <a:tr h="476250">
                <a:tc>
                  <a:txBody>
                    <a:bodyPr anchor="ctr"/>
                    <a:lstStyle/>
                    <a:p>
                      <a:pPr algn="ctr"/>
                      <a:r>
                        <a:rPr lang="vi-VN" sz="1250" b="1">
                          <a:solidFill>
                            <a:srgbClr val="FFFFFF"/>
                          </a:solidFill>
                          <a:latin typeface="Noto Sans"/>
                          <a:ea typeface="Noto Sans"/>
                          <a:cs typeface="Noto Sans"/>
                        </a:rPr>
                        <a:t>SYNC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VALID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ACCEPT</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LEVEL</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STATE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FUSED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BIAS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CHK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476250">
                <a:tc>
                  <a:txBody>
                    <a:bodyPr anchor="ctr"/>
                    <a:lstStyle/>
                    <a:p>
                      <a:pPr algn="ctr"/>
                      <a:r>
                        <a:rPr lang="vi-VN" sz="1250">
                          <a:solidFill>
                            <a:srgbClr val="17352B"/>
                          </a:solidFill>
                          <a:latin typeface="Noto Sans"/>
                          <a:ea typeface="Noto Sans"/>
                          <a:cs typeface="Noto Sans"/>
                        </a:rPr>
                        <a:t>0x5A</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724CAF5D-DE9D-41B8-A8BA-1D64B15E1E05}"/>
              </a:ext>
            </a:extLst>
          </p:cNvPr>
          <p:cNvSpPr>
            <a:spLocks xmlns:a="http://schemas.openxmlformats.org/drawingml/2006/main" noGrp="1"/>
          </p:cNvSpPr>
          <p:nvPr/>
        </p:nvSpPr>
        <p:spPr>
          <a:xfrm xmlns:a="http://schemas.openxmlformats.org/drawingml/2006/main">
            <a:off x="10858500" y="4124325"/>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1">
                <a:solidFill>
                  <a:srgbClr val="17352B"/>
                </a:solidFill>
                <a:latin typeface="Noto Sans"/>
                <a:ea typeface="Noto Sans"/>
                <a:cs typeface="Noto Sans"/>
              </a:defRPr>
            </a:pPr>
            <a:r>
              <a:rPr sz="1650" b="1">
                <a:solidFill>
                  <a:srgbClr val="17352B"/>
                </a:solidFill>
                <a:latin typeface="Noto Sans"/>
                <a:ea typeface="Noto Sans"/>
                <a:cs typeface="Noto Sans"/>
              </a:rPr>
              <a:t>10 byte</a:t>
            </a:r>
          </a:p>
        </p:txBody>
      </p:sp>
      <p:sp>
        <p:nvSpPr>
          <p:cNvPr id="12" name="">
            <a:extLst xmlns:a="http://schemas.openxmlformats.org/drawingml/2006/main">
              <a:ext uri="{FF2B5EF4-FFF2-40B4-BE49-F238E27FC236}">
                <a16:creationId xmlns:a16="http://schemas.microsoft.com/office/drawing/2014/main" id="{87BF007D-FA97-4087-A627-20F9320FEB88}"/>
              </a:ext>
            </a:extLst>
          </p:cNvPr>
          <p:cNvSpPr>
            <a:spLocks xmlns:a="http://schemas.openxmlformats.org/drawingml/2006/main" noGrp="1"/>
          </p:cNvSpPr>
          <p:nvPr/>
        </p:nvSpPr>
        <p:spPr>
          <a:xfrm xmlns:a="http://schemas.openxmlformats.org/drawingml/2006/main">
            <a:off x="838200" y="5257800"/>
            <a:ext cx="1038225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3" name="">
            <a:extLst xmlns:a="http://schemas.openxmlformats.org/drawingml/2006/main">
              <a:ext uri="{FF2B5EF4-FFF2-40B4-BE49-F238E27FC236}">
                <a16:creationId xmlns:a16="http://schemas.microsoft.com/office/drawing/2014/main" id="{6891B2EC-9B9C-4419-9A9D-7473295446F7}"/>
              </a:ext>
            </a:extLst>
          </p:cNvPr>
          <p:cNvSpPr>
            <a:spLocks xmlns:a="http://schemas.openxmlformats.org/drawingml/2006/main" noGrp="1"/>
          </p:cNvSpPr>
          <p:nvPr/>
        </p:nvSpPr>
        <p:spPr>
          <a:xfrm xmlns:a="http://schemas.openxmlformats.org/drawingml/2006/main">
            <a:off x="838200" y="55054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352B"/>
                </a:solidFill>
                <a:latin typeface="Noto Sans"/>
                <a:ea typeface="Noto Sans"/>
                <a:cs typeface="Noto Sans"/>
              </a:defRPr>
            </a:pPr>
            <a:r>
              <a:rPr sz="1500" b="1">
                <a:solidFill>
                  <a:srgbClr val="17352B"/>
                </a:solidFill>
                <a:latin typeface="Noto Sans"/>
                <a:ea typeface="Noto Sans"/>
                <a:cs typeface="Noto Sans"/>
              </a:rPr>
              <a:t>Tổng kiểm sai: bỏ gói và giữ nguyên trạng thái</a:t>
            </a:r>
          </a:p>
        </p:txBody>
      </p:sp>
      <p:sp>
        <p:nvSpPr>
          <p:cNvPr id="14" name="">
            <a:extLst xmlns:a="http://schemas.openxmlformats.org/drawingml/2006/main">
              <a:ext uri="{FF2B5EF4-FFF2-40B4-BE49-F238E27FC236}">
                <a16:creationId xmlns:a16="http://schemas.microsoft.com/office/drawing/2014/main" id="{A855C11A-7C9E-4B18-9299-08D9B8EFB04D}"/>
              </a:ext>
            </a:extLst>
          </p:cNvPr>
          <p:cNvSpPr>
            <a:spLocks xmlns:a="http://schemas.openxmlformats.org/drawingml/2006/main" noGrp="1"/>
          </p:cNvSpPr>
          <p:nvPr/>
        </p:nvSpPr>
        <p:spPr>
          <a:xfrm xmlns:a="http://schemas.openxmlformats.org/drawingml/2006/main">
            <a:off x="6286500" y="55054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0F6E41"/>
                </a:solidFill>
                <a:latin typeface="Noto Sans"/>
                <a:ea typeface="Noto Sans"/>
                <a:cs typeface="Noto Sans"/>
              </a:defRPr>
            </a:pPr>
            <a:r>
              <a:rPr sz="1500" b="1">
                <a:solidFill>
                  <a:srgbClr val="0F6E41"/>
                </a:solidFill>
                <a:latin typeface="Noto Sans"/>
                <a:ea typeface="Noto Sans"/>
                <a:cs typeface="Noto Sans"/>
              </a:rPr>
              <a:t>Máy tính gửi yêu cầu kế tiếp sau khi nhận đủ phản hồi</a:t>
            </a:r>
          </a:p>
        </p:txBody>
      </p:sp>
    </p:spTree>
    <p:extLst>
      <p:ext uri="{BB962C8B-B14F-4D97-AF65-F5344CB8AC3E}">
        <p14:creationId xmlns:p14="http://schemas.microsoft.com/office/powerpoint/2010/main" val="624958916"/>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B1F91C-B4B7-48D4-ACCB-86E25DFD9698}"/>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Kết quả đánh giá hệ số thích nghi</a:t>
            </a:r>
          </a:p>
        </p:txBody>
      </p:sp>
      <p:sp>
        <p:nvSpPr>
          <p:cNvPr id="2" name="">
            <a:extLst xmlns:a="http://schemas.openxmlformats.org/drawingml/2006/main">
              <a:ext uri="{FF2B5EF4-FFF2-40B4-BE49-F238E27FC236}">
                <a16:creationId xmlns:a16="http://schemas.microsoft.com/office/drawing/2014/main" id="{F800C70E-FEB3-4B07-96BC-7E8086BB8CC6}"/>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a8867aaec20439a"/>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2cd756d8374f1e"/>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C9B893-3BC0-44E6-8A15-58BF2ACCDAB7}"/>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11</a:t>
            </a:r>
          </a:p>
        </p:txBody>
      </p:sp>
      <p:sp>
        <p:nvSpPr>
          <p:cNvPr id="6" name="">
            <a:extLst xmlns:a="http://schemas.openxmlformats.org/drawingml/2006/main">
              <a:ext uri="{FF2B5EF4-FFF2-40B4-BE49-F238E27FC236}">
                <a16:creationId xmlns:a16="http://schemas.microsoft.com/office/drawing/2014/main" id="{1DABE8E3-425E-4167-9A8E-DA056628FF77}"/>
              </a:ext>
            </a:extLst>
          </p:cNvPr>
          <p:cNvSpPr>
            <a:spLocks xmlns:a="http://schemas.openxmlformats.org/drawingml/2006/main" noGrp="1"/>
          </p:cNvSpPr>
          <p:nvPr/>
        </p:nvSpPr>
        <p:spPr>
          <a:xfrm xmlns:a="http://schemas.openxmlformats.org/drawingml/2006/main">
            <a:off x="742950" y="123825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7352B"/>
                </a:solidFill>
                <a:latin typeface="Noto Sans"/>
                <a:ea typeface="Noto Sans"/>
                <a:cs typeface="Noto Sans"/>
              </a:defRPr>
            </a:pPr>
            <a:r>
              <a:rPr sz="1425" b="0">
                <a:solidFill>
                  <a:srgbClr val="17352B"/>
                </a:solidFill>
                <a:latin typeface="Noto Sans"/>
                <a:ea typeface="Noto Sans"/>
                <a:cs typeface="Noto Sans"/>
              </a:rPr>
              <a:t>415 giờ kiểm định trong 4 đoạn thời gian liên tiếp</a:t>
            </a:r>
          </a:p>
        </p:txBody>
      </p:sp>
      <p:graphicFrame>
        <p:nvGraphicFramePr>
          <p:cNvPr id="15" name=""/>
          <p:cNvGraphicFramePr/>
          <p:nvPr/>
        </p:nvGraphicFramePr>
        <p:xfrm>
          <a:off xmlns:a="http://schemas.openxmlformats.org/drawingml/2006/main" x="647700" y="1790700"/>
          <a:ext xmlns:a="http://schemas.openxmlformats.org/drawingml/2006/main" cx="10896600" cy="3390900"/>
        </p:xfrm>
        <a:graphic xmlns:a="http://schemas.openxmlformats.org/drawingml/2006/main">
          <a:graphicData uri="http://schemas.openxmlformats.org/drawingml/2006/table">
            <a:tbl>
              <a:tblPr/>
              <a:tblGrid>
                <a:gridCol w="714375"/>
                <a:gridCol w="1095375"/>
                <a:gridCol w="1524000"/>
                <a:gridCol w="1905000"/>
                <a:gridCol w="1905000"/>
                <a:gridCol w="2324100"/>
                <a:gridCol w="1428750"/>
              </a:tblGrid>
              <a:tr h="571500">
                <a:tc>
                  <a:txBody>
                    <a:bodyPr anchor="ctr"/>
                    <a:lstStyle/>
                    <a:p>
                      <a:pPr algn="ctr"/>
                      <a:r>
                        <a:rPr lang="vi-VN" sz="1400" b="1">
                          <a:solidFill>
                            <a:srgbClr val="FFFFFF"/>
                          </a:solidFill>
                          <a:latin typeface="Noto Sans"/>
                          <a:ea typeface="Noto Sans"/>
                          <a:cs typeface="Noto Sans"/>
                        </a:rPr>
                        <a:t>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Alpha</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MAE CAMS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MAE hiệu chỉnh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RMSE hiệu chỉnh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Độ lệch chuẩn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Bão hòa</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561975">
                <a:tc>
                  <a:txBody>
                    <a:bodyPr anchor="ctr"/>
                    <a:lstStyle/>
                    <a:p>
                      <a:pPr algn="ctr"/>
                      <a:r>
                        <a:rPr lang="vi-VN" sz="1400">
                          <a:solidFill>
                            <a:srgbClr val="17352B"/>
                          </a:solidFill>
                          <a:latin typeface="Noto Sans"/>
                          <a:ea typeface="Noto Sans"/>
                          <a:cs typeface="Noto Sans"/>
                        </a:rPr>
                        <a:t>2</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4,2633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6,0729</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71,23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83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561975">
                <a:tc>
                  <a:txBody>
                    <a:bodyPr anchor="ctr"/>
                    <a:lstStyle/>
                    <a:p>
                      <a:pPr algn="ctr"/>
                      <a:r>
                        <a:rPr lang="vi-VN" sz="1400" b="1">
                          <a:solidFill>
                            <a:srgbClr val="0F6E41"/>
                          </a:solidFill>
                          <a:latin typeface="Noto Sans"/>
                          <a:ea typeface="Noto Sans"/>
                          <a:cs typeface="Noto Sans"/>
                        </a:rPr>
                        <a:t>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1/8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4,7259</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6,7801</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51,75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100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561975">
                <a:tc>
                  <a:txBody>
                    <a:bodyPr anchor="ctr"/>
                    <a:lstStyle/>
                    <a:p>
                      <a:pPr algn="ctr"/>
                      <a:r>
                        <a:rPr lang="vi-VN" sz="1400">
                          <a:solidFill>
                            <a:srgbClr val="17352B"/>
                          </a:solidFill>
                          <a:latin typeface="Noto Sans"/>
                          <a:ea typeface="Noto Sans"/>
                          <a:cs typeface="Noto Sans"/>
                        </a:rPr>
                        <a:t>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4,9440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7,1817</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36,46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110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561975">
                <a:tc>
                  <a:txBody>
                    <a:bodyPr anchor="ctr"/>
                    <a:lstStyle/>
                    <a:p>
                      <a:pPr algn="ctr"/>
                      <a:r>
                        <a:rPr lang="vi-VN" sz="1400">
                          <a:solidFill>
                            <a:srgbClr val="17352B"/>
                          </a:solidFill>
                          <a:latin typeface="Noto Sans"/>
                          <a:ea typeface="Noto Sans"/>
                          <a:cs typeface="Noto Sans"/>
                        </a:rPr>
                        <a:t>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1/32</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5,3190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7,4608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26,64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129</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561975">
                <a:tc>
                  <a:txBody>
                    <a:bodyPr anchor="ctr"/>
                    <a:lstStyle/>
                    <a:p>
                      <a:pPr algn="ctr"/>
                      <a:r>
                        <a:rPr lang="vi-VN" sz="1400">
                          <a:solidFill>
                            <a:srgbClr val="17352B"/>
                          </a:solidFill>
                          <a:latin typeface="Noto Sans"/>
                          <a:ea typeface="Noto Sans"/>
                          <a:cs typeface="Noto Sans"/>
                        </a:rPr>
                        <a:t>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1/64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6,0211</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7,9180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18,63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215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F91365F-972E-4835-9BDB-279EE37AB291}"/>
              </a:ext>
            </a:extLst>
          </p:cNvPr>
          <p:cNvSpPr>
            <a:spLocks xmlns:a="http://schemas.openxmlformats.org/drawingml/2006/main" noGrp="1"/>
          </p:cNvSpPr>
          <p:nvPr/>
        </p:nvSpPr>
        <p:spPr>
          <a:xfrm xmlns:a="http://schemas.openxmlformats.org/drawingml/2006/main">
            <a:off x="1162050" y="5600700"/>
            <a:ext cx="986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Phiên bản IP v1 dùng S = 3. S = 2 cho MAE thấp hơn và độ biến động trạng thái lớn hơn trên tập kiểm định này.</a:t>
            </a:r>
          </a:p>
        </p:txBody>
      </p:sp>
    </p:spTree>
    <p:extLst>
      <p:ext uri="{BB962C8B-B14F-4D97-AF65-F5344CB8AC3E}">
        <p14:creationId xmlns:p14="http://schemas.microsoft.com/office/powerpoint/2010/main" val="1239017583"/>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C030E7-2C02-46A0-ABAA-D5F518EEEC48}"/>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Phạm vi bằng chứng và giới hạn kỹ thuật</a:t>
            </a:r>
          </a:p>
        </p:txBody>
      </p:sp>
      <p:sp>
        <p:nvSpPr>
          <p:cNvPr id="2" name="">
            <a:extLst xmlns:a="http://schemas.openxmlformats.org/drawingml/2006/main">
              <a:ext uri="{FF2B5EF4-FFF2-40B4-BE49-F238E27FC236}">
                <a16:creationId xmlns:a16="http://schemas.microsoft.com/office/drawing/2014/main" id="{D328D222-42BC-49B4-9B07-9CA949D1BDDC}"/>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1be60b0a564bd8"/>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a3a0c5dabd42f1"/>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8964E6A-9D4B-46F6-9D87-656A5B70EA39}"/>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12</a:t>
            </a:r>
          </a:p>
        </p:txBody>
      </p:sp>
      <p:sp>
        <p:nvSpPr>
          <p:cNvPr id="6" name="">
            <a:extLst xmlns:a="http://schemas.openxmlformats.org/drawingml/2006/main">
              <a:ext uri="{FF2B5EF4-FFF2-40B4-BE49-F238E27FC236}">
                <a16:creationId xmlns:a16="http://schemas.microsoft.com/office/drawing/2014/main" id="{77DCA669-49A3-466C-8A6A-9EBC8FEA5112}"/>
              </a:ext>
            </a:extLst>
          </p:cNvPr>
          <p:cNvSpPr>
            <a:spLocks xmlns:a="http://schemas.openxmlformats.org/drawingml/2006/main" noGrp="1"/>
          </p:cNvSpPr>
          <p:nvPr/>
        </p:nvSpPr>
        <p:spPr>
          <a:xfrm xmlns:a="http://schemas.openxmlformats.org/drawingml/2006/main">
            <a:off x="971550" y="15049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F6E41"/>
                </a:solidFill>
                <a:latin typeface="Noto Sans"/>
                <a:ea typeface="Noto Sans"/>
                <a:cs typeface="Noto Sans"/>
              </a:defRPr>
            </a:pPr>
            <a:r>
              <a:rPr sz="2175" b="1">
                <a:solidFill>
                  <a:srgbClr val="0F6E41"/>
                </a:solidFill>
                <a:latin typeface="Noto Sans"/>
                <a:ea typeface="Noto Sans"/>
                <a:cs typeface="Noto Sans"/>
              </a:rPr>
              <a:t>Bằng chứng hiện có</a:t>
            </a:r>
          </a:p>
        </p:txBody>
      </p:sp>
      <p:sp>
        <p:nvSpPr>
          <p:cNvPr id="7" name="">
            <a:extLst xmlns:a="http://schemas.openxmlformats.org/drawingml/2006/main">
              <a:ext uri="{FF2B5EF4-FFF2-40B4-BE49-F238E27FC236}">
                <a16:creationId xmlns:a16="http://schemas.microsoft.com/office/drawing/2014/main" id="{61CC5845-9D77-484C-B27A-71E7584ECB83}"/>
              </a:ext>
            </a:extLst>
          </p:cNvPr>
          <p:cNvSpPr>
            <a:spLocks xmlns:a="http://schemas.openxmlformats.org/drawingml/2006/main" noGrp="1"/>
          </p:cNvSpPr>
          <p:nvPr/>
        </p:nvSpPr>
        <p:spPr>
          <a:xfrm xmlns:a="http://schemas.openxmlformats.org/drawingml/2006/main">
            <a:off x="990600" y="2247900"/>
            <a:ext cx="4762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Mô hình và lõi RTL khớp trên 18 vector, 941 mẫu</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APB3 đạt 89 giao dịch, 325 phép kiểm trong mô phỏng RTL</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Cấu hình UART đạt timing tại 27 MHz và tạo được bitstream</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140 phản hồi UART khớp trên Tang Nano 9K</a:t>
            </a:r>
          </a:p>
        </p:txBody>
      </p:sp>
      <p:sp>
        <p:nvSpPr>
          <p:cNvPr id="8" name="">
            <a:extLst xmlns:a="http://schemas.openxmlformats.org/drawingml/2006/main">
              <a:ext uri="{FF2B5EF4-FFF2-40B4-BE49-F238E27FC236}">
                <a16:creationId xmlns:a16="http://schemas.microsoft.com/office/drawing/2014/main" id="{2F13A0EA-BDF1-42D2-9C4E-4022847BDBB1}"/>
              </a:ext>
            </a:extLst>
          </p:cNvPr>
          <p:cNvSpPr>
            <a:spLocks xmlns:a="http://schemas.openxmlformats.org/drawingml/2006/main" noGrp="1"/>
          </p:cNvSpPr>
          <p:nvPr/>
        </p:nvSpPr>
        <p:spPr>
          <a:xfrm xmlns:a="http://schemas.openxmlformats.org/drawingml/2006/main">
            <a:off x="6096000" y="1466850"/>
            <a:ext cx="0" cy="400050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9" name="">
            <a:extLst xmlns:a="http://schemas.openxmlformats.org/drawingml/2006/main">
              <a:ext uri="{FF2B5EF4-FFF2-40B4-BE49-F238E27FC236}">
                <a16:creationId xmlns:a16="http://schemas.microsoft.com/office/drawing/2014/main" id="{0615B00C-A6B4-4E7E-AED8-DE8E53D6EC54}"/>
              </a:ext>
            </a:extLst>
          </p:cNvPr>
          <p:cNvSpPr>
            <a:spLocks xmlns:a="http://schemas.openxmlformats.org/drawingml/2006/main" noGrp="1"/>
          </p:cNvSpPr>
          <p:nvPr/>
        </p:nvSpPr>
        <p:spPr>
          <a:xfrm xmlns:a="http://schemas.openxmlformats.org/drawingml/2006/main">
            <a:off x="6953250" y="15049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79B2D"/>
                </a:solidFill>
                <a:latin typeface="Noto Sans"/>
                <a:ea typeface="Noto Sans"/>
                <a:cs typeface="Noto Sans"/>
              </a:defRPr>
            </a:pPr>
            <a:r>
              <a:rPr sz="2175" b="1">
                <a:solidFill>
                  <a:srgbClr val="D79B2D"/>
                </a:solidFill>
                <a:latin typeface="Noto Sans"/>
                <a:ea typeface="Noto Sans"/>
                <a:cs typeface="Noto Sans"/>
              </a:rPr>
              <a:t>Giới hạn công bố</a:t>
            </a:r>
          </a:p>
        </p:txBody>
      </p:sp>
      <p:sp>
        <p:nvSpPr>
          <p:cNvPr id="10" name="">
            <a:extLst xmlns:a="http://schemas.openxmlformats.org/drawingml/2006/main">
              <a:ext uri="{FF2B5EF4-FFF2-40B4-BE49-F238E27FC236}">
                <a16:creationId xmlns:a16="http://schemas.microsoft.com/office/drawing/2014/main" id="{552BD49E-E4C6-4237-9854-8F4CEF99FF35}"/>
              </a:ext>
            </a:extLst>
          </p:cNvPr>
          <p:cNvSpPr>
            <a:spLocks xmlns:a="http://schemas.openxmlformats.org/drawingml/2006/main" noGrp="1"/>
          </p:cNvSpPr>
          <p:nvPr/>
        </p:nvSpPr>
        <p:spPr>
          <a:xfrm xmlns:a="http://schemas.openxmlformats.org/drawingml/2006/main">
            <a:off x="6972300" y="2247900"/>
            <a:ext cx="4286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APB3 chưa có kết quả Gowin, timing, tài nguyên hoặc kiểm chứng bo mạch</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Kiểm chứng UART có chủ đích, không phải bao phủ hình thức toàn bộ</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PurpleAir không phải thiết bị đo chuẩn quy định</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Dữ liệu 10 phút bao phủ khoảng sáu tuần; CAMS thiếu tổng cộng 1.056 giờ</a:t>
            </a:r>
          </a:p>
        </p:txBody>
      </p:sp>
      <p:sp>
        <p:nvSpPr>
          <p:cNvPr id="11" name="">
            <a:extLst xmlns:a="http://schemas.openxmlformats.org/drawingml/2006/main">
              <a:ext uri="{FF2B5EF4-FFF2-40B4-BE49-F238E27FC236}">
                <a16:creationId xmlns:a16="http://schemas.microsoft.com/office/drawing/2014/main" id="{95BCD848-F155-4FA1-A9C1-1EDB2E9F2213}"/>
              </a:ext>
            </a:extLst>
          </p:cNvPr>
          <p:cNvSpPr>
            <a:spLocks xmlns:a="http://schemas.openxmlformats.org/drawingml/2006/main" noGrp="1"/>
          </p:cNvSpPr>
          <p:nvPr/>
        </p:nvSpPr>
        <p:spPr>
          <a:xfrm xmlns:a="http://schemas.openxmlformats.org/drawingml/2006/main">
            <a:off x="2343150" y="5829300"/>
            <a:ext cx="750570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9050">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Kết luận chỉ áp dụng trong phạm vi dữ liệu và các ca kiểm thử đã công bố</a:t>
            </a:r>
          </a:p>
        </p:txBody>
      </p:sp>
    </p:spTree>
    <p:extLst>
      <p:ext uri="{BB962C8B-B14F-4D97-AF65-F5344CB8AC3E}">
        <p14:creationId xmlns:p14="http://schemas.microsoft.com/office/powerpoint/2010/main" val="1134866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2026-09-09T18:24:37.5830000Z</dcterms:created>
  <dcterms:modified xsi:type="dcterms:W3CDTF">2026-09-09T18:24:37.5830000Z</dcterms:modified>
</coreProperties>
</file>